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6950a77da401a" /><Relationship Type="http://schemas.openxmlformats.org/officeDocument/2006/relationships/extended-properties" Target="/docProps/app.xml" Id="Rc4fd59e13a284ec3" /><Relationship Type="http://schemas.openxmlformats.org/officeDocument/2006/relationships/officeDocument" Target="/ppt/presentation.xml" Id="Rdd927964e1dc45d6" /></Relationships>
</file>

<file path=ppt/presentation.xml><?xml version="1.0" encoding="utf-8"?>
<p:presentation xmlns:p="http://schemas.openxmlformats.org/presentationml/2006/main">
  <p:sldMasterIdLst>
    <p:sldMasterId xmlns:r="http://schemas.openxmlformats.org/officeDocument/2006/relationships" id="2147483648" r:id="Re29e546e70e44288"/>
  </p:sldMasterIdLst>
  <p:notesMasterIdLst>
    <p:notesMasterId xmlns:r="http://schemas.openxmlformats.org/officeDocument/2006/relationships" r:id="R263e90edf6004def"/>
  </p:notesMasterIdLst>
  <p:sldIdLst>
    <p:sldId xmlns:r="http://schemas.openxmlformats.org/officeDocument/2006/relationships" id="256" r:id="R44f965a4f50842aa"/>
    <p:sldId xmlns:r="http://schemas.openxmlformats.org/officeDocument/2006/relationships" id="257" r:id="R62cb6b3946e74344"/>
    <p:sldId xmlns:r="http://schemas.openxmlformats.org/officeDocument/2006/relationships" id="258" r:id="R30e626d436434f2e"/>
    <p:sldId xmlns:r="http://schemas.openxmlformats.org/officeDocument/2006/relationships" id="259" r:id="Rbef46324dbf54f6f"/>
    <p:sldId xmlns:r="http://schemas.openxmlformats.org/officeDocument/2006/relationships" id="260" r:id="R193ae01034374af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61267be6744276" /><Relationship Type="http://schemas.openxmlformats.org/officeDocument/2006/relationships/slideMaster" Target="/ppt/slideMasters/slideMaster1.xml" Id="Re29e546e70e44288" /><Relationship Type="http://schemas.openxmlformats.org/officeDocument/2006/relationships/notesMaster" Target="/ppt/notesMasters/notesMaster1.xml" Id="R263e90edf6004def" /><Relationship Type="http://schemas.openxmlformats.org/officeDocument/2006/relationships/presProps" Target="/ppt/presProps.xml" Id="R685c7d1f5ff74e86" /><Relationship Type="http://schemas.openxmlformats.org/officeDocument/2006/relationships/tableStyles" Target="/ppt/tableStyles.xml" Id="Rf1bc2663a77e471c" /><Relationship Type="http://schemas.openxmlformats.org/officeDocument/2006/relationships/slide" Target="/ppt/slides/slide1.xml" Id="R44f965a4f50842aa" /><Relationship Type="http://schemas.openxmlformats.org/officeDocument/2006/relationships/slide" Target="/ppt/slides/slide2.xml" Id="R62cb6b3946e74344" /><Relationship Type="http://schemas.openxmlformats.org/officeDocument/2006/relationships/slide" Target="/ppt/slides/slide3.xml" Id="R30e626d436434f2e" /><Relationship Type="http://schemas.openxmlformats.org/officeDocument/2006/relationships/slide" Target="/ppt/slides/slide4.xml" Id="Rbef46324dbf54f6f" /><Relationship Type="http://schemas.openxmlformats.org/officeDocument/2006/relationships/slide" Target="/ppt/slides/slide5.xml" Id="R193ae01034374a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3cad2dac1124b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db8e397a95421d" /><Relationship Type="http://schemas.openxmlformats.org/officeDocument/2006/relationships/notesMaster" Target="/ppt/notesMasters/notesMaster1.xml" Id="R2d4ca2df982649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a59d00743b496f" /><Relationship Type="http://schemas.openxmlformats.org/officeDocument/2006/relationships/notesMaster" Target="/ppt/notesMasters/notesMaster1.xml" Id="Rec3087eab86444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ee2bc6f1b540f2" /><Relationship Type="http://schemas.openxmlformats.org/officeDocument/2006/relationships/notesMaster" Target="/ppt/notesMasters/notesMaster1.xml" Id="R3db6a63e70414e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46686c23ff4077" /><Relationship Type="http://schemas.openxmlformats.org/officeDocument/2006/relationships/notesMaster" Target="/ppt/notesMasters/notesMaster1.xml" Id="Rcc871a35592e4c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c5e2b5410ea4ede" /><Relationship Type="http://schemas.openxmlformats.org/officeDocument/2006/relationships/notesMaster" Target="/ppt/notesMasters/notesMaster1.xml" Id="Rfbe8eeaa696542b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Background and scope: Aaron's project brief in this conversation. AAM organizes email-derived customer work into reviewed Cases and Open Items. Local and Regional AMs retain business decisions and approval before sending. Launch Case templates and detailed acceptance criteria require FSD signoff. No quantified productivity benefit has been assumed.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https://github.com/realAaronWu/aam/blob/4266cc34b7c7639256ebb993810caeea34608a82/docs/architecture/diagrams/aam-java-services-ha-architecture.drawio and https://github.com/realAaronWu/aam/blob/4266cc34b7c7639256ebb993810caeea34608a82/docs/planning/AAM_Delivery_Plan_FSD_SIT_UAT_to_2027-03-05_EN.xlsx . One backend deployment has identical replicas that handle HTTP and async work. Recovery can repeat AI computation while fenced database commits and business idempotency prevent duplicate effects. Graph send outcomes can be uncertain and require reconciliation, not blind retries. These are design controls, not an implemented production qualification.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https://github.com/realAaronWu/aam/blob/4266cc34b7c7639256ebb993810caeea34608a82/docs/architecture/diagrams/aam-logical-component-flow.drawio . Reflowed to a widescreen, editable PowerPoint component diagram. Preserves numbered core path 01-06, reply branch 04.1-04.3 and Playbook management 07-08. Green arrows show the business path, purple supplies Playbook rules, orange starts AI draft generation, blue represents human review and cyan sends through Graph. AI also supports intent, summaries and Playbook authoring. Progress updates change Case/Open Item state. The original draw.io remains the detailed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https://github.com/realAaronWu/aam/blob/4266cc34b7c7639256ebb993810caeea34608a82/docs/architecture/diagrams/aam-java-services-ha-architecture.drawio . Widescreen reflow preserves the current single-Java-backend architecture and its identity, mail, AI, storage and observability integrations. AM is a user role, not a service. Portal/BFF and Java backend are separate deployments. Every Java replica runs HTTP and bounded async execution; logical modules are not separate microservices. PostgreSQL uses a primary/standby and one write endpoint. Durable job claims, lease renewal, fencing, request idempotency and unique business keys protect recovery. Database HA protection depends on the selected replication/failover configuration. Azure Blob remains in the current source diagram for file artifacts. Okta and Entra arrows describe integration dependencies, not the full OAuth redirect sequence. GitHub Actions is delivery tooling described on slide 2, not a runtime request dependency.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https://github.com/realAaronWu/aam/blob/4266cc34b7c7639256ebb993810caeea34608a82/docs/planning/AAM_Delivery_Plan_FSD_SIT_UAT_to_2027-03-05_EN.xlsx . SHA-256 a918de308e653598253a3d1cd3428d509e4f69928cdc919a5fcc515c2b5f5ea8. Team and Gates A7:D13/A15:D15 supplies role effort and cost, D68:D79 supplies milestones. Cost equals scheduled person-days from the Gantt multiplied by editable default USD360 daily rates. Scheduled labor is not full payroll availability. Two developers, DS, two testers, BA and UI/UX are seven assumed resources, with planned part-time usage where the workbook allocates fewer days. Tester 1 covers technical QA. Tester 2 covers business and AI scenario QA after DS tuning. FSD/UX two weeks; Java build three weeks; CI/CD parallel; SIT/tuning eight weeks; UAT Feb15-24. Feb3-12 leave excluded. Budget and milestones are planned estimates, not approvals or actual expenditure.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2a5b65620b4d5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8cd6f5cd2247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43542d99e35479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ccc372b966548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89380896bb5439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532ac1cbe5d4b0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C6E1CC-2A0F-44C6-A84D-822B3BF42266}"/>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1ACF15B-030D-4D3F-80F5-A1FBAEFBFBF4}"/>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A4F447-2DD5-40C6-9767-0C47BB52BAEC}"/>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C87610-ABFC-4730-A307-0936D9D3942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F2568AB-BB4E-4A4D-87F0-D1906BB84CBD}"/>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446033F-5628-4F06-814F-60954B4CA35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E7A13F9-02E7-4A9F-B4B4-D28B4AAFB24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80D5558-2152-44BC-B0B5-3DB81AE73E40}"/>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37AB00-3D64-440F-8476-3F523C91777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9F39D8C-8681-4347-A7D8-6DD5EFBA2E3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9f07ffd6f4341b6" /><Relationship Type="http://schemas.openxmlformats.org/officeDocument/2006/relationships/slideLayout" Target="/ppt/slideLayouts/slideLayout1.xml" Id="R10e6c9a049834eb9" /><Relationship Type="http://schemas.openxmlformats.org/officeDocument/2006/relationships/slideLayout" Target="/ppt/slideLayouts/slideLayout2.xml" Id="R39e6e1fa855e46a1" /><Relationship Type="http://schemas.openxmlformats.org/officeDocument/2006/relationships/slideLayout" Target="/ppt/slideLayouts/slideLayout3.xml" Id="Rb7d3c851dbf24aa3" /><Relationship Type="http://schemas.openxmlformats.org/officeDocument/2006/relationships/slideLayout" Target="/ppt/slideLayouts/slideLayout4.xml" Id="R11f68318bafd4e44" /><Relationship Type="http://schemas.openxmlformats.org/officeDocument/2006/relationships/slideLayout" Target="/ppt/slideLayouts/slideLayout5.xml" Id="R0582da184e324e37" /><Relationship Type="http://schemas.openxmlformats.org/officeDocument/2006/relationships/slideLayout" Target="/ppt/slideLayouts/slideLayout6.xml" Id="Rbf6ff36897544a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e6c9a049834eb9"/>
    <p:sldLayoutId xmlns:r="http://schemas.openxmlformats.org/officeDocument/2006/relationships" id="2147483650" r:id="R39e6e1fa855e46a1"/>
    <p:sldLayoutId xmlns:r="http://schemas.openxmlformats.org/officeDocument/2006/relationships" id="2147483651" r:id="Rb7d3c851dbf24aa3"/>
    <p:sldLayoutId xmlns:r="http://schemas.openxmlformats.org/officeDocument/2006/relationships" id="2147483652" r:id="R11f68318bafd4e44"/>
    <p:sldLayoutId xmlns:r="http://schemas.openxmlformats.org/officeDocument/2006/relationships" id="2147483653" r:id="R0582da184e324e37"/>
    <p:sldLayoutId xmlns:r="http://schemas.openxmlformats.org/officeDocument/2006/relationships" id="2147483654" r:id="Rbf6ff36897544a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349c2db391d456a" /><Relationship Type="http://schemas.openxmlformats.org/officeDocument/2006/relationships/notesSlide" Target="/ppt/notesSlides/notesSlide1.xml" Id="R663cad3f41b743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4a5adc2818436a" /><Relationship Type="http://schemas.openxmlformats.org/officeDocument/2006/relationships/notesSlide" Target="/ppt/notesSlides/notesSlide2.xml" Id="R9efc287ad3bb42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ed9b074775e4c4f" /><Relationship Type="http://schemas.openxmlformats.org/officeDocument/2006/relationships/notesSlide" Target="/ppt/notesSlides/notesSlide3.xml" Id="R9ea038b0e7a2435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8e7459909204197" /><Relationship Type="http://schemas.openxmlformats.org/officeDocument/2006/relationships/notesSlide" Target="/ppt/notesSlides/notesSlide4.xml" Id="R5d911bc31dec44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4ec0b4b4f65424b" /><Relationship Type="http://schemas.openxmlformats.org/officeDocument/2006/relationships/notesSlide" Target="/ppt/notesSlides/notesSlide5.xml" Id="Rff919367bd4b422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itle">
            <a:extLst xmlns:a="http://schemas.openxmlformats.org/drawingml/2006/main">
              <a:ext uri="{FF2B5EF4-FFF2-40B4-BE49-F238E27FC236}">
                <a16:creationId xmlns:a16="http://schemas.microsoft.com/office/drawing/2014/main" id="{FDBD3B1B-80ED-42A9-A123-9C13EE6E677F}"/>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AAM Background and MVP Scope</a:t>
            </a:r>
          </a:p>
        </p:txBody>
      </p:sp>
      <p:sp>
        <p:nvSpPr>
          <p:cNvPr id="2" name="page">
            <a:extLst xmlns:a="http://schemas.openxmlformats.org/drawingml/2006/main">
              <a:ext uri="{FF2B5EF4-FFF2-40B4-BE49-F238E27FC236}">
                <a16:creationId xmlns:a16="http://schemas.microsoft.com/office/drawing/2014/main" id="{8A3D6B56-909C-44F0-91AF-D46037A55E7E}"/>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1 / 5</a:t>
            </a:r>
          </a:p>
        </p:txBody>
      </p:sp>
      <p:sp>
        <p:nvSpPr>
          <p:cNvPr id="3" name="intro">
            <a:extLst xmlns:a="http://schemas.openxmlformats.org/drawingml/2006/main">
              <a:ext uri="{FF2B5EF4-FFF2-40B4-BE49-F238E27FC236}">
                <a16:creationId xmlns:a16="http://schemas.microsoft.com/office/drawing/2014/main" id="{EE33541A-D832-42CA-83C5-52D7CDDBACFA}"/>
              </a:ext>
            </a:extLst>
          </p:cNvPr>
          <p:cNvSpPr>
            <a:spLocks xmlns:a="http://schemas.openxmlformats.org/drawingml/2006/main" noGrp="1"/>
          </p:cNvSpPr>
          <p:nvPr/>
        </p:nvSpPr>
        <p:spPr>
          <a:xfrm xmlns:a="http://schemas.openxmlformats.org/drawingml/2006/main">
            <a:off x="609600" y="1238250"/>
            <a:ext cx="1371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32B45"/>
                </a:solidFill>
                <a:latin typeface="Arial"/>
                <a:ea typeface="Arial"/>
                <a:cs typeface="Arial"/>
              </a:defRPr>
            </a:defPPr>
          </a:lstStyle>
          <a:p xmlns:a="http://schemas.openxmlformats.org/drawingml/2006/main">
            <a:pPr algn="l">
              <a:defRPr sz="2325" b="0">
                <a:solidFill>
                  <a:srgbClr val="132B45"/>
                </a:solidFill>
                <a:latin typeface="Arial"/>
                <a:ea typeface="Arial"/>
                <a:cs typeface="Arial"/>
              </a:defRPr>
            </a:pPr>
            <a:r>
              <a:rPr sz="2325" b="0">
                <a:solidFill>
                  <a:srgbClr val="132B45"/>
                </a:solidFill>
                <a:latin typeface="Arial"/>
                <a:ea typeface="Arial"/>
                <a:cs typeface="Arial"/>
              </a:rPr>
              <a:t>Account managers need a clear view of customer work that currently sits across email threads.</a:t>
            </a:r>
          </a:p>
        </p:txBody>
      </p:sp>
      <p:sp>
        <p:nvSpPr>
          <p:cNvPr id="4" name="today">
            <a:extLst xmlns:a="http://schemas.openxmlformats.org/drawingml/2006/main">
              <a:ext uri="{FF2B5EF4-FFF2-40B4-BE49-F238E27FC236}">
                <a16:creationId xmlns:a16="http://schemas.microsoft.com/office/drawing/2014/main" id="{B161804A-8215-41E6-88CA-5BE865359B8E}"/>
              </a:ext>
            </a:extLst>
          </p:cNvPr>
          <p:cNvSpPr>
            <a:spLocks xmlns:a="http://schemas.openxmlformats.org/drawingml/2006/main" noGrp="1"/>
          </p:cNvSpPr>
          <p:nvPr/>
        </p:nvSpPr>
        <p:spPr>
          <a:xfrm xmlns:a="http://schemas.openxmlformats.org/drawingml/2006/main">
            <a:off x="609600" y="2324100"/>
            <a:ext cx="581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56677A"/>
                </a:solidFill>
                <a:latin typeface="Arial"/>
                <a:ea typeface="Arial"/>
                <a:cs typeface="Arial"/>
              </a:defRPr>
            </a:defPPr>
          </a:lstStyle>
          <a:p xmlns:a="http://schemas.openxmlformats.org/drawingml/2006/main">
            <a:pPr algn="l">
              <a:defRPr sz="2400" b="1">
                <a:solidFill>
                  <a:srgbClr val="56677A"/>
                </a:solidFill>
                <a:latin typeface="Arial"/>
                <a:ea typeface="Arial"/>
                <a:cs typeface="Arial"/>
              </a:defRPr>
            </a:pPr>
            <a:r>
              <a:rPr sz="2400" b="1">
                <a:solidFill>
                  <a:srgbClr val="56677A"/>
                </a:solidFill>
                <a:latin typeface="Arial"/>
                <a:ea typeface="Arial"/>
                <a:cs typeface="Arial"/>
              </a:rPr>
              <a:t>Current pain points</a:t>
            </a:r>
          </a:p>
        </p:txBody>
      </p:sp>
      <p:sp>
        <p:nvSpPr>
          <p:cNvPr id="5" name="pain-title-0">
            <a:extLst xmlns:a="http://schemas.openxmlformats.org/drawingml/2006/main">
              <a:ext uri="{FF2B5EF4-FFF2-40B4-BE49-F238E27FC236}">
                <a16:creationId xmlns:a16="http://schemas.microsoft.com/office/drawing/2014/main" id="{E0EA5C12-01EC-46BD-869D-88204DABA58B}"/>
              </a:ext>
            </a:extLst>
          </p:cNvPr>
          <p:cNvSpPr>
            <a:spLocks xmlns:a="http://schemas.openxmlformats.org/drawingml/2006/main" noGrp="1"/>
          </p:cNvSpPr>
          <p:nvPr/>
        </p:nvSpPr>
        <p:spPr>
          <a:xfrm xmlns:a="http://schemas.openxmlformats.org/drawingml/2006/main">
            <a:off x="609600" y="300037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Email overload</a:t>
            </a:r>
          </a:p>
        </p:txBody>
      </p:sp>
      <p:sp>
        <p:nvSpPr>
          <p:cNvPr id="6" name="pain-body-0">
            <a:extLst xmlns:a="http://schemas.openxmlformats.org/drawingml/2006/main">
              <a:ext uri="{FF2B5EF4-FFF2-40B4-BE49-F238E27FC236}">
                <a16:creationId xmlns:a16="http://schemas.microsoft.com/office/drawing/2014/main" id="{C64154DC-EEFA-484E-A7B8-FF74841D0CE4}"/>
              </a:ext>
            </a:extLst>
          </p:cNvPr>
          <p:cNvSpPr>
            <a:spLocks xmlns:a="http://schemas.openxmlformats.org/drawingml/2006/main" noGrp="1"/>
          </p:cNvSpPr>
          <p:nvPr/>
        </p:nvSpPr>
        <p:spPr>
          <a:xfrm xmlns:a="http://schemas.openxmlformats.org/drawingml/2006/main">
            <a:off x="609600" y="3419475"/>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Customer requests and updates spread across personal and shared inboxes.</a:t>
            </a:r>
          </a:p>
        </p:txBody>
      </p:sp>
      <p:sp>
        <p:nvSpPr>
          <p:cNvPr id="7" name="pain-title-1">
            <a:extLst xmlns:a="http://schemas.openxmlformats.org/drawingml/2006/main">
              <a:ext uri="{FF2B5EF4-FFF2-40B4-BE49-F238E27FC236}">
                <a16:creationId xmlns:a16="http://schemas.microsoft.com/office/drawing/2014/main" id="{53E7BAFD-5B46-4FA4-888B-8947518F9EEF}"/>
              </a:ext>
            </a:extLst>
          </p:cNvPr>
          <p:cNvSpPr>
            <a:spLocks xmlns:a="http://schemas.openxmlformats.org/drawingml/2006/main" noGrp="1"/>
          </p:cNvSpPr>
          <p:nvPr/>
        </p:nvSpPr>
        <p:spPr>
          <a:xfrm xmlns:a="http://schemas.openxmlformats.org/drawingml/2006/main">
            <a:off x="609600" y="4286250"/>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Unclear ownership and stage</a:t>
            </a:r>
          </a:p>
        </p:txBody>
      </p:sp>
      <p:sp>
        <p:nvSpPr>
          <p:cNvPr id="8" name="pain-body-1">
            <a:extLst xmlns:a="http://schemas.openxmlformats.org/drawingml/2006/main">
              <a:ext uri="{FF2B5EF4-FFF2-40B4-BE49-F238E27FC236}">
                <a16:creationId xmlns:a16="http://schemas.microsoft.com/office/drawing/2014/main" id="{7ED12DC5-5FF0-40FD-B36B-FA9AB06A84A6}"/>
              </a:ext>
            </a:extLst>
          </p:cNvPr>
          <p:cNvSpPr>
            <a:spLocks xmlns:a="http://schemas.openxmlformats.org/drawingml/2006/main" noGrp="1"/>
          </p:cNvSpPr>
          <p:nvPr/>
        </p:nvSpPr>
        <p:spPr>
          <a:xfrm xmlns:a="http://schemas.openxmlformats.org/drawingml/2006/main">
            <a:off x="609600" y="470535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AMs cannot easily see who owns each customer request or how far it has progressed.</a:t>
            </a:r>
          </a:p>
        </p:txBody>
      </p:sp>
      <p:sp>
        <p:nvSpPr>
          <p:cNvPr id="9" name="pain-title-2">
            <a:extLst xmlns:a="http://schemas.openxmlformats.org/drawingml/2006/main">
              <a:ext uri="{FF2B5EF4-FFF2-40B4-BE49-F238E27FC236}">
                <a16:creationId xmlns:a16="http://schemas.microsoft.com/office/drawing/2014/main" id="{9313C797-D049-4636-8AFC-1CD3626A56EE}"/>
              </a:ext>
            </a:extLst>
          </p:cNvPr>
          <p:cNvSpPr>
            <a:spLocks xmlns:a="http://schemas.openxmlformats.org/drawingml/2006/main" noGrp="1"/>
          </p:cNvSpPr>
          <p:nvPr/>
        </p:nvSpPr>
        <p:spPr>
          <a:xfrm xmlns:a="http://schemas.openxmlformats.org/drawingml/2006/main">
            <a:off x="609600" y="557212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Manual follow-up</a:t>
            </a:r>
          </a:p>
        </p:txBody>
      </p:sp>
      <p:sp>
        <p:nvSpPr>
          <p:cNvPr id="10" name="pain-body-2">
            <a:extLst xmlns:a="http://schemas.openxmlformats.org/drawingml/2006/main">
              <a:ext uri="{FF2B5EF4-FFF2-40B4-BE49-F238E27FC236}">
                <a16:creationId xmlns:a16="http://schemas.microsoft.com/office/drawing/2014/main" id="{E19A0A16-1088-499A-89F2-C7EFFF802C32}"/>
              </a:ext>
            </a:extLst>
          </p:cNvPr>
          <p:cNvSpPr>
            <a:spLocks xmlns:a="http://schemas.openxmlformats.org/drawingml/2006/main" noGrp="1"/>
          </p:cNvSpPr>
          <p:nvPr/>
        </p:nvSpPr>
        <p:spPr>
          <a:xfrm xmlns:a="http://schemas.openxmlformats.org/drawingml/2006/main">
            <a:off x="609600" y="5991225"/>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AMs reconstruct open items, next actions and reply context by reading long threads.</a:t>
            </a:r>
          </a:p>
        </p:txBody>
      </p:sp>
      <p:sp>
        <p:nvSpPr>
          <p:cNvPr id="11" name="mvp">
            <a:extLst xmlns:a="http://schemas.openxmlformats.org/drawingml/2006/main">
              <a:ext uri="{FF2B5EF4-FFF2-40B4-BE49-F238E27FC236}">
                <a16:creationId xmlns:a16="http://schemas.microsoft.com/office/drawing/2014/main" id="{92487C03-4A6B-41ED-8AC2-ED61302FF177}"/>
              </a:ext>
            </a:extLst>
          </p:cNvPr>
          <p:cNvSpPr>
            <a:spLocks xmlns:a="http://schemas.openxmlformats.org/drawingml/2006/main" noGrp="1"/>
          </p:cNvSpPr>
          <p:nvPr/>
        </p:nvSpPr>
        <p:spPr>
          <a:xfrm xmlns:a="http://schemas.openxmlformats.org/drawingml/2006/main">
            <a:off x="7381875" y="2324100"/>
            <a:ext cx="723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MVP: one portal for Local and Regional AMs</a:t>
            </a:r>
          </a:p>
        </p:txBody>
      </p:sp>
      <p:sp>
        <p:nvSpPr>
          <p:cNvPr id="12" name="scope-title-0">
            <a:extLst xmlns:a="http://schemas.openxmlformats.org/drawingml/2006/main">
              <a:ext uri="{FF2B5EF4-FFF2-40B4-BE49-F238E27FC236}">
                <a16:creationId xmlns:a16="http://schemas.microsoft.com/office/drawing/2014/main" id="{91EE977D-2747-4DB8-B685-FCEF061C8A45}"/>
              </a:ext>
            </a:extLst>
          </p:cNvPr>
          <p:cNvSpPr>
            <a:spLocks xmlns:a="http://schemas.openxmlformats.org/drawingml/2006/main" noGrp="1"/>
          </p:cNvSpPr>
          <p:nvPr/>
        </p:nvSpPr>
        <p:spPr>
          <a:xfrm xmlns:a="http://schemas.openxmlformats.org/drawingml/2006/main">
            <a:off x="7381875" y="3143250"/>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B45"/>
                </a:solidFill>
                <a:latin typeface="Arial"/>
                <a:ea typeface="Arial"/>
                <a:cs typeface="Arial"/>
              </a:defRPr>
            </a:defPPr>
          </a:lstStyle>
          <a:p xmlns:a="http://schemas.openxmlformats.org/drawingml/2006/main">
            <a:pPr algn="l">
              <a:defRPr sz="2025" b="1">
                <a:solidFill>
                  <a:srgbClr val="132B45"/>
                </a:solidFill>
                <a:latin typeface="Arial"/>
                <a:ea typeface="Arial"/>
                <a:cs typeface="Arial"/>
              </a:defRPr>
            </a:pPr>
            <a:r>
              <a:rPr sz="2025" b="1">
                <a:solidFill>
                  <a:srgbClr val="132B45"/>
                </a:solidFill>
                <a:latin typeface="Arial"/>
                <a:ea typeface="Arial"/>
                <a:cs typeface="Arial"/>
              </a:rPr>
              <a:t>Mail visibility and triage</a:t>
            </a:r>
          </a:p>
        </p:txBody>
      </p:sp>
      <p:sp>
        <p:nvSpPr>
          <p:cNvPr id="13" name="scope-body-0">
            <a:extLst xmlns:a="http://schemas.openxmlformats.org/drawingml/2006/main">
              <a:ext uri="{FF2B5EF4-FFF2-40B4-BE49-F238E27FC236}">
                <a16:creationId xmlns:a16="http://schemas.microsoft.com/office/drawing/2014/main" id="{498A79F2-E96B-495A-8590-1566E0FAFA45}"/>
              </a:ext>
            </a:extLst>
          </p:cNvPr>
          <p:cNvSpPr>
            <a:spLocks xmlns:a="http://schemas.openxmlformats.org/drawingml/2006/main" noGrp="1"/>
          </p:cNvSpPr>
          <p:nvPr/>
        </p:nvSpPr>
        <p:spPr>
          <a:xfrm xmlns:a="http://schemas.openxmlformats.org/drawingml/2006/main">
            <a:off x="7381875" y="35147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Identify customer and intent. Suggest a new Case or a link to an existing Case.</a:t>
            </a:r>
          </a:p>
        </p:txBody>
      </p:sp>
      <p:sp>
        <p:nvSpPr>
          <p:cNvPr id="14" name="scope-title-1">
            <a:extLst xmlns:a="http://schemas.openxmlformats.org/drawingml/2006/main">
              <a:ext uri="{FF2B5EF4-FFF2-40B4-BE49-F238E27FC236}">
                <a16:creationId xmlns:a16="http://schemas.microsoft.com/office/drawing/2014/main" id="{60778157-2EE0-41C8-A863-5AC20FD3DCD1}"/>
              </a:ext>
            </a:extLst>
          </p:cNvPr>
          <p:cNvSpPr>
            <a:spLocks xmlns:a="http://schemas.openxmlformats.org/drawingml/2006/main" noGrp="1"/>
          </p:cNvSpPr>
          <p:nvPr/>
        </p:nvSpPr>
        <p:spPr>
          <a:xfrm xmlns:a="http://schemas.openxmlformats.org/drawingml/2006/main">
            <a:off x="7381875" y="4171950"/>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B45"/>
                </a:solidFill>
                <a:latin typeface="Arial"/>
                <a:ea typeface="Arial"/>
                <a:cs typeface="Arial"/>
              </a:defRPr>
            </a:defPPr>
          </a:lstStyle>
          <a:p xmlns:a="http://schemas.openxmlformats.org/drawingml/2006/main">
            <a:pPr algn="l">
              <a:defRPr sz="2025" b="1">
                <a:solidFill>
                  <a:srgbClr val="132B45"/>
                </a:solidFill>
                <a:latin typeface="Arial"/>
                <a:ea typeface="Arial"/>
                <a:cs typeface="Arial"/>
              </a:defRPr>
            </a:pPr>
            <a:r>
              <a:rPr sz="2025" b="1">
                <a:solidFill>
                  <a:srgbClr val="132B45"/>
                </a:solidFill>
                <a:latin typeface="Arial"/>
                <a:ea typeface="Arial"/>
                <a:cs typeface="Arial"/>
              </a:rPr>
              <a:t>Customer and Case workspace</a:t>
            </a:r>
          </a:p>
        </p:txBody>
      </p:sp>
      <p:sp>
        <p:nvSpPr>
          <p:cNvPr id="15" name="scope-body-1">
            <a:extLst xmlns:a="http://schemas.openxmlformats.org/drawingml/2006/main">
              <a:ext uri="{FF2B5EF4-FFF2-40B4-BE49-F238E27FC236}">
                <a16:creationId xmlns:a16="http://schemas.microsoft.com/office/drawing/2014/main" id="{91592523-6024-4ADD-8C06-D38FEFA88BE6}"/>
              </a:ext>
            </a:extLst>
          </p:cNvPr>
          <p:cNvSpPr>
            <a:spLocks xmlns:a="http://schemas.openxmlformats.org/drawingml/2006/main" noGrp="1"/>
          </p:cNvSpPr>
          <p:nvPr/>
        </p:nvSpPr>
        <p:spPr>
          <a:xfrm xmlns:a="http://schemas.openxmlformats.org/drawingml/2006/main">
            <a:off x="7381875" y="45434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Show owners, current stage, progress, open items and next actions.</a:t>
            </a:r>
          </a:p>
        </p:txBody>
      </p:sp>
      <p:sp>
        <p:nvSpPr>
          <p:cNvPr id="16" name="scope-title-2">
            <a:extLst xmlns:a="http://schemas.openxmlformats.org/drawingml/2006/main">
              <a:ext uri="{FF2B5EF4-FFF2-40B4-BE49-F238E27FC236}">
                <a16:creationId xmlns:a16="http://schemas.microsoft.com/office/drawing/2014/main" id="{EE493390-968A-4258-A9CE-C9FE93572335}"/>
              </a:ext>
            </a:extLst>
          </p:cNvPr>
          <p:cNvSpPr>
            <a:spLocks xmlns:a="http://schemas.openxmlformats.org/drawingml/2006/main" noGrp="1"/>
          </p:cNvSpPr>
          <p:nvPr/>
        </p:nvSpPr>
        <p:spPr>
          <a:xfrm xmlns:a="http://schemas.openxmlformats.org/drawingml/2006/main">
            <a:off x="7381875" y="5200650"/>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B45"/>
                </a:solidFill>
                <a:latin typeface="Arial"/>
                <a:ea typeface="Arial"/>
                <a:cs typeface="Arial"/>
              </a:defRPr>
            </a:defPPr>
          </a:lstStyle>
          <a:p xmlns:a="http://schemas.openxmlformats.org/drawingml/2006/main">
            <a:pPr algn="l">
              <a:defRPr sz="2025" b="1">
                <a:solidFill>
                  <a:srgbClr val="132B45"/>
                </a:solidFill>
                <a:latin typeface="Arial"/>
                <a:ea typeface="Arial"/>
                <a:cs typeface="Arial"/>
              </a:defRPr>
            </a:pPr>
            <a:r>
              <a:rPr sz="2025" b="1">
                <a:solidFill>
                  <a:srgbClr val="132B45"/>
                </a:solidFill>
                <a:latin typeface="Arial"/>
                <a:ea typeface="Arial"/>
                <a:cs typeface="Arial"/>
              </a:rPr>
              <a:t>AI summaries and email drafts</a:t>
            </a:r>
          </a:p>
        </p:txBody>
      </p:sp>
      <p:sp>
        <p:nvSpPr>
          <p:cNvPr id="17" name="scope-body-2">
            <a:extLst xmlns:a="http://schemas.openxmlformats.org/drawingml/2006/main">
              <a:ext uri="{FF2B5EF4-FFF2-40B4-BE49-F238E27FC236}">
                <a16:creationId xmlns:a16="http://schemas.microsoft.com/office/drawing/2014/main" id="{9B526492-0A44-486E-B191-EC3549B1C067}"/>
              </a:ext>
            </a:extLst>
          </p:cNvPr>
          <p:cNvSpPr>
            <a:spLocks xmlns:a="http://schemas.openxmlformats.org/drawingml/2006/main" noGrp="1"/>
          </p:cNvSpPr>
          <p:nvPr/>
        </p:nvSpPr>
        <p:spPr>
          <a:xfrm xmlns:a="http://schemas.openxmlformats.org/drawingml/2006/main">
            <a:off x="7381875" y="55721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Prepare grounded replies. AMs review, edit and approve sending.</a:t>
            </a:r>
          </a:p>
        </p:txBody>
      </p:sp>
      <p:sp>
        <p:nvSpPr>
          <p:cNvPr id="18" name="scope-title-3">
            <a:extLst xmlns:a="http://schemas.openxmlformats.org/drawingml/2006/main">
              <a:ext uri="{FF2B5EF4-FFF2-40B4-BE49-F238E27FC236}">
                <a16:creationId xmlns:a16="http://schemas.microsoft.com/office/drawing/2014/main" id="{1360CC28-9AA5-435B-A827-1C2AAF6E53C0}"/>
              </a:ext>
            </a:extLst>
          </p:cNvPr>
          <p:cNvSpPr>
            <a:spLocks xmlns:a="http://schemas.openxmlformats.org/drawingml/2006/main" noGrp="1"/>
          </p:cNvSpPr>
          <p:nvPr/>
        </p:nvSpPr>
        <p:spPr>
          <a:xfrm xmlns:a="http://schemas.openxmlformats.org/drawingml/2006/main">
            <a:off x="7381875" y="6229350"/>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32B45"/>
                </a:solidFill>
                <a:latin typeface="Arial"/>
                <a:ea typeface="Arial"/>
                <a:cs typeface="Arial"/>
              </a:defRPr>
            </a:defPPr>
          </a:lstStyle>
          <a:p xmlns:a="http://schemas.openxmlformats.org/drawingml/2006/main">
            <a:pPr algn="l">
              <a:defRPr sz="2025" b="1">
                <a:solidFill>
                  <a:srgbClr val="132B45"/>
                </a:solidFill>
                <a:latin typeface="Arial"/>
                <a:ea typeface="Arial"/>
                <a:cs typeface="Arial"/>
              </a:defRPr>
            </a:pPr>
            <a:r>
              <a:rPr sz="2025" b="1">
                <a:solidFill>
                  <a:srgbClr val="132B45"/>
                </a:solidFill>
                <a:latin typeface="Arial"/>
                <a:ea typeface="Arial"/>
                <a:cs typeface="Arial"/>
              </a:rPr>
              <a:t>Playbook management</a:t>
            </a:r>
          </a:p>
        </p:txBody>
      </p:sp>
      <p:sp>
        <p:nvSpPr>
          <p:cNvPr id="19" name="scope-body-3">
            <a:extLst xmlns:a="http://schemas.openxmlformats.org/drawingml/2006/main">
              <a:ext uri="{FF2B5EF4-FFF2-40B4-BE49-F238E27FC236}">
                <a16:creationId xmlns:a16="http://schemas.microsoft.com/office/drawing/2014/main" id="{C7097972-1358-4D67-8F9B-0B2419A5CD17}"/>
              </a:ext>
            </a:extLst>
          </p:cNvPr>
          <p:cNvSpPr>
            <a:spLocks xmlns:a="http://schemas.openxmlformats.org/drawingml/2006/main" noGrp="1"/>
          </p:cNvSpPr>
          <p:nvPr/>
        </p:nvSpPr>
        <p:spPr>
          <a:xfrm xmlns:a="http://schemas.openxmlformats.org/drawingml/2006/main">
            <a:off x="7381875" y="660082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Generate rules from a prompt and example emails, then test, review and publish.</a:t>
            </a:r>
          </a:p>
        </p:txBody>
      </p:sp>
      <p:sp>
        <p:nvSpPr>
          <p:cNvPr id="20" name="benefit">
            <a:extLst xmlns:a="http://schemas.openxmlformats.org/drawingml/2006/main">
              <a:ext uri="{FF2B5EF4-FFF2-40B4-BE49-F238E27FC236}">
                <a16:creationId xmlns:a16="http://schemas.microsoft.com/office/drawing/2014/main" id="{A7424A82-4250-4626-AA76-E8E987BE6BBC}"/>
              </a:ext>
            </a:extLst>
          </p:cNvPr>
          <p:cNvSpPr>
            <a:spLocks xmlns:a="http://schemas.openxmlformats.org/drawingml/2006/main" noGrp="1"/>
          </p:cNvSpPr>
          <p:nvPr/>
        </p:nvSpPr>
        <p:spPr>
          <a:xfrm xmlns:a="http://schemas.openxmlformats.org/drawingml/2006/main">
            <a:off x="609600" y="7572375"/>
            <a:ext cx="1390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563EB"/>
                </a:solidFill>
                <a:latin typeface="Arial"/>
                <a:ea typeface="Arial"/>
                <a:cs typeface="Arial"/>
              </a:defRPr>
            </a:defPPr>
          </a:lstStyle>
          <a:p xmlns:a="http://schemas.openxmlformats.org/drawingml/2006/main">
            <a:pPr algn="l">
              <a:defRPr sz="2100" b="1">
                <a:solidFill>
                  <a:srgbClr val="2563EB"/>
                </a:solidFill>
                <a:latin typeface="Arial"/>
                <a:ea typeface="Arial"/>
                <a:cs typeface="Arial"/>
              </a:defRPr>
            </a:pPr>
            <a:r>
              <a:rPr sz="2100" b="1">
                <a:solidFill>
                  <a:srgbClr val="2563EB"/>
                </a:solidFill>
                <a:latin typeface="Arial"/>
                <a:ea typeface="Arial"/>
                <a:cs typeface="Arial"/>
              </a:rPr>
              <a:t>Expected benefit: clearer customer visibility and ownership, with less manual email tracking.</a:t>
            </a:r>
          </a:p>
        </p:txBody>
      </p:sp>
    </p:spTree>
    <p:extLst>
      <p:ext uri="{BB962C8B-B14F-4D97-AF65-F5344CB8AC3E}">
        <p14:creationId xmlns:p14="http://schemas.microsoft.com/office/powerpoint/2010/main" val="16391001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title">
            <a:extLst xmlns:a="http://schemas.openxmlformats.org/drawingml/2006/main">
              <a:ext uri="{FF2B5EF4-FFF2-40B4-BE49-F238E27FC236}">
                <a16:creationId xmlns:a16="http://schemas.microsoft.com/office/drawing/2014/main" id="{FBB46168-8E21-41D3-B72B-8F6C07051E6A}"/>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Overall Implementation Approach</a:t>
            </a:r>
          </a:p>
        </p:txBody>
      </p:sp>
      <p:sp>
        <p:nvSpPr>
          <p:cNvPr id="2" name="page">
            <a:extLst xmlns:a="http://schemas.openxmlformats.org/drawingml/2006/main">
              <a:ext uri="{FF2B5EF4-FFF2-40B4-BE49-F238E27FC236}">
                <a16:creationId xmlns:a16="http://schemas.microsoft.com/office/drawing/2014/main" id="{810E7D2E-2A6E-4CC2-A135-D4A639CB9202}"/>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2 / 5</a:t>
            </a:r>
          </a:p>
        </p:txBody>
      </p:sp>
      <p:sp>
        <p:nvSpPr>
          <p:cNvPr id="3" name="lead">
            <a:extLst xmlns:a="http://schemas.openxmlformats.org/drawingml/2006/main">
              <a:ext uri="{FF2B5EF4-FFF2-40B4-BE49-F238E27FC236}">
                <a16:creationId xmlns:a16="http://schemas.microsoft.com/office/drawing/2014/main" id="{7A82ECC3-F78F-4867-B7CA-73D72455FE08}"/>
              </a:ext>
            </a:extLst>
          </p:cNvPr>
          <p:cNvSpPr>
            <a:spLocks xmlns:a="http://schemas.openxmlformats.org/drawingml/2006/main" noGrp="1"/>
          </p:cNvSpPr>
          <p:nvPr/>
        </p:nvSpPr>
        <p:spPr>
          <a:xfrm xmlns:a="http://schemas.openxmlformats.org/drawingml/2006/main">
            <a:off x="609600" y="1304925"/>
            <a:ext cx="1352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6A34A"/>
                </a:solidFill>
                <a:latin typeface="Arial"/>
                <a:ea typeface="Arial"/>
                <a:cs typeface="Arial"/>
              </a:defRPr>
            </a:defPPr>
          </a:lstStyle>
          <a:p xmlns:a="http://schemas.openxmlformats.org/drawingml/2006/main">
            <a:pPr algn="l">
              <a:defRPr sz="3225" b="1">
                <a:solidFill>
                  <a:srgbClr val="16A34A"/>
                </a:solidFill>
                <a:latin typeface="Arial"/>
                <a:ea typeface="Arial"/>
                <a:cs typeface="Arial"/>
              </a:defRPr>
            </a:pPr>
            <a:r>
              <a:rPr sz="3225" b="1">
                <a:solidFill>
                  <a:srgbClr val="16A34A"/>
                </a:solidFill>
                <a:latin typeface="Arial"/>
                <a:ea typeface="Arial"/>
                <a:cs typeface="Arial"/>
              </a:rPr>
              <a:t>One Java backend, multiple replicas</a:t>
            </a:r>
          </a:p>
        </p:txBody>
      </p:sp>
      <p:sp>
        <p:nvSpPr>
          <p:cNvPr id="4" name="lead-body">
            <a:extLst xmlns:a="http://schemas.openxmlformats.org/drawingml/2006/main">
              <a:ext uri="{FF2B5EF4-FFF2-40B4-BE49-F238E27FC236}">
                <a16:creationId xmlns:a16="http://schemas.microsoft.com/office/drawing/2014/main" id="{277FEADE-783E-4CFB-AB3E-1FC5D24EA0C8}"/>
              </a:ext>
            </a:extLst>
          </p:cNvPr>
          <p:cNvSpPr>
            <a:spLocks xmlns:a="http://schemas.openxmlformats.org/drawingml/2006/main" noGrp="1"/>
          </p:cNvSpPr>
          <p:nvPr/>
        </p:nvSpPr>
        <p:spPr>
          <a:xfrm xmlns:a="http://schemas.openxmlformats.org/drawingml/2006/main">
            <a:off x="609600" y="2057400"/>
            <a:ext cx="1362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A small deployment footprint with shared business state and recoverable background processing.</a:t>
            </a:r>
          </a:p>
        </p:txBody>
      </p:sp>
      <p:sp>
        <p:nvSpPr>
          <p:cNvPr id="5" name="n-0">
            <a:extLst xmlns:a="http://schemas.openxmlformats.org/drawingml/2006/main">
              <a:ext uri="{FF2B5EF4-FFF2-40B4-BE49-F238E27FC236}">
                <a16:creationId xmlns:a16="http://schemas.microsoft.com/office/drawing/2014/main" id="{E537CDC4-E18E-48D1-98BF-EE68B4839975}"/>
              </a:ext>
            </a:extLst>
          </p:cNvPr>
          <p:cNvSpPr>
            <a:spLocks xmlns:a="http://schemas.openxmlformats.org/drawingml/2006/main" noGrp="1"/>
          </p:cNvSpPr>
          <p:nvPr/>
        </p:nvSpPr>
        <p:spPr>
          <a:xfrm xmlns:a="http://schemas.openxmlformats.org/drawingml/2006/main">
            <a:off x="609600" y="301942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01</a:t>
            </a:r>
          </a:p>
        </p:txBody>
      </p:sp>
      <p:sp>
        <p:nvSpPr>
          <p:cNvPr id="6" name="h-0">
            <a:extLst xmlns:a="http://schemas.openxmlformats.org/drawingml/2006/main">
              <a:ext uri="{FF2B5EF4-FFF2-40B4-BE49-F238E27FC236}">
                <a16:creationId xmlns:a16="http://schemas.microsoft.com/office/drawing/2014/main" id="{69546361-1E6A-447A-AF7B-C9990C5EF92F}"/>
              </a:ext>
            </a:extLst>
          </p:cNvPr>
          <p:cNvSpPr>
            <a:spLocks xmlns:a="http://schemas.openxmlformats.org/drawingml/2006/main" noGrp="1"/>
          </p:cNvSpPr>
          <p:nvPr/>
        </p:nvSpPr>
        <p:spPr>
          <a:xfrm xmlns:a="http://schemas.openxmlformats.org/drawingml/2006/main">
            <a:off x="1409700" y="3019425"/>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Java owns business behavior</a:t>
            </a:r>
          </a:p>
        </p:txBody>
      </p:sp>
      <p:sp>
        <p:nvSpPr>
          <p:cNvPr id="7" name="b-0">
            <a:extLst xmlns:a="http://schemas.openxmlformats.org/drawingml/2006/main">
              <a:ext uri="{FF2B5EF4-FFF2-40B4-BE49-F238E27FC236}">
                <a16:creationId xmlns:a16="http://schemas.microsoft.com/office/drawing/2014/main" id="{E47F358C-F2CC-4DF7-A0FF-EB25F9CFD948}"/>
              </a:ext>
            </a:extLst>
          </p:cNvPr>
          <p:cNvSpPr>
            <a:spLocks xmlns:a="http://schemas.openxmlformats.org/drawingml/2006/main" noGrp="1"/>
          </p:cNvSpPr>
          <p:nvPr/>
        </p:nvSpPr>
        <p:spPr>
          <a:xfrm xmlns:a="http://schemas.openxmlformats.org/drawingml/2006/main">
            <a:off x="1409700" y="3429000"/>
            <a:ext cx="785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Spring Boot handles APIs, Cases, Open Items, permissions and approvals. The same application runs bounded async jobs.</a:t>
            </a:r>
          </a:p>
        </p:txBody>
      </p:sp>
      <p:sp>
        <p:nvSpPr>
          <p:cNvPr id="8" name="n-1">
            <a:extLst xmlns:a="http://schemas.openxmlformats.org/drawingml/2006/main">
              <a:ext uri="{FF2B5EF4-FFF2-40B4-BE49-F238E27FC236}">
                <a16:creationId xmlns:a16="http://schemas.microsoft.com/office/drawing/2014/main" id="{E8E22210-D885-4F8A-A2DA-6F5926DE30E7}"/>
              </a:ext>
            </a:extLst>
          </p:cNvPr>
          <p:cNvSpPr>
            <a:spLocks xmlns:a="http://schemas.openxmlformats.org/drawingml/2006/main" noGrp="1"/>
          </p:cNvSpPr>
          <p:nvPr/>
        </p:nvSpPr>
        <p:spPr>
          <a:xfrm xmlns:a="http://schemas.openxmlformats.org/drawingml/2006/main">
            <a:off x="609600" y="409575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02</a:t>
            </a:r>
          </a:p>
        </p:txBody>
      </p:sp>
      <p:sp>
        <p:nvSpPr>
          <p:cNvPr id="9" name="h-1">
            <a:extLst xmlns:a="http://schemas.openxmlformats.org/drawingml/2006/main">
              <a:ext uri="{FF2B5EF4-FFF2-40B4-BE49-F238E27FC236}">
                <a16:creationId xmlns:a16="http://schemas.microsoft.com/office/drawing/2014/main" id="{14107337-45E1-4737-B4A3-1010EA92906A}"/>
              </a:ext>
            </a:extLst>
          </p:cNvPr>
          <p:cNvSpPr>
            <a:spLocks xmlns:a="http://schemas.openxmlformats.org/drawingml/2006/main" noGrp="1"/>
          </p:cNvSpPr>
          <p:nvPr/>
        </p:nvSpPr>
        <p:spPr>
          <a:xfrm xmlns:a="http://schemas.openxmlformats.org/drawingml/2006/main">
            <a:off x="1409700" y="409575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AI assists within the workflow</a:t>
            </a:r>
          </a:p>
        </p:txBody>
      </p:sp>
      <p:sp>
        <p:nvSpPr>
          <p:cNvPr id="10" name="b-1">
            <a:extLst xmlns:a="http://schemas.openxmlformats.org/drawingml/2006/main">
              <a:ext uri="{FF2B5EF4-FFF2-40B4-BE49-F238E27FC236}">
                <a16:creationId xmlns:a16="http://schemas.microsoft.com/office/drawing/2014/main" id="{227F246F-661D-4365-9256-84CCB43AD976}"/>
              </a:ext>
            </a:extLst>
          </p:cNvPr>
          <p:cNvSpPr>
            <a:spLocks xmlns:a="http://schemas.openxmlformats.org/drawingml/2006/main" noGrp="1"/>
          </p:cNvSpPr>
          <p:nvPr/>
        </p:nvSpPr>
        <p:spPr>
          <a:xfrm xmlns:a="http://schemas.openxmlformats.org/drawingml/2006/main">
            <a:off x="1409700" y="4505325"/>
            <a:ext cx="785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Spring AI calls Azure AI Foundry for intent, summaries, mail drafts and Playbook generation. AMs confirm business actions.</a:t>
            </a:r>
          </a:p>
        </p:txBody>
      </p:sp>
      <p:sp>
        <p:nvSpPr>
          <p:cNvPr id="11" name="n-2">
            <a:extLst xmlns:a="http://schemas.openxmlformats.org/drawingml/2006/main">
              <a:ext uri="{FF2B5EF4-FFF2-40B4-BE49-F238E27FC236}">
                <a16:creationId xmlns:a16="http://schemas.microsoft.com/office/drawing/2014/main" id="{7F6506AA-7029-46A8-8A5F-0728825126FA}"/>
              </a:ext>
            </a:extLst>
          </p:cNvPr>
          <p:cNvSpPr>
            <a:spLocks xmlns:a="http://schemas.openxmlformats.org/drawingml/2006/main" noGrp="1"/>
          </p:cNvSpPr>
          <p:nvPr/>
        </p:nvSpPr>
        <p:spPr>
          <a:xfrm xmlns:a="http://schemas.openxmlformats.org/drawingml/2006/main">
            <a:off x="609600" y="5172075"/>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03</a:t>
            </a:r>
          </a:p>
        </p:txBody>
      </p:sp>
      <p:sp>
        <p:nvSpPr>
          <p:cNvPr id="12" name="h-2">
            <a:extLst xmlns:a="http://schemas.openxmlformats.org/drawingml/2006/main">
              <a:ext uri="{FF2B5EF4-FFF2-40B4-BE49-F238E27FC236}">
                <a16:creationId xmlns:a16="http://schemas.microsoft.com/office/drawing/2014/main" id="{D78FB0DC-EC03-4FC1-8987-0C3F361E657B}"/>
              </a:ext>
            </a:extLst>
          </p:cNvPr>
          <p:cNvSpPr>
            <a:spLocks xmlns:a="http://schemas.openxmlformats.org/drawingml/2006/main" noGrp="1"/>
          </p:cNvSpPr>
          <p:nvPr/>
        </p:nvSpPr>
        <p:spPr>
          <a:xfrm xmlns:a="http://schemas.openxmlformats.org/drawingml/2006/main">
            <a:off x="1409700" y="5172075"/>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PostgreSQL owns durable state</a:t>
            </a:r>
          </a:p>
        </p:txBody>
      </p:sp>
      <p:sp>
        <p:nvSpPr>
          <p:cNvPr id="13" name="b-2">
            <a:extLst xmlns:a="http://schemas.openxmlformats.org/drawingml/2006/main">
              <a:ext uri="{FF2B5EF4-FFF2-40B4-BE49-F238E27FC236}">
                <a16:creationId xmlns:a16="http://schemas.microsoft.com/office/drawing/2014/main" id="{69EEFE1B-4815-442C-9932-0C08289B1718}"/>
              </a:ext>
            </a:extLst>
          </p:cNvPr>
          <p:cNvSpPr>
            <a:spLocks xmlns:a="http://schemas.openxmlformats.org/drawingml/2006/main" noGrp="1"/>
          </p:cNvSpPr>
          <p:nvPr/>
        </p:nvSpPr>
        <p:spPr>
          <a:xfrm xmlns:a="http://schemas.openxmlformats.org/drawingml/2006/main">
            <a:off x="1409700" y="5581650"/>
            <a:ext cx="785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Persist Cases, sessions, jobs and progress. Short transactions, unique keys and request idempotency protect business updates.</a:t>
            </a:r>
          </a:p>
        </p:txBody>
      </p:sp>
      <p:sp>
        <p:nvSpPr>
          <p:cNvPr id="14" name="n-3">
            <a:extLst xmlns:a="http://schemas.openxmlformats.org/drawingml/2006/main">
              <a:ext uri="{FF2B5EF4-FFF2-40B4-BE49-F238E27FC236}">
                <a16:creationId xmlns:a16="http://schemas.microsoft.com/office/drawing/2014/main" id="{34C2286A-86D3-4226-8767-C857AF57C9C4}"/>
              </a:ext>
            </a:extLst>
          </p:cNvPr>
          <p:cNvSpPr>
            <a:spLocks xmlns:a="http://schemas.openxmlformats.org/drawingml/2006/main" noGrp="1"/>
          </p:cNvSpPr>
          <p:nvPr/>
        </p:nvSpPr>
        <p:spPr>
          <a:xfrm xmlns:a="http://schemas.openxmlformats.org/drawingml/2006/main">
            <a:off x="609600" y="6248400"/>
            <a:ext cx="57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04</a:t>
            </a:r>
          </a:p>
        </p:txBody>
      </p:sp>
      <p:sp>
        <p:nvSpPr>
          <p:cNvPr id="15" name="h-3">
            <a:extLst xmlns:a="http://schemas.openxmlformats.org/drawingml/2006/main">
              <a:ext uri="{FF2B5EF4-FFF2-40B4-BE49-F238E27FC236}">
                <a16:creationId xmlns:a16="http://schemas.microsoft.com/office/drawing/2014/main" id="{1C4F9A8F-7822-49CD-96CE-937D870C3135}"/>
              </a:ext>
            </a:extLst>
          </p:cNvPr>
          <p:cNvSpPr>
            <a:spLocks xmlns:a="http://schemas.openxmlformats.org/drawingml/2006/main" noGrp="1"/>
          </p:cNvSpPr>
          <p:nvPr/>
        </p:nvSpPr>
        <p:spPr>
          <a:xfrm xmlns:a="http://schemas.openxmlformats.org/drawingml/2006/main">
            <a:off x="1409700" y="6248400"/>
            <a:ext cx="790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Replicas recover unfinished work</a:t>
            </a:r>
          </a:p>
        </p:txBody>
      </p:sp>
      <p:sp>
        <p:nvSpPr>
          <p:cNvPr id="16" name="b-3">
            <a:extLst xmlns:a="http://schemas.openxmlformats.org/drawingml/2006/main">
              <a:ext uri="{FF2B5EF4-FFF2-40B4-BE49-F238E27FC236}">
                <a16:creationId xmlns:a16="http://schemas.microsoft.com/office/drawing/2014/main" id="{8837218F-6978-4FAB-867F-FA281AE147A1}"/>
              </a:ext>
            </a:extLst>
          </p:cNvPr>
          <p:cNvSpPr>
            <a:spLocks xmlns:a="http://schemas.openxmlformats.org/drawingml/2006/main" noGrp="1"/>
          </p:cNvSpPr>
          <p:nvPr/>
        </p:nvSpPr>
        <p:spPr>
          <a:xfrm xmlns:a="http://schemas.openxmlformats.org/drawingml/2006/main">
            <a:off x="1409700" y="6657975"/>
            <a:ext cx="785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Job leases and fencing reject stale results. The platform routes to healthy replicas and replaces failed instances.</a:t>
            </a:r>
          </a:p>
        </p:txBody>
      </p:sp>
      <p:sp>
        <p:nvSpPr>
          <p:cNvPr id="17" name="platform">
            <a:extLst xmlns:a="http://schemas.openxmlformats.org/drawingml/2006/main">
              <a:ext uri="{FF2B5EF4-FFF2-40B4-BE49-F238E27FC236}">
                <a16:creationId xmlns:a16="http://schemas.microsoft.com/office/drawing/2014/main" id="{9D1770A6-AF2A-43DC-A8D3-2C0021AAEF2F}"/>
              </a:ext>
            </a:extLst>
          </p:cNvPr>
          <p:cNvSpPr>
            <a:spLocks xmlns:a="http://schemas.openxmlformats.org/drawingml/2006/main" noGrp="1"/>
          </p:cNvSpPr>
          <p:nvPr/>
        </p:nvSpPr>
        <p:spPr>
          <a:xfrm xmlns:a="http://schemas.openxmlformats.org/drawingml/2006/main">
            <a:off x="10191750" y="30194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B45"/>
                </a:solidFill>
                <a:latin typeface="Arial"/>
                <a:ea typeface="Arial"/>
                <a:cs typeface="Arial"/>
              </a:defRPr>
            </a:defPPr>
          </a:lstStyle>
          <a:p xmlns:a="http://schemas.openxmlformats.org/drawingml/2006/main">
            <a:pPr algn="l">
              <a:defRPr sz="2325" b="1">
                <a:solidFill>
                  <a:srgbClr val="132B45"/>
                </a:solidFill>
                <a:latin typeface="Arial"/>
                <a:ea typeface="Arial"/>
                <a:cs typeface="Arial"/>
              </a:defRPr>
            </a:pPr>
            <a:r>
              <a:rPr sz="2325" b="1">
                <a:solidFill>
                  <a:srgbClr val="132B45"/>
                </a:solidFill>
                <a:latin typeface="Arial"/>
                <a:ea typeface="Arial"/>
                <a:cs typeface="Arial"/>
              </a:rPr>
              <a:t>Platform integrations</a:t>
            </a:r>
          </a:p>
        </p:txBody>
      </p:sp>
      <p:sp>
        <p:nvSpPr>
          <p:cNvPr id="18" name="platform-list">
            <a:extLst xmlns:a="http://schemas.openxmlformats.org/drawingml/2006/main">
              <a:ext uri="{FF2B5EF4-FFF2-40B4-BE49-F238E27FC236}">
                <a16:creationId xmlns:a16="http://schemas.microsoft.com/office/drawing/2014/main" id="{73BB17A1-B74B-4F21-A211-0A3CBA4B9838}"/>
              </a:ext>
            </a:extLst>
          </p:cNvPr>
          <p:cNvSpPr>
            <a:spLocks xmlns:a="http://schemas.openxmlformats.org/drawingml/2006/main" noGrp="1"/>
          </p:cNvSpPr>
          <p:nvPr/>
        </p:nvSpPr>
        <p:spPr>
          <a:xfrm xmlns:a="http://schemas.openxmlformats.org/drawingml/2006/main">
            <a:off x="10191750" y="3581400"/>
            <a:ext cx="4381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Okta SSO and MFA</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Entra ID for Graph authorization</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Microsoft Graph for Outlook</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Azure Monitor and App Insights</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GitHub Actions for CI/CD</a:t>
            </a:r>
          </a:p>
        </p:txBody>
      </p:sp>
      <p:sp>
        <p:nvSpPr>
          <p:cNvPr id="19" name="delivery">
            <a:extLst xmlns:a="http://schemas.openxmlformats.org/drawingml/2006/main">
              <a:ext uri="{FF2B5EF4-FFF2-40B4-BE49-F238E27FC236}">
                <a16:creationId xmlns:a16="http://schemas.microsoft.com/office/drawing/2014/main" id="{FEFD2FE2-6643-4CA2-A1A4-2548E44E5196}"/>
              </a:ext>
            </a:extLst>
          </p:cNvPr>
          <p:cNvSpPr>
            <a:spLocks xmlns:a="http://schemas.openxmlformats.org/drawingml/2006/main" noGrp="1"/>
          </p:cNvSpPr>
          <p:nvPr/>
        </p:nvSpPr>
        <p:spPr>
          <a:xfrm xmlns:a="http://schemas.openxmlformats.org/drawingml/2006/main">
            <a:off x="10191750" y="59531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B45"/>
                </a:solidFill>
                <a:latin typeface="Arial"/>
                <a:ea typeface="Arial"/>
                <a:cs typeface="Arial"/>
              </a:defRPr>
            </a:defPPr>
          </a:lstStyle>
          <a:p xmlns:a="http://schemas.openxmlformats.org/drawingml/2006/main">
            <a:pPr algn="l">
              <a:defRPr sz="2325" b="1">
                <a:solidFill>
                  <a:srgbClr val="132B45"/>
                </a:solidFill>
                <a:latin typeface="Arial"/>
                <a:ea typeface="Arial"/>
                <a:cs typeface="Arial"/>
              </a:defRPr>
            </a:pPr>
            <a:r>
              <a:rPr sz="2325" b="1">
                <a:solidFill>
                  <a:srgbClr val="132B45"/>
                </a:solidFill>
                <a:latin typeface="Arial"/>
                <a:ea typeface="Arial"/>
                <a:cs typeface="Arial"/>
              </a:rPr>
              <a:t>Delivery priorities</a:t>
            </a:r>
          </a:p>
        </p:txBody>
      </p:sp>
      <p:sp>
        <p:nvSpPr>
          <p:cNvPr id="20" name="delivery-body">
            <a:extLst xmlns:a="http://schemas.openxmlformats.org/drawingml/2006/main">
              <a:ext uri="{FF2B5EF4-FFF2-40B4-BE49-F238E27FC236}">
                <a16:creationId xmlns:a16="http://schemas.microsoft.com/office/drawing/2014/main" id="{E97667C6-56E4-48EE-A249-EC9617190E1E}"/>
              </a:ext>
            </a:extLst>
          </p:cNvPr>
          <p:cNvSpPr>
            <a:spLocks xmlns:a="http://schemas.openxmlformats.org/drawingml/2006/main" noGrp="1"/>
          </p:cNvSpPr>
          <p:nvPr/>
        </p:nvSpPr>
        <p:spPr>
          <a:xfrm xmlns:a="http://schemas.openxmlformats.org/drawingml/2006/main">
            <a:off x="10191750" y="6505575"/>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Two-week FSD and UX design</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Three-week Java feature build</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Protected tuning and independent QA</a:t>
            </a:r>
          </a:p>
        </p:txBody>
      </p:sp>
    </p:spTree>
    <p:extLst>
      <p:ext uri="{BB962C8B-B14F-4D97-AF65-F5344CB8AC3E}">
        <p14:creationId xmlns:p14="http://schemas.microsoft.com/office/powerpoint/2010/main" val="19863167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54940F45-03A6-46EB-A4C8-D188C43CF174}"/>
              </a:ext>
            </a:extLst>
          </p:cNvPr>
          <p:cNvCxnSpPr>
            <a:stCxn xmlns:a="http://schemas.openxmlformats.org/drawingml/2006/main" id="23" idx="3"/>
            <a:endCxn xmlns:a="http://schemas.openxmlformats.org/drawingml/2006/main" id="24" idx="1"/>
          </p:cNvCxnSpPr>
          <p:nvPr/>
        </p:nvCxnSpPr>
        <p:spPr>
          <a:xfrm xmlns:a="http://schemas.openxmlformats.org/drawingml/2006/main">
            <a:off x="11858625" y="5915025"/>
            <a:ext cx="428625" cy="0"/>
          </a:xfrm>
          <a:prstGeom xmlns:a="http://schemas.openxmlformats.org/drawingml/2006/main" prst="straightConnector1">
            <a:avLst/>
          </a:prstGeom>
          <a:ln xmlns:a="http://schemas.openxmlformats.org/drawingml/2006/main" w="23813">
            <a:solidFill>
              <a:srgbClr val="0891B2"/>
            </a:solidFill>
            <a:prstDash val="solid"/>
            <a:tailEnd type="arrow" w="med" len="med"/>
          </a:ln>
        </p:spPr>
      </p:cxnSp>
      <p:cxnSp>
        <p:nvCxnSpPr>
          <p:cNvPr id="26" name="">
            <a:extLst xmlns:a="http://schemas.openxmlformats.org/drawingml/2006/main">
              <a:ext uri="{FF2B5EF4-FFF2-40B4-BE49-F238E27FC236}">
                <a16:creationId xmlns:a16="http://schemas.microsoft.com/office/drawing/2014/main" id="{DBA46C0A-7502-4022-BBAE-8CFBE8506FE1}"/>
              </a:ext>
            </a:extLst>
          </p:cNvPr>
          <p:cNvCxnSpPr>
            <a:stCxn xmlns:a="http://schemas.openxmlformats.org/drawingml/2006/main" id="22" idx="3"/>
            <a:endCxn xmlns:a="http://schemas.openxmlformats.org/drawingml/2006/main" id="23" idx="1"/>
          </p:cNvCxnSpPr>
          <p:nvPr/>
        </p:nvCxnSpPr>
        <p:spPr>
          <a:xfrm xmlns:a="http://schemas.openxmlformats.org/drawingml/2006/main">
            <a:off x="9191625" y="5915025"/>
            <a:ext cx="428625" cy="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cxnSp>
        <p:nvCxnSpPr>
          <p:cNvPr id="25" name="">
            <a:extLst xmlns:a="http://schemas.openxmlformats.org/drawingml/2006/main">
              <a:ext uri="{FF2B5EF4-FFF2-40B4-BE49-F238E27FC236}">
                <a16:creationId xmlns:a16="http://schemas.microsoft.com/office/drawing/2014/main" id="{59EEF0C0-1314-4562-8CC8-2D689A40FEA4}"/>
              </a:ext>
            </a:extLst>
          </p:cNvPr>
          <p:cNvCxnSpPr>
            <a:stCxn xmlns:a="http://schemas.openxmlformats.org/drawingml/2006/main" id="7" idx="2"/>
            <a:endCxn xmlns:a="http://schemas.openxmlformats.org/drawingml/2006/main" id="22" idx="0"/>
          </p:cNvCxnSpPr>
          <p:nvPr/>
        </p:nvCxnSpPr>
        <p:spPr>
          <a:xfrm xmlns:a="http://schemas.openxmlformats.org/drawingml/2006/main" flipH="1">
            <a:off x="8072438" y="3676650"/>
            <a:ext cx="690563" cy="1524000"/>
          </a:xfrm>
          <a:prstGeom xmlns:a="http://schemas.openxmlformats.org/drawingml/2006/main" prst="bentConnector4">
            <a:avLst>
              <a:gd name="adj1" fmla="val 0"/>
              <a:gd name="adj2" fmla="val 50000"/>
            </a:avLst>
          </a:prstGeom>
          <a:ln xmlns:a="http://schemas.openxmlformats.org/drawingml/2006/main" w="23813">
            <a:solidFill>
              <a:srgbClr val="EA580C"/>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588E524A-0A47-4D02-B789-FE67136B842F}"/>
              </a:ext>
            </a:extLst>
          </p:cNvPr>
          <p:cNvCxnSpPr>
            <a:stCxn xmlns:a="http://schemas.openxmlformats.org/drawingml/2006/main" id="18" idx="0"/>
            <a:endCxn xmlns:a="http://schemas.openxmlformats.org/drawingml/2006/main" id="5" idx="2"/>
          </p:cNvCxnSpPr>
          <p:nvPr/>
        </p:nvCxnSpPr>
        <p:spPr>
          <a:xfrm xmlns:a="http://schemas.openxmlformats.org/drawingml/2006/main" flipH="1" flipV="1">
            <a:off x="4019550" y="3676650"/>
            <a:ext cx="838200" cy="1524000"/>
          </a:xfrm>
          <a:prstGeom xmlns:a="http://schemas.openxmlformats.org/drawingml/2006/main" prst="bentConnector4">
            <a:avLst>
              <a:gd name="adj1" fmla="val 0"/>
              <a:gd name="adj2" fmla="val 50000"/>
            </a:avLst>
          </a:prstGeom>
          <a:ln xmlns:a="http://schemas.openxmlformats.org/drawingml/2006/main" w="23813">
            <a:solidFill>
              <a:srgbClr val="7C3AED"/>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91A5BEE4-D781-400D-A94D-9EE23E0F3F4A}"/>
              </a:ext>
            </a:extLst>
          </p:cNvPr>
          <p:cNvCxnSpPr>
            <a:stCxn xmlns:a="http://schemas.openxmlformats.org/drawingml/2006/main" id="17" idx="3"/>
            <a:endCxn xmlns:a="http://schemas.openxmlformats.org/drawingml/2006/main" id="18" idx="1"/>
          </p:cNvCxnSpPr>
          <p:nvPr/>
        </p:nvCxnSpPr>
        <p:spPr>
          <a:xfrm xmlns:a="http://schemas.openxmlformats.org/drawingml/2006/main">
            <a:off x="3086100" y="5915025"/>
            <a:ext cx="533400" cy="0"/>
          </a:xfrm>
          <a:prstGeom xmlns:a="http://schemas.openxmlformats.org/drawingml/2006/main" prst="straightConnector1">
            <a:avLst/>
          </a:prstGeom>
          <a:ln xmlns:a="http://schemas.openxmlformats.org/drawingml/2006/main" w="23813">
            <a:solidFill>
              <a:srgbClr val="7C3AED"/>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7AB54EEA-CA0D-40DF-BBBB-732650BC32C4}"/>
              </a:ext>
            </a:extLst>
          </p:cNvPr>
          <p:cNvCxnSpPr>
            <a:stCxn xmlns:a="http://schemas.openxmlformats.org/drawingml/2006/main" id="8" idx="3"/>
            <a:endCxn xmlns:a="http://schemas.openxmlformats.org/drawingml/2006/main" id="9" idx="1"/>
          </p:cNvCxnSpPr>
          <p:nvPr/>
        </p:nvCxnSpPr>
        <p:spPr>
          <a:xfrm xmlns:a="http://schemas.openxmlformats.org/drawingml/2006/main">
            <a:off x="1217295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2213C5B0-BF86-47FF-99A0-81D1FE29C6C2}"/>
              </a:ext>
            </a:extLst>
          </p:cNvPr>
          <p:cNvCxnSpPr>
            <a:stCxn xmlns:a="http://schemas.openxmlformats.org/drawingml/2006/main" id="7" idx="3"/>
            <a:endCxn xmlns:a="http://schemas.openxmlformats.org/drawingml/2006/main" id="8" idx="1"/>
          </p:cNvCxnSpPr>
          <p:nvPr/>
        </p:nvCxnSpPr>
        <p:spPr>
          <a:xfrm xmlns:a="http://schemas.openxmlformats.org/drawingml/2006/main">
            <a:off x="9801225"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230E57BE-E77A-4394-A25C-D847C65A800A}"/>
              </a:ext>
            </a:extLst>
          </p:cNvPr>
          <p:cNvCxnSpPr>
            <a:stCxn xmlns:a="http://schemas.openxmlformats.org/drawingml/2006/main" id="6" idx="3"/>
            <a:endCxn xmlns:a="http://schemas.openxmlformats.org/drawingml/2006/main" id="7" idx="1"/>
          </p:cNvCxnSpPr>
          <p:nvPr/>
        </p:nvCxnSpPr>
        <p:spPr>
          <a:xfrm xmlns:a="http://schemas.openxmlformats.org/drawingml/2006/main">
            <a:off x="742950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D6E19A16-CA73-41DF-9565-4D3D142FE770}"/>
              </a:ext>
            </a:extLst>
          </p:cNvPr>
          <p:cNvCxnSpPr>
            <a:stCxn xmlns:a="http://schemas.openxmlformats.org/drawingml/2006/main" id="5" idx="3"/>
            <a:endCxn xmlns:a="http://schemas.openxmlformats.org/drawingml/2006/main" id="6" idx="1"/>
          </p:cNvCxnSpPr>
          <p:nvPr/>
        </p:nvCxnSpPr>
        <p:spPr>
          <a:xfrm xmlns:a="http://schemas.openxmlformats.org/drawingml/2006/main">
            <a:off x="5057775"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9C0BFCEC-DB0F-4AA7-97CC-32177423ED60}"/>
              </a:ext>
            </a:extLst>
          </p:cNvPr>
          <p:cNvCxnSpPr>
            <a:stCxn xmlns:a="http://schemas.openxmlformats.org/drawingml/2006/main" id="4" idx="3"/>
            <a:endCxn xmlns:a="http://schemas.openxmlformats.org/drawingml/2006/main" id="5" idx="1"/>
          </p:cNvCxnSpPr>
          <p:nvPr/>
        </p:nvCxnSpPr>
        <p:spPr>
          <a:xfrm xmlns:a="http://schemas.openxmlformats.org/drawingml/2006/main">
            <a:off x="268605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sp>
        <p:nvSpPr>
          <p:cNvPr id="30" name="title">
            <a:extLst xmlns:a="http://schemas.openxmlformats.org/drawingml/2006/main">
              <a:ext uri="{FF2B5EF4-FFF2-40B4-BE49-F238E27FC236}">
                <a16:creationId xmlns:a16="http://schemas.microsoft.com/office/drawing/2014/main" id="{35D71FC5-37C6-4264-A53F-7D652A7354ED}"/>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Logical Component Flow</a:t>
            </a:r>
          </a:p>
        </p:txBody>
      </p:sp>
      <p:sp>
        <p:nvSpPr>
          <p:cNvPr id="2" name="page">
            <a:extLst xmlns:a="http://schemas.openxmlformats.org/drawingml/2006/main">
              <a:ext uri="{FF2B5EF4-FFF2-40B4-BE49-F238E27FC236}">
                <a16:creationId xmlns:a16="http://schemas.microsoft.com/office/drawing/2014/main" id="{5124C28E-CA74-45AE-84DA-1826D91BD8F5}"/>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3 / 5</a:t>
            </a:r>
          </a:p>
        </p:txBody>
      </p:sp>
      <p:sp>
        <p:nvSpPr>
          <p:cNvPr id="3" name="caption">
            <a:extLst xmlns:a="http://schemas.openxmlformats.org/drawingml/2006/main">
              <a:ext uri="{FF2B5EF4-FFF2-40B4-BE49-F238E27FC236}">
                <a16:creationId xmlns:a16="http://schemas.microsoft.com/office/drawing/2014/main" id="{6D3B3AFF-E522-4B26-9B49-D04D7DE6BE64}"/>
              </a:ext>
            </a:extLst>
          </p:cNvPr>
          <p:cNvSpPr>
            <a:spLocks xmlns:a="http://schemas.openxmlformats.org/drawingml/2006/main" noGrp="1"/>
          </p:cNvSpPr>
          <p:nvPr/>
        </p:nvSpPr>
        <p:spPr>
          <a:xfrm xmlns:a="http://schemas.openxmlformats.org/drawingml/2006/main">
            <a:off x="609600" y="1238250"/>
            <a:ext cx="1390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The numbered path turns incoming email into visible, trackable customer work.</a:t>
            </a:r>
          </a:p>
        </p:txBody>
      </p:sp>
      <p:sp>
        <p:nvSpPr>
          <p:cNvPr id="4" name="sync">
            <a:extLst xmlns:a="http://schemas.openxmlformats.org/drawingml/2006/main">
              <a:ext uri="{FF2B5EF4-FFF2-40B4-BE49-F238E27FC236}">
                <a16:creationId xmlns:a16="http://schemas.microsoft.com/office/drawing/2014/main" id="{15FFA44D-CEF4-407E-A487-A9CD3F6ECA72}"/>
              </a:ext>
            </a:extLst>
          </p:cNvPr>
          <p:cNvSpPr>
            <a:spLocks xmlns:a="http://schemas.openxmlformats.org/drawingml/2006/main" noGrp="1"/>
          </p:cNvSpPr>
          <p:nvPr/>
        </p:nvSpPr>
        <p:spPr>
          <a:xfrm xmlns:a="http://schemas.openxmlformats.org/drawingml/2006/main">
            <a:off x="609600" y="2171700"/>
            <a:ext cx="2076450" cy="1504950"/>
          </a:xfrm>
          <a:prstGeom xmlns:a="http://schemas.openxmlformats.org/drawingml/2006/main" prst="roundRect">
            <a:avLst>
              <a:gd name="adj" fmla="val 6329"/>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01  Mail sync</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Collect and</a:t>
            </a:r>
            <a:br>
              <a:rPr sz="1800">
                <a:solidFill>
                  <a:srgbClr val="132B45"/>
                </a:solidFill>
                <a:latin typeface="Arial"/>
                <a:ea typeface="Arial"/>
                <a:cs typeface="Arial"/>
              </a:rPr>
            </a:br>
            <a:r>
              <a:rPr sz="1800">
                <a:solidFill>
                  <a:srgbClr val="132B45"/>
                </a:solidFill>
                <a:latin typeface="Arial"/>
                <a:ea typeface="Arial"/>
                <a:cs typeface="Arial"/>
              </a:rPr>
              <a:t>deduplicate emails</a:t>
            </a:r>
          </a:p>
        </p:txBody>
      </p:sp>
      <p:sp>
        <p:nvSpPr>
          <p:cNvPr id="5" name="intent">
            <a:extLst xmlns:a="http://schemas.openxmlformats.org/drawingml/2006/main">
              <a:ext uri="{FF2B5EF4-FFF2-40B4-BE49-F238E27FC236}">
                <a16:creationId xmlns:a16="http://schemas.microsoft.com/office/drawing/2014/main" id="{FB280746-BDB3-40EA-997B-79C71305DA1D}"/>
              </a:ext>
            </a:extLst>
          </p:cNvPr>
          <p:cNvSpPr>
            <a:spLocks xmlns:a="http://schemas.openxmlformats.org/drawingml/2006/main" noGrp="1"/>
          </p:cNvSpPr>
          <p:nvPr/>
        </p:nvSpPr>
        <p:spPr>
          <a:xfrm xmlns:a="http://schemas.openxmlformats.org/drawingml/2006/main">
            <a:off x="298132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02  Understand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Customer, intent</a:t>
            </a:r>
            <a:br>
              <a:rPr sz="1800">
                <a:solidFill>
                  <a:srgbClr val="132B45"/>
                </a:solidFill>
                <a:latin typeface="Arial"/>
                <a:ea typeface="Arial"/>
                <a:cs typeface="Arial"/>
              </a:rPr>
            </a:br>
            <a:r>
              <a:rPr sz="1800">
                <a:solidFill>
                  <a:srgbClr val="132B45"/>
                </a:solidFill>
                <a:latin typeface="Arial"/>
                <a:ea typeface="Arial"/>
                <a:cs typeface="Arial"/>
              </a:rPr>
              <a:t>and candidate Case</a:t>
            </a:r>
          </a:p>
        </p:txBody>
      </p:sp>
      <p:sp>
        <p:nvSpPr>
          <p:cNvPr id="6" name="triage">
            <a:extLst xmlns:a="http://schemas.openxmlformats.org/drawingml/2006/main">
              <a:ext uri="{FF2B5EF4-FFF2-40B4-BE49-F238E27FC236}">
                <a16:creationId xmlns:a16="http://schemas.microsoft.com/office/drawing/2014/main" id="{DFA98F80-9F4F-4F81-8AEF-1F32C197391A}"/>
              </a:ext>
            </a:extLst>
          </p:cNvPr>
          <p:cNvSpPr>
            <a:spLocks xmlns:a="http://schemas.openxmlformats.org/drawingml/2006/main" noGrp="1"/>
          </p:cNvSpPr>
          <p:nvPr/>
        </p:nvSpPr>
        <p:spPr>
          <a:xfrm xmlns:a="http://schemas.openxmlformats.org/drawingml/2006/main">
            <a:off x="5353050"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03  Triage review</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AM confirms</a:t>
            </a:r>
            <a:br>
              <a:rPr sz="1800">
                <a:solidFill>
                  <a:srgbClr val="132B45"/>
                </a:solidFill>
                <a:latin typeface="Arial"/>
                <a:ea typeface="Arial"/>
                <a:cs typeface="Arial"/>
              </a:rPr>
            </a:br>
            <a:r>
              <a:rPr sz="1800">
                <a:solidFill>
                  <a:srgbClr val="132B45"/>
                </a:solidFill>
                <a:latin typeface="Arial"/>
                <a:ea typeface="Arial"/>
                <a:cs typeface="Arial"/>
              </a:rPr>
              <a:t>Create / Link / Ignore</a:t>
            </a:r>
          </a:p>
        </p:txBody>
      </p:sp>
      <p:sp>
        <p:nvSpPr>
          <p:cNvPr id="7" name="case">
            <a:extLst xmlns:a="http://schemas.openxmlformats.org/drawingml/2006/main">
              <a:ext uri="{FF2B5EF4-FFF2-40B4-BE49-F238E27FC236}">
                <a16:creationId xmlns:a16="http://schemas.microsoft.com/office/drawing/2014/main" id="{F545EAAE-C784-4C08-AA06-AC86AB54AA0E}"/>
              </a:ext>
            </a:extLst>
          </p:cNvPr>
          <p:cNvSpPr>
            <a:spLocks xmlns:a="http://schemas.openxmlformats.org/drawingml/2006/main" noGrp="1"/>
          </p:cNvSpPr>
          <p:nvPr/>
        </p:nvSpPr>
        <p:spPr>
          <a:xfrm xmlns:a="http://schemas.openxmlformats.org/drawingml/2006/main">
            <a:off x="772477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  Case tracking</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Owners, stage</a:t>
            </a:r>
            <a:br>
              <a:rPr sz="1800">
                <a:solidFill>
                  <a:srgbClr val="132B45"/>
                </a:solidFill>
                <a:latin typeface="Arial"/>
                <a:ea typeface="Arial"/>
                <a:cs typeface="Arial"/>
              </a:rPr>
            </a:br>
            <a:r>
              <a:rPr sz="1800">
                <a:solidFill>
                  <a:srgbClr val="132B45"/>
                </a:solidFill>
                <a:latin typeface="Arial"/>
                <a:ea typeface="Arial"/>
                <a:cs typeface="Arial"/>
              </a:rPr>
              <a:t>and Open Items</a:t>
            </a:r>
          </a:p>
        </p:txBody>
      </p:sp>
      <p:sp>
        <p:nvSpPr>
          <p:cNvPr id="8" name="overview">
            <a:extLst xmlns:a="http://schemas.openxmlformats.org/drawingml/2006/main">
              <a:ext uri="{FF2B5EF4-FFF2-40B4-BE49-F238E27FC236}">
                <a16:creationId xmlns:a16="http://schemas.microsoft.com/office/drawing/2014/main" id="{8BFC5762-6032-4512-9EC4-644C49B8EE7A}"/>
              </a:ext>
            </a:extLst>
          </p:cNvPr>
          <p:cNvSpPr>
            <a:spLocks xmlns:a="http://schemas.openxmlformats.org/drawingml/2006/main" noGrp="1"/>
          </p:cNvSpPr>
          <p:nvPr/>
        </p:nvSpPr>
        <p:spPr>
          <a:xfrm xmlns:a="http://schemas.openxmlformats.org/drawingml/2006/main">
            <a:off x="10096500" y="2171700"/>
            <a:ext cx="2076450" cy="1504950"/>
          </a:xfrm>
          <a:prstGeom xmlns:a="http://schemas.openxmlformats.org/drawingml/2006/main" prst="roundRect">
            <a:avLst>
              <a:gd name="adj" fmla="val 6329"/>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05  Overview</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Customer status</a:t>
            </a:r>
            <a:br>
              <a:rPr sz="1800">
                <a:solidFill>
                  <a:srgbClr val="132B45"/>
                </a:solidFill>
                <a:latin typeface="Arial"/>
                <a:ea typeface="Arial"/>
                <a:cs typeface="Arial"/>
              </a:rPr>
            </a:br>
            <a:r>
              <a:rPr sz="1800">
                <a:solidFill>
                  <a:srgbClr val="132B45"/>
                </a:solidFill>
                <a:latin typeface="Arial"/>
                <a:ea typeface="Arial"/>
                <a:cs typeface="Arial"/>
              </a:rPr>
              <a:t>and next actions</a:t>
            </a:r>
          </a:p>
        </p:txBody>
      </p:sp>
      <p:sp>
        <p:nvSpPr>
          <p:cNvPr id="9" name="progress">
            <a:extLst xmlns:a="http://schemas.openxmlformats.org/drawingml/2006/main">
              <a:ext uri="{FF2B5EF4-FFF2-40B4-BE49-F238E27FC236}">
                <a16:creationId xmlns:a16="http://schemas.microsoft.com/office/drawing/2014/main" id="{584D3CC9-F9D8-4DB8-AA43-20FDF0C23A59}"/>
              </a:ext>
            </a:extLst>
          </p:cNvPr>
          <p:cNvSpPr>
            <a:spLocks xmlns:a="http://schemas.openxmlformats.org/drawingml/2006/main" noGrp="1"/>
          </p:cNvSpPr>
          <p:nvPr/>
        </p:nvSpPr>
        <p:spPr>
          <a:xfrm xmlns:a="http://schemas.openxmlformats.org/drawingml/2006/main">
            <a:off x="1246822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06  Progress</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Record updates</a:t>
            </a:r>
            <a:br>
              <a:rPr sz="1800">
                <a:solidFill>
                  <a:srgbClr val="132B45"/>
                </a:solidFill>
                <a:latin typeface="Arial"/>
                <a:ea typeface="Arial"/>
                <a:cs typeface="Arial"/>
              </a:rPr>
            </a:br>
            <a:r>
              <a:rPr sz="1800">
                <a:solidFill>
                  <a:srgbClr val="132B45"/>
                </a:solidFill>
                <a:latin typeface="Arial"/>
                <a:ea typeface="Arial"/>
                <a:cs typeface="Arial"/>
              </a:rPr>
              <a:t>Complete / reopen</a:t>
            </a:r>
          </a:p>
        </p:txBody>
      </p:sp>
      <p:sp>
        <p:nvSpPr>
          <p:cNvPr id="15" name="mail-input">
            <a:extLst xmlns:a="http://schemas.openxmlformats.org/drawingml/2006/main">
              <a:ext uri="{FF2B5EF4-FFF2-40B4-BE49-F238E27FC236}">
                <a16:creationId xmlns:a16="http://schemas.microsoft.com/office/drawing/2014/main" id="{EFF2FD8D-8BAB-409C-AF11-D4F94621D02B}"/>
              </a:ext>
            </a:extLst>
          </p:cNvPr>
          <p:cNvSpPr>
            <a:spLocks xmlns:a="http://schemas.openxmlformats.org/drawingml/2006/main" noGrp="1"/>
          </p:cNvSpPr>
          <p:nvPr/>
        </p:nvSpPr>
        <p:spPr>
          <a:xfrm xmlns:a="http://schemas.openxmlformats.org/drawingml/2006/main">
            <a:off x="609600" y="1771650"/>
            <a:ext cx="2076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1">
                <a:solidFill>
                  <a:srgbClr val="0891B2"/>
                </a:solidFill>
                <a:latin typeface="Arial"/>
                <a:ea typeface="Arial"/>
                <a:cs typeface="Arial"/>
              </a:defRPr>
            </a:defPPr>
          </a:lstStyle>
          <a:p xmlns:a="http://schemas.openxmlformats.org/drawingml/2006/main">
            <a:pPr algn="ctr">
              <a:defRPr sz="1725" b="1">
                <a:solidFill>
                  <a:srgbClr val="0891B2"/>
                </a:solidFill>
                <a:latin typeface="Arial"/>
                <a:ea typeface="Arial"/>
                <a:cs typeface="Arial"/>
              </a:defRPr>
            </a:pPr>
            <a:r>
              <a:rPr sz="1725" b="1">
                <a:solidFill>
                  <a:srgbClr val="0891B2"/>
                </a:solidFill>
                <a:latin typeface="Arial"/>
                <a:ea typeface="Arial"/>
                <a:cs typeface="Arial"/>
              </a:rPr>
              <a:t>Outlook mailboxes</a:t>
            </a:r>
          </a:p>
        </p:txBody>
      </p:sp>
      <p:sp>
        <p:nvSpPr>
          <p:cNvPr id="16" name="playbook-label">
            <a:extLst xmlns:a="http://schemas.openxmlformats.org/drawingml/2006/main">
              <a:ext uri="{FF2B5EF4-FFF2-40B4-BE49-F238E27FC236}">
                <a16:creationId xmlns:a16="http://schemas.microsoft.com/office/drawing/2014/main" id="{B7A31FF5-713C-42EF-862A-68278A8FE095}"/>
              </a:ext>
            </a:extLst>
          </p:cNvPr>
          <p:cNvSpPr>
            <a:spLocks xmlns:a="http://schemas.openxmlformats.org/drawingml/2006/main" noGrp="1"/>
          </p:cNvSpPr>
          <p:nvPr/>
        </p:nvSpPr>
        <p:spPr>
          <a:xfrm xmlns:a="http://schemas.openxmlformats.org/drawingml/2006/main">
            <a:off x="609600" y="4552950"/>
            <a:ext cx="552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C3AED"/>
                </a:solidFill>
                <a:latin typeface="Arial"/>
                <a:ea typeface="Arial"/>
                <a:cs typeface="Arial"/>
              </a:defRPr>
            </a:defPPr>
          </a:lstStyle>
          <a:p xmlns:a="http://schemas.openxmlformats.org/drawingml/2006/main">
            <a:pPr algn="l">
              <a:defRPr sz="2100" b="1">
                <a:solidFill>
                  <a:srgbClr val="7C3AED"/>
                </a:solidFill>
                <a:latin typeface="Arial"/>
                <a:ea typeface="Arial"/>
                <a:cs typeface="Arial"/>
              </a:defRPr>
            </a:pPr>
            <a:r>
              <a:rPr sz="2100" b="1">
                <a:solidFill>
                  <a:srgbClr val="7C3AED"/>
                </a:solidFill>
                <a:latin typeface="Arial"/>
                <a:ea typeface="Arial"/>
                <a:cs typeface="Arial"/>
              </a:rPr>
              <a:t>Playbook management</a:t>
            </a:r>
          </a:p>
        </p:txBody>
      </p:sp>
      <p:sp>
        <p:nvSpPr>
          <p:cNvPr id="17" name="author">
            <a:extLst xmlns:a="http://schemas.openxmlformats.org/drawingml/2006/main">
              <a:ext uri="{FF2B5EF4-FFF2-40B4-BE49-F238E27FC236}">
                <a16:creationId xmlns:a16="http://schemas.microsoft.com/office/drawing/2014/main" id="{0B46026A-DA7C-4D14-98B2-762295D5CFC6}"/>
              </a:ext>
            </a:extLst>
          </p:cNvPr>
          <p:cNvSpPr>
            <a:spLocks xmlns:a="http://schemas.openxmlformats.org/drawingml/2006/main" noGrp="1"/>
          </p:cNvSpPr>
          <p:nvPr/>
        </p:nvSpPr>
        <p:spPr>
          <a:xfrm xmlns:a="http://schemas.openxmlformats.org/drawingml/2006/main">
            <a:off x="609600" y="5200650"/>
            <a:ext cx="2476500" cy="1428750"/>
          </a:xfrm>
          <a:prstGeom xmlns:a="http://schemas.openxmlformats.org/drawingml/2006/main" prst="roundRect">
            <a:avLst>
              <a:gd name="adj" fmla="val 66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07  Author Playbook</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Prompt + examples</a:t>
            </a:r>
            <a:br>
              <a:rPr sz="1800">
                <a:solidFill>
                  <a:srgbClr val="132B45"/>
                </a:solidFill>
                <a:latin typeface="Arial"/>
                <a:ea typeface="Arial"/>
                <a:cs typeface="Arial"/>
              </a:rPr>
            </a:br>
            <a:r>
              <a:rPr sz="1800">
                <a:solidFill>
                  <a:srgbClr val="132B45"/>
                </a:solidFill>
                <a:latin typeface="Arial"/>
                <a:ea typeface="Arial"/>
                <a:cs typeface="Arial"/>
              </a:rPr>
              <a:t>Generate, test and review</a:t>
            </a:r>
          </a:p>
        </p:txBody>
      </p:sp>
      <p:sp>
        <p:nvSpPr>
          <p:cNvPr id="18" name="rules">
            <a:extLst xmlns:a="http://schemas.openxmlformats.org/drawingml/2006/main">
              <a:ext uri="{FF2B5EF4-FFF2-40B4-BE49-F238E27FC236}">
                <a16:creationId xmlns:a16="http://schemas.microsoft.com/office/drawing/2014/main" id="{87235340-E592-4DFC-A6B6-7E89F5B2C657}"/>
              </a:ext>
            </a:extLst>
          </p:cNvPr>
          <p:cNvSpPr>
            <a:spLocks xmlns:a="http://schemas.openxmlformats.org/drawingml/2006/main" noGrp="1"/>
          </p:cNvSpPr>
          <p:nvPr/>
        </p:nvSpPr>
        <p:spPr>
          <a:xfrm xmlns:a="http://schemas.openxmlformats.org/drawingml/2006/main">
            <a:off x="3619500" y="5200650"/>
            <a:ext cx="2476500" cy="1428750"/>
          </a:xfrm>
          <a:prstGeom xmlns:a="http://schemas.openxmlformats.org/drawingml/2006/main" prst="roundRect">
            <a:avLst>
              <a:gd name="adj" fmla="val 66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08  Published rules</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Matching rules, task templates</a:t>
            </a:r>
            <a:br>
              <a:rPr sz="1800">
                <a:solidFill>
                  <a:srgbClr val="132B45"/>
                </a:solidFill>
                <a:latin typeface="Arial"/>
                <a:ea typeface="Arial"/>
                <a:cs typeface="Arial"/>
              </a:rPr>
            </a:br>
            <a:r>
              <a:rPr sz="1800">
                <a:solidFill>
                  <a:srgbClr val="132B45"/>
                </a:solidFill>
                <a:latin typeface="Arial"/>
                <a:ea typeface="Arial"/>
                <a:cs typeface="Arial"/>
              </a:rPr>
              <a:t>and completion criteria</a:t>
            </a:r>
          </a:p>
        </p:txBody>
      </p:sp>
      <p:sp>
        <p:nvSpPr>
          <p:cNvPr id="21" name="reply-label">
            <a:extLst xmlns:a="http://schemas.openxmlformats.org/drawingml/2006/main">
              <a:ext uri="{FF2B5EF4-FFF2-40B4-BE49-F238E27FC236}">
                <a16:creationId xmlns:a16="http://schemas.microsoft.com/office/drawing/2014/main" id="{6236A327-98D4-4517-8396-300D725D1272}"/>
              </a:ext>
            </a:extLst>
          </p:cNvPr>
          <p:cNvSpPr>
            <a:spLocks xmlns:a="http://schemas.openxmlformats.org/drawingml/2006/main" noGrp="1"/>
          </p:cNvSpPr>
          <p:nvPr/>
        </p:nvSpPr>
        <p:spPr>
          <a:xfrm xmlns:a="http://schemas.openxmlformats.org/drawingml/2006/main">
            <a:off x="9525000" y="455295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563EB"/>
                </a:solidFill>
                <a:latin typeface="Arial"/>
                <a:ea typeface="Arial"/>
                <a:cs typeface="Arial"/>
              </a:defRPr>
            </a:defPPr>
          </a:lstStyle>
          <a:p xmlns:a="http://schemas.openxmlformats.org/drawingml/2006/main">
            <a:pPr algn="l">
              <a:defRPr sz="2100" b="1">
                <a:solidFill>
                  <a:srgbClr val="2563EB"/>
                </a:solidFill>
                <a:latin typeface="Arial"/>
                <a:ea typeface="Arial"/>
                <a:cs typeface="Arial"/>
              </a:defRPr>
            </a:pPr>
            <a:r>
              <a:rPr sz="2100" b="1">
                <a:solidFill>
                  <a:srgbClr val="2563EB"/>
                </a:solidFill>
                <a:latin typeface="Arial"/>
                <a:ea typeface="Arial"/>
                <a:cs typeface="Arial"/>
              </a:rPr>
              <a:t>Reply from an Open Item</a:t>
            </a:r>
          </a:p>
        </p:txBody>
      </p:sp>
      <p:sp>
        <p:nvSpPr>
          <p:cNvPr id="22" name="generate">
            <a:extLst xmlns:a="http://schemas.openxmlformats.org/drawingml/2006/main">
              <a:ext uri="{FF2B5EF4-FFF2-40B4-BE49-F238E27FC236}">
                <a16:creationId xmlns:a16="http://schemas.microsoft.com/office/drawing/2014/main" id="{9B2E530A-7FD6-4525-B60A-FF67943E2BDD}"/>
              </a:ext>
            </a:extLst>
          </p:cNvPr>
          <p:cNvSpPr>
            <a:spLocks xmlns:a="http://schemas.openxmlformats.org/drawingml/2006/main" noGrp="1"/>
          </p:cNvSpPr>
          <p:nvPr/>
        </p:nvSpPr>
        <p:spPr>
          <a:xfrm xmlns:a="http://schemas.openxmlformats.org/drawingml/2006/main">
            <a:off x="6953250" y="5200650"/>
            <a:ext cx="2238375" cy="1428750"/>
          </a:xfrm>
          <a:prstGeom xmlns:a="http://schemas.openxmlformats.org/drawingml/2006/main" prst="roundRect">
            <a:avLst>
              <a:gd name="adj" fmla="val 6667"/>
            </a:avLst>
          </a:prstGeom>
          <a:solidFill xmlns:a="http://schemas.openxmlformats.org/drawingml/2006/main">
            <a:srgbClr val="FFEDD5"/>
          </a:solidFill>
          <a:ln xmlns:a="http://schemas.openxmlformats.org/drawingml/2006/main" w="19050">
            <a:solidFill>
              <a:srgbClr val="EA580C"/>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04.1  Generate draft</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Use Case, email</a:t>
            </a:r>
            <a:br>
              <a:rPr sz="1800">
                <a:solidFill>
                  <a:srgbClr val="132B45"/>
                </a:solidFill>
                <a:latin typeface="Arial"/>
                <a:ea typeface="Arial"/>
                <a:cs typeface="Arial"/>
              </a:rPr>
            </a:br>
            <a:r>
              <a:rPr sz="1800">
                <a:solidFill>
                  <a:srgbClr val="132B45"/>
                </a:solidFill>
                <a:latin typeface="Arial"/>
                <a:ea typeface="Arial"/>
                <a:cs typeface="Arial"/>
              </a:rPr>
              <a:t>and Open Item context</a:t>
            </a:r>
          </a:p>
        </p:txBody>
      </p:sp>
      <p:sp>
        <p:nvSpPr>
          <p:cNvPr id="23" name="review">
            <a:extLst xmlns:a="http://schemas.openxmlformats.org/drawingml/2006/main">
              <a:ext uri="{FF2B5EF4-FFF2-40B4-BE49-F238E27FC236}">
                <a16:creationId xmlns:a16="http://schemas.microsoft.com/office/drawing/2014/main" id="{15593FD0-8D3D-428C-8567-AC646CCE6405}"/>
              </a:ext>
            </a:extLst>
          </p:cNvPr>
          <p:cNvSpPr>
            <a:spLocks xmlns:a="http://schemas.openxmlformats.org/drawingml/2006/main" noGrp="1"/>
          </p:cNvSpPr>
          <p:nvPr/>
        </p:nvSpPr>
        <p:spPr>
          <a:xfrm xmlns:a="http://schemas.openxmlformats.org/drawingml/2006/main">
            <a:off x="9620250" y="5200650"/>
            <a:ext cx="2238375" cy="1428750"/>
          </a:xfrm>
          <a:prstGeom xmlns:a="http://schemas.openxmlformats.org/drawingml/2006/main" prst="roundRect">
            <a:avLst>
              <a:gd name="adj" fmla="val 6667"/>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04.2  Review / edit</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AM checks the</a:t>
            </a:r>
            <a:br>
              <a:rPr sz="1800">
                <a:solidFill>
                  <a:srgbClr val="132B45"/>
                </a:solidFill>
                <a:latin typeface="Arial"/>
                <a:ea typeface="Arial"/>
                <a:cs typeface="Arial"/>
              </a:rPr>
            </a:br>
            <a:r>
              <a:rPr sz="1800">
                <a:solidFill>
                  <a:srgbClr val="132B45"/>
                </a:solidFill>
                <a:latin typeface="Arial"/>
                <a:ea typeface="Arial"/>
                <a:cs typeface="Arial"/>
              </a:rPr>
              <a:t>generated reply</a:t>
            </a:r>
          </a:p>
        </p:txBody>
      </p:sp>
      <p:sp>
        <p:nvSpPr>
          <p:cNvPr id="24" name="send">
            <a:extLst xmlns:a="http://schemas.openxmlformats.org/drawingml/2006/main">
              <a:ext uri="{FF2B5EF4-FFF2-40B4-BE49-F238E27FC236}">
                <a16:creationId xmlns:a16="http://schemas.microsoft.com/office/drawing/2014/main" id="{6C194048-517E-4A60-98E8-B1B550832734}"/>
              </a:ext>
            </a:extLst>
          </p:cNvPr>
          <p:cNvSpPr>
            <a:spLocks xmlns:a="http://schemas.openxmlformats.org/drawingml/2006/main" noGrp="1"/>
          </p:cNvSpPr>
          <p:nvPr/>
        </p:nvSpPr>
        <p:spPr>
          <a:xfrm xmlns:a="http://schemas.openxmlformats.org/drawingml/2006/main">
            <a:off x="12287250" y="5200650"/>
            <a:ext cx="2238375" cy="1428750"/>
          </a:xfrm>
          <a:prstGeom xmlns:a="http://schemas.openxmlformats.org/drawingml/2006/main" prst="roundRect">
            <a:avLst>
              <a:gd name="adj" fmla="val 6667"/>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04.3  Approve / send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Persist send job</a:t>
            </a:r>
            <a:br>
              <a:rPr sz="1800">
                <a:solidFill>
                  <a:srgbClr val="132B45"/>
                </a:solidFill>
                <a:latin typeface="Arial"/>
                <a:ea typeface="Arial"/>
                <a:cs typeface="Arial"/>
              </a:rPr>
            </a:br>
            <a:r>
              <a:rPr sz="1800">
                <a:solidFill>
                  <a:srgbClr val="132B45"/>
                </a:solidFill>
                <a:latin typeface="Arial"/>
                <a:ea typeface="Arial"/>
                <a:cs typeface="Arial"/>
              </a:rPr>
              <a:t>Send through Graph</a:t>
            </a:r>
          </a:p>
        </p:txBody>
      </p:sp>
      <p:sp>
        <p:nvSpPr>
          <p:cNvPr id="28" name="legend">
            <a:extLst xmlns:a="http://schemas.openxmlformats.org/drawingml/2006/main">
              <a:ext uri="{FF2B5EF4-FFF2-40B4-BE49-F238E27FC236}">
                <a16:creationId xmlns:a16="http://schemas.microsoft.com/office/drawing/2014/main" id="{B1AD9598-C1EF-4188-ABAA-CD9F934C2EB3}"/>
              </a:ext>
            </a:extLst>
          </p:cNvPr>
          <p:cNvSpPr>
            <a:spLocks xmlns:a="http://schemas.openxmlformats.org/drawingml/2006/main" noGrp="1"/>
          </p:cNvSpPr>
          <p:nvPr/>
        </p:nvSpPr>
        <p:spPr>
          <a:xfrm xmlns:a="http://schemas.openxmlformats.org/drawingml/2006/main">
            <a:off x="609600" y="7181850"/>
            <a:ext cx="1390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Cyan: mail integration     Green: business logic     Blue: AM / portal     Orange: AI     Purple links: Playbook rules</a:t>
            </a:r>
          </a:p>
        </p:txBody>
      </p:sp>
      <p:sp>
        <p:nvSpPr>
          <p:cNvPr id="29" name="boundary">
            <a:extLst xmlns:a="http://schemas.openxmlformats.org/drawingml/2006/main">
              <a:ext uri="{FF2B5EF4-FFF2-40B4-BE49-F238E27FC236}">
                <a16:creationId xmlns:a16="http://schemas.microsoft.com/office/drawing/2014/main" id="{DDE9888C-EEB2-431D-9EC2-DC2FA656C5D7}"/>
              </a:ext>
            </a:extLst>
          </p:cNvPr>
          <p:cNvSpPr>
            <a:spLocks xmlns:a="http://schemas.openxmlformats.org/drawingml/2006/main" noGrp="1"/>
          </p:cNvSpPr>
          <p:nvPr/>
        </p:nvSpPr>
        <p:spPr>
          <a:xfrm xmlns:a="http://schemas.openxmlformats.org/drawingml/2006/main">
            <a:off x="609600" y="7734300"/>
            <a:ext cx="1390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B45"/>
                </a:solidFill>
                <a:latin typeface="Arial"/>
                <a:ea typeface="Arial"/>
                <a:cs typeface="Arial"/>
              </a:defRPr>
            </a:defPPr>
          </a:lstStyle>
          <a:p xmlns:a="http://schemas.openxmlformats.org/drawingml/2006/main">
            <a:pPr algn="l">
              <a:defRPr sz="1725" b="0">
                <a:solidFill>
                  <a:srgbClr val="132B45"/>
                </a:solidFill>
                <a:latin typeface="Arial"/>
                <a:ea typeface="Arial"/>
                <a:cs typeface="Arial"/>
              </a:defRPr>
            </a:pPr>
            <a:r>
              <a:rPr sz="1725" b="0">
                <a:solidFill>
                  <a:srgbClr val="132B45"/>
                </a:solidFill>
                <a:latin typeface="Arial"/>
                <a:ea typeface="Arial"/>
                <a:cs typeface="Arial"/>
              </a:rPr>
              <a:t>All processing modules run in one Java backend. AMs approve replies. Sending and Open Item completion remain separate.</a:t>
            </a:r>
          </a:p>
        </p:txBody>
      </p:sp>
    </p:spTree>
    <p:extLst>
      <p:ext uri="{BB962C8B-B14F-4D97-AF65-F5344CB8AC3E}">
        <p14:creationId xmlns:p14="http://schemas.microsoft.com/office/powerpoint/2010/main" val="42978870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30" name="">
            <a:extLst xmlns:a="http://schemas.openxmlformats.org/drawingml/2006/main">
              <a:ext uri="{FF2B5EF4-FFF2-40B4-BE49-F238E27FC236}">
                <a16:creationId xmlns:a16="http://schemas.microsoft.com/office/drawing/2014/main" id="{15A69874-5D04-4267-9F59-A970E2100C21}"/>
              </a:ext>
            </a:extLst>
          </p:cNvPr>
          <p:cNvCxnSpPr>
            <a:stCxn xmlns:a="http://schemas.openxmlformats.org/drawingml/2006/main" id="6" idx="2"/>
            <a:endCxn xmlns:a="http://schemas.openxmlformats.org/drawingml/2006/main" id="12" idx="0"/>
          </p:cNvCxnSpPr>
          <p:nvPr/>
        </p:nvCxnSpPr>
        <p:spPr>
          <a:xfrm xmlns:a="http://schemas.openxmlformats.org/drawingml/2006/main">
            <a:off x="7781925" y="6229350"/>
            <a:ext cx="0" cy="723900"/>
          </a:xfrm>
          <a:prstGeom xmlns:a="http://schemas.openxmlformats.org/drawingml/2006/main" prst="straightConnector1">
            <a:avLst/>
          </a:prstGeom>
          <a:ln xmlns:a="http://schemas.openxmlformats.org/drawingml/2006/main" w="23813">
            <a:solidFill>
              <a:srgbClr val="64748B"/>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200047FA-1641-4D75-BB48-BF7555217990}"/>
              </a:ext>
            </a:extLst>
          </p:cNvPr>
          <p:cNvCxnSpPr>
            <a:stCxn xmlns:a="http://schemas.openxmlformats.org/drawingml/2006/main" id="6" idx="1"/>
            <a:endCxn xmlns:a="http://schemas.openxmlformats.org/drawingml/2006/main" id="8" idx="3"/>
          </p:cNvCxnSpPr>
          <p:nvPr/>
        </p:nvCxnSpPr>
        <p:spPr>
          <a:xfrm xmlns:a="http://schemas.openxmlformats.org/drawingml/2006/main" flipH="1">
            <a:off x="3467100" y="5086350"/>
            <a:ext cx="2028825" cy="690563"/>
          </a:xfrm>
          <a:prstGeom xmlns:a="http://schemas.openxmlformats.org/drawingml/2006/main" prst="bentConnector3">
            <a:avLst>
              <a:gd name="adj1" fmla="val 50000"/>
            </a:avLst>
          </a:prstGeom>
          <a:ln xmlns:a="http://schemas.openxmlformats.org/drawingml/2006/main" w="23813">
            <a:solidFill>
              <a:srgbClr val="7C3AED"/>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F1D3015F-E3F3-4610-96A1-53B2CEB1950B}"/>
              </a:ext>
            </a:extLst>
          </p:cNvPr>
          <p:cNvCxnSpPr>
            <a:stCxn xmlns:a="http://schemas.openxmlformats.org/drawingml/2006/main" id="6" idx="1"/>
            <a:endCxn xmlns:a="http://schemas.openxmlformats.org/drawingml/2006/main" id="7" idx="3"/>
          </p:cNvCxnSpPr>
          <p:nvPr/>
        </p:nvCxnSpPr>
        <p:spPr>
          <a:xfrm xmlns:a="http://schemas.openxmlformats.org/drawingml/2006/main" flipH="1" flipV="1">
            <a:off x="3467100" y="4419600"/>
            <a:ext cx="2028825" cy="666750"/>
          </a:xfrm>
          <a:prstGeom xmlns:a="http://schemas.openxmlformats.org/drawingml/2006/main" prst="bentConnector3">
            <a:avLst>
              <a:gd name="adj1" fmla="val 50000"/>
            </a:avLst>
          </a:prstGeom>
          <a:ln xmlns:a="http://schemas.openxmlformats.org/drawingml/2006/main" w="23813">
            <a:solidFill>
              <a:srgbClr val="7C3AED"/>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F1914095-39D8-4835-AD92-7E9F3F67A1D9}"/>
              </a:ext>
            </a:extLst>
          </p:cNvPr>
          <p:cNvCxnSpPr>
            <a:stCxn xmlns:a="http://schemas.openxmlformats.org/drawingml/2006/main" id="5" idx="2"/>
            <a:endCxn xmlns:a="http://schemas.openxmlformats.org/drawingml/2006/main" id="6" idx="0"/>
          </p:cNvCxnSpPr>
          <p:nvPr/>
        </p:nvCxnSpPr>
        <p:spPr>
          <a:xfrm xmlns:a="http://schemas.openxmlformats.org/drawingml/2006/main">
            <a:off x="7781925" y="3105150"/>
            <a:ext cx="0" cy="83820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5C50CF8A-E554-49D6-9BFA-A7C5FA0B2372}"/>
              </a:ext>
            </a:extLst>
          </p:cNvPr>
          <p:cNvCxnSpPr>
            <a:stCxn xmlns:a="http://schemas.openxmlformats.org/drawingml/2006/main" id="4" idx="3"/>
            <a:endCxn xmlns:a="http://schemas.openxmlformats.org/drawingml/2006/main" id="5" idx="1"/>
          </p:cNvCxnSpPr>
          <p:nvPr/>
        </p:nvCxnSpPr>
        <p:spPr>
          <a:xfrm xmlns:a="http://schemas.openxmlformats.org/drawingml/2006/main">
            <a:off x="3467100" y="2581275"/>
            <a:ext cx="2028825" cy="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sp>
        <p:nvSpPr>
          <p:cNvPr id="36" name="title">
            <a:extLst xmlns:a="http://schemas.openxmlformats.org/drawingml/2006/main">
              <a:ext uri="{FF2B5EF4-FFF2-40B4-BE49-F238E27FC236}">
                <a16:creationId xmlns:a16="http://schemas.microsoft.com/office/drawing/2014/main" id="{A2448855-CDCD-4DD9-B567-080731CDF45F}"/>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Service and Network Architecture</a:t>
            </a:r>
          </a:p>
        </p:txBody>
      </p:sp>
      <p:sp>
        <p:nvSpPr>
          <p:cNvPr id="2" name="page">
            <a:extLst xmlns:a="http://schemas.openxmlformats.org/drawingml/2006/main">
              <a:ext uri="{FF2B5EF4-FFF2-40B4-BE49-F238E27FC236}">
                <a16:creationId xmlns:a16="http://schemas.microsoft.com/office/drawing/2014/main" id="{61977266-98CD-4B04-9BBC-DD0A6A60933C}"/>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4 / 5</a:t>
            </a:r>
          </a:p>
        </p:txBody>
      </p:sp>
      <p:sp>
        <p:nvSpPr>
          <p:cNvPr id="3" name="caption">
            <a:extLst xmlns:a="http://schemas.openxmlformats.org/drawingml/2006/main">
              <a:ext uri="{FF2B5EF4-FFF2-40B4-BE49-F238E27FC236}">
                <a16:creationId xmlns:a16="http://schemas.microsoft.com/office/drawing/2014/main" id="{24F62221-EB02-44F4-98CF-5BAEC33B4B41}"/>
              </a:ext>
            </a:extLst>
          </p:cNvPr>
          <p:cNvSpPr>
            <a:spLocks xmlns:a="http://schemas.openxmlformats.org/drawingml/2006/main" noGrp="1"/>
          </p:cNvSpPr>
          <p:nvPr/>
        </p:nvSpPr>
        <p:spPr>
          <a:xfrm xmlns:a="http://schemas.openxmlformats.org/drawingml/2006/main">
            <a:off x="609600" y="1238250"/>
            <a:ext cx="1400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One Java deployment with 2+ identical replicas. HTTP and bounded async executors share each replica.</a:t>
            </a:r>
          </a:p>
        </p:txBody>
      </p:sp>
      <p:sp>
        <p:nvSpPr>
          <p:cNvPr id="4" name="am">
            <a:extLst xmlns:a="http://schemas.openxmlformats.org/drawingml/2006/main">
              <a:ext uri="{FF2B5EF4-FFF2-40B4-BE49-F238E27FC236}">
                <a16:creationId xmlns:a16="http://schemas.microsoft.com/office/drawing/2014/main" id="{2B32F500-20CA-4468-831C-A460B10FBDAB}"/>
              </a:ext>
            </a:extLst>
          </p:cNvPr>
          <p:cNvSpPr>
            <a:spLocks xmlns:a="http://schemas.openxmlformats.org/drawingml/2006/main" noGrp="1"/>
          </p:cNvSpPr>
          <p:nvPr/>
        </p:nvSpPr>
        <p:spPr>
          <a:xfrm xmlns:a="http://schemas.openxmlformats.org/drawingml/2006/main">
            <a:off x="609600" y="2057400"/>
            <a:ext cx="2857500" cy="1047750"/>
          </a:xfrm>
          <a:prstGeom xmlns:a="http://schemas.openxmlformats.org/drawingml/2006/main" prst="roundRect">
            <a:avLst>
              <a:gd name="adj" fmla="val 9091"/>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Local / Regional AM</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Business users</a:t>
            </a:r>
          </a:p>
        </p:txBody>
      </p:sp>
      <p:sp>
        <p:nvSpPr>
          <p:cNvPr id="5" name="portal">
            <a:extLst xmlns:a="http://schemas.openxmlformats.org/drawingml/2006/main">
              <a:ext uri="{FF2B5EF4-FFF2-40B4-BE49-F238E27FC236}">
                <a16:creationId xmlns:a16="http://schemas.microsoft.com/office/drawing/2014/main" id="{BD8EB1F9-B988-4897-9133-628D8FD0FBCE}"/>
              </a:ext>
            </a:extLst>
          </p:cNvPr>
          <p:cNvSpPr>
            <a:spLocks xmlns:a="http://schemas.openxmlformats.org/drawingml/2006/main" noGrp="1"/>
          </p:cNvSpPr>
          <p:nvPr/>
        </p:nvSpPr>
        <p:spPr>
          <a:xfrm xmlns:a="http://schemas.openxmlformats.org/drawingml/2006/main">
            <a:off x="5495925" y="2057400"/>
            <a:ext cx="4572000" cy="1047750"/>
          </a:xfrm>
          <a:prstGeom xmlns:a="http://schemas.openxmlformats.org/drawingml/2006/main" prst="roundRect">
            <a:avLst>
              <a:gd name="adj" fmla="val 9091"/>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75">
                <a:solidFill>
                  <a:srgbClr val="132B45"/>
                </a:solidFill>
                <a:latin typeface="Arial"/>
                <a:ea typeface="Arial"/>
                <a:cs typeface="Arial"/>
              </a:defRPr>
            </a:defPPr>
          </a:lstStyle>
          <a:p xmlns:a="http://schemas.openxmlformats.org/drawingml/2006/main">
            <a:pPr algn="ctr">
              <a:spcAft>
                <a:spcPts val="10"/>
              </a:spcAft>
              <a:defRPr sz="1875">
                <a:solidFill>
                  <a:srgbClr val="132B45"/>
                </a:solidFill>
                <a:latin typeface="Arial"/>
                <a:ea typeface="Arial"/>
                <a:cs typeface="Arial"/>
              </a:defRPr>
            </a:pPr>
            <a:r>
              <a:rPr sz="1875" b="1">
                <a:solidFill>
                  <a:srgbClr val="132B45"/>
                </a:solidFill>
                <a:latin typeface="Arial"/>
                <a:ea typeface="Arial"/>
                <a:cs typeface="Arial"/>
              </a:rPr>
              <a:t>Web Portal / BFF</a:t>
            </a:r>
          </a:p>
          <a:p xmlns:a="http://schemas.openxmlformats.org/drawingml/2006/main">
            <a:pPr algn="ctr">
              <a:defRPr sz="1875">
                <a:solidFill>
                  <a:srgbClr val="132B45"/>
                </a:solidFill>
                <a:latin typeface="Arial"/>
                <a:ea typeface="Arial"/>
                <a:cs typeface="Arial"/>
              </a:defRPr>
            </a:pPr>
            <a:r>
              <a:rPr sz="1875">
                <a:solidFill>
                  <a:srgbClr val="132B45"/>
                </a:solidFill>
                <a:latin typeface="Arial"/>
                <a:ea typeface="Arial"/>
                <a:cs typeface="Arial"/>
              </a:rPr>
              <a:t>Next.js, 2+ replicas</a:t>
            </a:r>
          </a:p>
        </p:txBody>
      </p:sp>
      <p:sp>
        <p:nvSpPr>
          <p:cNvPr id="6" name="java">
            <a:extLst xmlns:a="http://schemas.openxmlformats.org/drawingml/2006/main">
              <a:ext uri="{FF2B5EF4-FFF2-40B4-BE49-F238E27FC236}">
                <a16:creationId xmlns:a16="http://schemas.microsoft.com/office/drawing/2014/main" id="{78165782-3F5C-4476-945F-DED891EE7645}"/>
              </a:ext>
            </a:extLst>
          </p:cNvPr>
          <p:cNvSpPr>
            <a:spLocks xmlns:a="http://schemas.openxmlformats.org/drawingml/2006/main" noGrp="1"/>
          </p:cNvSpPr>
          <p:nvPr/>
        </p:nvSpPr>
        <p:spPr>
          <a:xfrm xmlns:a="http://schemas.openxmlformats.org/drawingml/2006/main">
            <a:off x="5495925" y="3943350"/>
            <a:ext cx="4572000" cy="2286000"/>
          </a:xfrm>
          <a:prstGeom xmlns:a="http://schemas.openxmlformats.org/drawingml/2006/main" prst="roundRect">
            <a:avLst>
              <a:gd name="adj" fmla="val 41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Java Backend Service</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Spring Boot + Spring AI, 2+ replicas</a:t>
            </a:r>
            <a:br>
              <a:rPr sz="1800">
                <a:solidFill>
                  <a:srgbClr val="132B45"/>
                </a:solidFill>
                <a:latin typeface="Arial"/>
                <a:ea typeface="Arial"/>
                <a:cs typeface="Arial"/>
              </a:rPr>
            </a:br>
            <a:r>
              <a:rPr sz="1800">
                <a:solidFill>
                  <a:srgbClr val="132B45"/>
                </a:solidFill>
                <a:latin typeface="Arial"/>
                <a:ea typeface="Arial"/>
                <a:cs typeface="Arial"/>
              </a:rPr>
              <a:t>HTTP: APIs, Cases and approvals</a:t>
            </a:r>
            <a:br>
              <a:rPr sz="1800">
                <a:solidFill>
                  <a:srgbClr val="132B45"/>
                </a:solidFill>
                <a:latin typeface="Arial"/>
                <a:ea typeface="Arial"/>
                <a:cs typeface="Arial"/>
              </a:rPr>
            </a:br>
            <a:r>
              <a:rPr sz="1800">
                <a:solidFill>
                  <a:srgbClr val="132B45"/>
                </a:solidFill>
                <a:latin typeface="Arial"/>
                <a:ea typeface="Arial"/>
                <a:cs typeface="Arial"/>
              </a:rPr>
              <a:t>Async: mail sync and AI generation</a:t>
            </a:r>
            <a:br>
              <a:rPr sz="1800">
                <a:solidFill>
                  <a:srgbClr val="132B45"/>
                </a:solidFill>
                <a:latin typeface="Arial"/>
                <a:ea typeface="Arial"/>
                <a:cs typeface="Arial"/>
              </a:rPr>
            </a:br>
            <a:r>
              <a:rPr sz="1800">
                <a:solidFill>
                  <a:srgbClr val="132B45"/>
                </a:solidFill>
                <a:latin typeface="Arial"/>
                <a:ea typeface="Arial"/>
                <a:cs typeface="Arial"/>
              </a:rPr>
              <a:t>Dispatch: approved sends and reconciliation</a:t>
            </a:r>
          </a:p>
        </p:txBody>
      </p:sp>
      <p:sp>
        <p:nvSpPr>
          <p:cNvPr id="7" name="okta">
            <a:extLst xmlns:a="http://schemas.openxmlformats.org/drawingml/2006/main">
              <a:ext uri="{FF2B5EF4-FFF2-40B4-BE49-F238E27FC236}">
                <a16:creationId xmlns:a16="http://schemas.microsoft.com/office/drawing/2014/main" id="{A7F359CF-F944-4571-A308-ECC3EE10C2B2}"/>
              </a:ext>
            </a:extLst>
          </p:cNvPr>
          <p:cNvSpPr>
            <a:spLocks xmlns:a="http://schemas.openxmlformats.org/drawingml/2006/main" noGrp="1"/>
          </p:cNvSpPr>
          <p:nvPr/>
        </p:nvSpPr>
        <p:spPr>
          <a:xfrm xmlns:a="http://schemas.openxmlformats.org/drawingml/2006/main">
            <a:off x="609600" y="3943350"/>
            <a:ext cx="2857500" cy="952500"/>
          </a:xfrm>
          <a:prstGeom xmlns:a="http://schemas.openxmlformats.org/drawingml/2006/main" prst="roundRect">
            <a:avLst>
              <a:gd name="adj" fmla="val 10000"/>
            </a:avLst>
          </a:prstGeom>
          <a:solidFill xmlns:a="http://schemas.openxmlformats.org/drawingml/2006/main">
            <a:srgbClr val="EDE9FE"/>
          </a:solidFill>
          <a:ln xmlns:a="http://schemas.openxmlformats.org/drawingml/2006/main" w="19050">
            <a:solidFill>
              <a:srgbClr val="7C3AED"/>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Okta SSO</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Authentication and MFA</a:t>
            </a:r>
          </a:p>
        </p:txBody>
      </p:sp>
      <p:sp>
        <p:nvSpPr>
          <p:cNvPr id="8" name="entra">
            <a:extLst xmlns:a="http://schemas.openxmlformats.org/drawingml/2006/main">
              <a:ext uri="{FF2B5EF4-FFF2-40B4-BE49-F238E27FC236}">
                <a16:creationId xmlns:a16="http://schemas.microsoft.com/office/drawing/2014/main" id="{00343856-E355-4828-92F6-D5560C058F59}"/>
              </a:ext>
            </a:extLst>
          </p:cNvPr>
          <p:cNvSpPr>
            <a:spLocks xmlns:a="http://schemas.openxmlformats.org/drawingml/2006/main" noGrp="1"/>
          </p:cNvSpPr>
          <p:nvPr/>
        </p:nvSpPr>
        <p:spPr>
          <a:xfrm xmlns:a="http://schemas.openxmlformats.org/drawingml/2006/main">
            <a:off x="609600" y="5276850"/>
            <a:ext cx="2857500" cy="1000125"/>
          </a:xfrm>
          <a:prstGeom xmlns:a="http://schemas.openxmlformats.org/drawingml/2006/main" prst="roundRect">
            <a:avLst>
              <a:gd name="adj" fmla="val 9524"/>
            </a:avLst>
          </a:prstGeom>
          <a:solidFill xmlns:a="http://schemas.openxmlformats.org/drawingml/2006/main">
            <a:srgbClr val="EDE9FE"/>
          </a:solidFill>
          <a:ln xmlns:a="http://schemas.openxmlformats.org/drawingml/2006/main" w="19050">
            <a:solidFill>
              <a:srgbClr val="7C3AED"/>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Microsoft Entra ID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Graph authorization</a:t>
            </a:r>
            <a:br>
              <a:rPr sz="1800">
                <a:solidFill>
                  <a:srgbClr val="132B45"/>
                </a:solidFill>
                <a:latin typeface="Arial"/>
                <a:ea typeface="Arial"/>
                <a:cs typeface="Arial"/>
              </a:rPr>
            </a:br>
            <a:r>
              <a:rPr sz="1800">
                <a:solidFill>
                  <a:srgbClr val="132B45"/>
                </a:solidFill>
                <a:latin typeface="Arial"/>
                <a:ea typeface="Arial"/>
                <a:cs typeface="Arial"/>
              </a:rPr>
              <a:t>Azure workload identity</a:t>
            </a:r>
          </a:p>
        </p:txBody>
      </p:sp>
      <p:sp>
        <p:nvSpPr>
          <p:cNvPr id="9" name="graph">
            <a:extLst xmlns:a="http://schemas.openxmlformats.org/drawingml/2006/main">
              <a:ext uri="{FF2B5EF4-FFF2-40B4-BE49-F238E27FC236}">
                <a16:creationId xmlns:a16="http://schemas.microsoft.com/office/drawing/2014/main" id="{126DD8BC-5797-4B0E-A259-A01F5D5542DA}"/>
              </a:ext>
            </a:extLst>
          </p:cNvPr>
          <p:cNvSpPr>
            <a:spLocks xmlns:a="http://schemas.openxmlformats.org/drawingml/2006/main" noGrp="1"/>
          </p:cNvSpPr>
          <p:nvPr/>
        </p:nvSpPr>
        <p:spPr>
          <a:xfrm xmlns:a="http://schemas.openxmlformats.org/drawingml/2006/main">
            <a:off x="11715750" y="2057400"/>
            <a:ext cx="2905125" cy="1047750"/>
          </a:xfrm>
          <a:prstGeom xmlns:a="http://schemas.openxmlformats.org/drawingml/2006/main" prst="roundRect">
            <a:avLst>
              <a:gd name="adj" fmla="val 9091"/>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Graph / Outlook</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Mailbox sync and approved sends</a:t>
            </a:r>
          </a:p>
        </p:txBody>
      </p:sp>
      <p:sp>
        <p:nvSpPr>
          <p:cNvPr id="10" name="foundry">
            <a:extLst xmlns:a="http://schemas.openxmlformats.org/drawingml/2006/main">
              <a:ext uri="{FF2B5EF4-FFF2-40B4-BE49-F238E27FC236}">
                <a16:creationId xmlns:a16="http://schemas.microsoft.com/office/drawing/2014/main" id="{6360F876-89C5-4FA6-9F31-05F8186FCAB7}"/>
              </a:ext>
            </a:extLst>
          </p:cNvPr>
          <p:cNvSpPr>
            <a:spLocks xmlns:a="http://schemas.openxmlformats.org/drawingml/2006/main" noGrp="1"/>
          </p:cNvSpPr>
          <p:nvPr/>
        </p:nvSpPr>
        <p:spPr>
          <a:xfrm xmlns:a="http://schemas.openxmlformats.org/drawingml/2006/main">
            <a:off x="11715750" y="3943350"/>
            <a:ext cx="2905125" cy="1238250"/>
          </a:xfrm>
          <a:prstGeom xmlns:a="http://schemas.openxmlformats.org/drawingml/2006/main" prst="roundRect">
            <a:avLst>
              <a:gd name="adj" fmla="val 7692"/>
            </a:avLst>
          </a:prstGeom>
          <a:solidFill xmlns:a="http://schemas.openxmlformats.org/drawingml/2006/main">
            <a:srgbClr val="FFEDD5"/>
          </a:solidFill>
          <a:ln xmlns:a="http://schemas.openxmlformats.org/drawingml/2006/main" w="19050">
            <a:solidFill>
              <a:srgbClr val="EA580C"/>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AI Foundry</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Model inference</a:t>
            </a:r>
            <a:br>
              <a:rPr sz="1800">
                <a:solidFill>
                  <a:srgbClr val="132B45"/>
                </a:solidFill>
                <a:latin typeface="Arial"/>
                <a:ea typeface="Arial"/>
                <a:cs typeface="Arial"/>
              </a:rPr>
            </a:br>
            <a:r>
              <a:rPr sz="1800">
                <a:solidFill>
                  <a:srgbClr val="132B45"/>
                </a:solidFill>
                <a:latin typeface="Arial"/>
                <a:ea typeface="Arial"/>
                <a:cs typeface="Arial"/>
              </a:rPr>
              <a:t>through Spring AI</a:t>
            </a:r>
          </a:p>
        </p:txBody>
      </p:sp>
      <p:sp>
        <p:nvSpPr>
          <p:cNvPr id="11" name="blob">
            <a:extLst xmlns:a="http://schemas.openxmlformats.org/drawingml/2006/main">
              <a:ext uri="{FF2B5EF4-FFF2-40B4-BE49-F238E27FC236}">
                <a16:creationId xmlns:a16="http://schemas.microsoft.com/office/drawing/2014/main" id="{B9BF3A8A-C00C-4FFF-81A2-98CCE792B703}"/>
              </a:ext>
            </a:extLst>
          </p:cNvPr>
          <p:cNvSpPr>
            <a:spLocks xmlns:a="http://schemas.openxmlformats.org/drawingml/2006/main" noGrp="1"/>
          </p:cNvSpPr>
          <p:nvPr/>
        </p:nvSpPr>
        <p:spPr>
          <a:xfrm xmlns:a="http://schemas.openxmlformats.org/drawingml/2006/main">
            <a:off x="11715750" y="5476875"/>
            <a:ext cx="2905125" cy="1047750"/>
          </a:xfrm>
          <a:prstGeom xmlns:a="http://schemas.openxmlformats.org/drawingml/2006/main" prst="roundRect">
            <a:avLst>
              <a:gd name="adj" fmla="val 9091"/>
            </a:avLst>
          </a:prstGeom>
          <a:solidFill xmlns:a="http://schemas.openxmlformats.org/drawingml/2006/main">
            <a:srgbClr val="F1F5F9"/>
          </a:solidFill>
          <a:ln xmlns:a="http://schemas.openxmlformats.org/drawingml/2006/main" w="19050">
            <a:solidFill>
              <a:srgbClr val="64748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Blob Storage</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Attachments and</a:t>
            </a:r>
            <a:br>
              <a:rPr sz="1800">
                <a:solidFill>
                  <a:srgbClr val="132B45"/>
                </a:solidFill>
                <a:latin typeface="Arial"/>
                <a:ea typeface="Arial"/>
                <a:cs typeface="Arial"/>
              </a:rPr>
            </a:br>
            <a:r>
              <a:rPr sz="1800">
                <a:solidFill>
                  <a:srgbClr val="132B45"/>
                </a:solidFill>
                <a:latin typeface="Arial"/>
                <a:ea typeface="Arial"/>
                <a:cs typeface="Arial"/>
              </a:rPr>
              <a:t>example email artifacts</a:t>
            </a:r>
          </a:p>
        </p:txBody>
      </p:sp>
      <p:sp>
        <p:nvSpPr>
          <p:cNvPr id="12" name="postgres">
            <a:extLst xmlns:a="http://schemas.openxmlformats.org/drawingml/2006/main">
              <a:ext uri="{FF2B5EF4-FFF2-40B4-BE49-F238E27FC236}">
                <a16:creationId xmlns:a16="http://schemas.microsoft.com/office/drawing/2014/main" id="{C35D0CD9-3726-4013-B16C-156958BA8792}"/>
              </a:ext>
            </a:extLst>
          </p:cNvPr>
          <p:cNvSpPr>
            <a:spLocks xmlns:a="http://schemas.openxmlformats.org/drawingml/2006/main" noGrp="1"/>
          </p:cNvSpPr>
          <p:nvPr/>
        </p:nvSpPr>
        <p:spPr>
          <a:xfrm xmlns:a="http://schemas.openxmlformats.org/drawingml/2006/main">
            <a:off x="5495925" y="6953250"/>
            <a:ext cx="4572000" cy="1047750"/>
          </a:xfrm>
          <a:prstGeom xmlns:a="http://schemas.openxmlformats.org/drawingml/2006/main" prst="roundRect">
            <a:avLst>
              <a:gd name="adj" fmla="val 9091"/>
            </a:avLst>
          </a:prstGeom>
          <a:solidFill xmlns:a="http://schemas.openxmlformats.org/drawingml/2006/main">
            <a:srgbClr val="F1F5F9"/>
          </a:solidFill>
          <a:ln xmlns:a="http://schemas.openxmlformats.org/drawingml/2006/main" w="19050">
            <a:solidFill>
              <a:srgbClr val="64748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PostgreSQL HA</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Cases, shared sessions, durable jobs,</a:t>
            </a:r>
            <a:br>
              <a:rPr sz="1800">
                <a:solidFill>
                  <a:srgbClr val="132B45"/>
                </a:solidFill>
                <a:latin typeface="Arial"/>
                <a:ea typeface="Arial"/>
                <a:cs typeface="Arial"/>
              </a:rPr>
            </a:br>
            <a:r>
              <a:rPr sz="1800">
                <a:solidFill>
                  <a:srgbClr val="132B45"/>
                </a:solidFill>
                <a:latin typeface="Arial"/>
                <a:ea typeface="Arial"/>
                <a:cs typeface="Arial"/>
              </a:rPr>
              <a:t>sync cursors, audit and idempotency</a:t>
            </a:r>
          </a:p>
        </p:txBody>
      </p:sp>
      <p:sp>
        <p:nvSpPr>
          <p:cNvPr id="13" name="monitor">
            <a:extLst xmlns:a="http://schemas.openxmlformats.org/drawingml/2006/main">
              <a:ext uri="{FF2B5EF4-FFF2-40B4-BE49-F238E27FC236}">
                <a16:creationId xmlns:a16="http://schemas.microsoft.com/office/drawing/2014/main" id="{96A3BA5A-2168-4A0D-AC05-7746037D9848}"/>
              </a:ext>
            </a:extLst>
          </p:cNvPr>
          <p:cNvSpPr>
            <a:spLocks xmlns:a="http://schemas.openxmlformats.org/drawingml/2006/main" noGrp="1"/>
          </p:cNvSpPr>
          <p:nvPr/>
        </p:nvSpPr>
        <p:spPr>
          <a:xfrm xmlns:a="http://schemas.openxmlformats.org/drawingml/2006/main">
            <a:off x="609600" y="6953250"/>
            <a:ext cx="2857500" cy="1047750"/>
          </a:xfrm>
          <a:prstGeom xmlns:a="http://schemas.openxmlformats.org/drawingml/2006/main" prst="roundRect">
            <a:avLst>
              <a:gd name="adj" fmla="val 9091"/>
            </a:avLst>
          </a:prstGeom>
          <a:solidFill xmlns:a="http://schemas.openxmlformats.org/drawingml/2006/main">
            <a:srgbClr val="FEF9C3"/>
          </a:solidFill>
          <a:ln xmlns:a="http://schemas.openxmlformats.org/drawingml/2006/main" w="19050">
            <a:solidFill>
              <a:srgbClr val="A07806"/>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Monitor</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App Insights, logs, traces</a:t>
            </a:r>
            <a:br>
              <a:rPr sz="1800">
                <a:solidFill>
                  <a:srgbClr val="132B45"/>
                </a:solidFill>
                <a:latin typeface="Arial"/>
                <a:ea typeface="Arial"/>
                <a:cs typeface="Arial"/>
              </a:rPr>
            </a:br>
            <a:r>
              <a:rPr sz="1800">
                <a:solidFill>
                  <a:srgbClr val="132B45"/>
                </a:solidFill>
                <a:latin typeface="Arial"/>
                <a:ea typeface="Arial"/>
                <a:cs typeface="Arial"/>
              </a:rPr>
              <a:t>and operational alerts</a:t>
            </a:r>
          </a:p>
        </p:txBody>
      </p:sp>
      <p:sp>
        <p:nvSpPr>
          <p:cNvPr id="15" name="https">
            <a:extLst xmlns:a="http://schemas.openxmlformats.org/drawingml/2006/main">
              <a:ext uri="{FF2B5EF4-FFF2-40B4-BE49-F238E27FC236}">
                <a16:creationId xmlns:a16="http://schemas.microsoft.com/office/drawing/2014/main" id="{1BC1826D-C26A-4725-A7A9-93D94F36C44F}"/>
              </a:ext>
            </a:extLst>
          </p:cNvPr>
          <p:cNvSpPr>
            <a:spLocks xmlns:a="http://schemas.openxmlformats.org/drawingml/2006/main" noGrp="1"/>
          </p:cNvSpPr>
          <p:nvPr/>
        </p:nvSpPr>
        <p:spPr>
          <a:xfrm xmlns:a="http://schemas.openxmlformats.org/drawingml/2006/main">
            <a:off x="3886200" y="2362200"/>
            <a:ext cx="114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2563EB"/>
                </a:solidFill>
                <a:latin typeface="Arial"/>
                <a:ea typeface="Arial"/>
                <a:cs typeface="Arial"/>
              </a:defRPr>
            </a:defPPr>
          </a:lstStyle>
          <a:p xmlns:a="http://schemas.openxmlformats.org/drawingml/2006/main">
            <a:pPr algn="ctr">
              <a:defRPr sz="1650" b="0">
                <a:solidFill>
                  <a:srgbClr val="2563EB"/>
                </a:solidFill>
                <a:latin typeface="Arial"/>
                <a:ea typeface="Arial"/>
                <a:cs typeface="Arial"/>
              </a:defRPr>
            </a:pPr>
            <a:r>
              <a:rPr sz="1650" b="0">
                <a:solidFill>
                  <a:srgbClr val="2563EB"/>
                </a:solidFill>
                <a:latin typeface="Arial"/>
                <a:ea typeface="Arial"/>
                <a:cs typeface="Arial"/>
              </a:rPr>
              <a:t>HTTPS</a:t>
            </a:r>
          </a:p>
        </p:txBody>
      </p:sp>
      <p:sp>
        <p:nvSpPr>
          <p:cNvPr id="17" name="http">
            <a:extLst xmlns:a="http://schemas.openxmlformats.org/drawingml/2006/main">
              <a:ext uri="{FF2B5EF4-FFF2-40B4-BE49-F238E27FC236}">
                <a16:creationId xmlns:a16="http://schemas.microsoft.com/office/drawing/2014/main" id="{EC3A7673-96B2-4D17-8D8D-22B0A80C3DB7}"/>
              </a:ext>
            </a:extLst>
          </p:cNvPr>
          <p:cNvSpPr>
            <a:spLocks xmlns:a="http://schemas.openxmlformats.org/drawingml/2006/main" noGrp="1"/>
          </p:cNvSpPr>
          <p:nvPr/>
        </p:nvSpPr>
        <p:spPr>
          <a:xfrm xmlns:a="http://schemas.openxmlformats.org/drawingml/2006/main">
            <a:off x="7953375" y="33242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563EB"/>
                </a:solidFill>
                <a:latin typeface="Arial"/>
                <a:ea typeface="Arial"/>
                <a:cs typeface="Arial"/>
              </a:defRPr>
            </a:defPPr>
          </a:lstStyle>
          <a:p xmlns:a="http://schemas.openxmlformats.org/drawingml/2006/main">
            <a:pPr algn="l">
              <a:defRPr sz="1650" b="0">
                <a:solidFill>
                  <a:srgbClr val="2563EB"/>
                </a:solidFill>
                <a:latin typeface="Arial"/>
                <a:ea typeface="Arial"/>
                <a:cs typeface="Arial"/>
              </a:defRPr>
            </a:pPr>
            <a:r>
              <a:rPr sz="1650" b="0">
                <a:solidFill>
                  <a:srgbClr val="2563EB"/>
                </a:solidFill>
                <a:latin typeface="Arial"/>
                <a:ea typeface="Arial"/>
                <a:cs typeface="Arial"/>
              </a:rPr>
              <a:t>Authenticated HTTP</a:t>
            </a:r>
          </a:p>
        </p:txBody>
      </p:sp>
      <p:sp>
        <p:nvSpPr>
          <p:cNvPr id="19" name="sso">
            <a:extLst xmlns:a="http://schemas.openxmlformats.org/drawingml/2006/main">
              <a:ext uri="{FF2B5EF4-FFF2-40B4-BE49-F238E27FC236}">
                <a16:creationId xmlns:a16="http://schemas.microsoft.com/office/drawing/2014/main" id="{CE63AC84-A442-4696-8A57-299BAEA2DE50}"/>
              </a:ext>
            </a:extLst>
          </p:cNvPr>
          <p:cNvSpPr>
            <a:spLocks xmlns:a="http://schemas.openxmlformats.org/drawingml/2006/main" noGrp="1"/>
          </p:cNvSpPr>
          <p:nvPr/>
        </p:nvSpPr>
        <p:spPr>
          <a:xfrm xmlns:a="http://schemas.openxmlformats.org/drawingml/2006/main">
            <a:off x="3667125" y="4000500"/>
            <a:ext cx="1666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7C3AED"/>
                </a:solidFill>
                <a:latin typeface="Arial"/>
                <a:ea typeface="Arial"/>
                <a:cs typeface="Arial"/>
              </a:defRPr>
            </a:defPPr>
          </a:lstStyle>
          <a:p xmlns:a="http://schemas.openxmlformats.org/drawingml/2006/main">
            <a:pPr algn="ctr">
              <a:defRPr sz="1650" b="0">
                <a:solidFill>
                  <a:srgbClr val="7C3AED"/>
                </a:solidFill>
                <a:latin typeface="Arial"/>
                <a:ea typeface="Arial"/>
                <a:cs typeface="Arial"/>
              </a:defRPr>
            </a:pPr>
            <a:r>
              <a:rPr sz="1650" b="0">
                <a:solidFill>
                  <a:srgbClr val="7C3AED"/>
                </a:solidFill>
                <a:latin typeface="Arial"/>
                <a:ea typeface="Arial"/>
                <a:cs typeface="Arial"/>
              </a:rPr>
              <a:t>OIDC / SSO</a:t>
            </a:r>
          </a:p>
        </p:txBody>
      </p:sp>
      <p:cxnSp>
        <p:nvCxnSpPr>
          <p:cNvPr id="21" name="graph-call-1">
            <a:extLst xmlns:a="http://schemas.openxmlformats.org/drawingml/2006/main">
              <a:ext uri="{FF2B5EF4-FFF2-40B4-BE49-F238E27FC236}">
                <a16:creationId xmlns:a16="http://schemas.microsoft.com/office/drawing/2014/main" id="{9DE5CE6A-AB37-4863-AC0D-5393B6C4E98A}"/>
              </a:ext>
            </a:extLst>
          </p:cNvPr>
          <p:cNvCxnSpPr/>
          <p:nvPr/>
        </p:nvCxnSpPr>
        <p:spPr>
          <a:xfrm xmlns:a="http://schemas.openxmlformats.org/drawingml/2006/main" flipH="0" flipV="0">
            <a:off x="10067925" y="4286250"/>
            <a:ext cx="933450" cy="0"/>
          </a:xfrm>
          <a:prstGeom xmlns:a="http://schemas.openxmlformats.org/drawingml/2006/main" prst="straightConnector1">
            <a:avLst/>
          </a:prstGeom>
          <a:ln xmlns:a="http://schemas.openxmlformats.org/drawingml/2006/main" w="23813">
            <a:solidFill>
              <a:srgbClr val="0891B2"/>
            </a:solidFill>
            <a:prstDash val="solid"/>
          </a:ln>
        </p:spPr>
      </p:cxnSp>
      <p:cxnSp>
        <p:nvCxnSpPr>
          <p:cNvPr id="22" name="graph-call-2">
            <a:extLst xmlns:a="http://schemas.openxmlformats.org/drawingml/2006/main">
              <a:ext uri="{FF2B5EF4-FFF2-40B4-BE49-F238E27FC236}">
                <a16:creationId xmlns:a16="http://schemas.microsoft.com/office/drawing/2014/main" id="{D74B1FCA-2E31-42C1-AA40-2B5FD0E3CF2B}"/>
              </a:ext>
            </a:extLst>
          </p:cNvPr>
          <p:cNvCxnSpPr/>
          <p:nvPr/>
        </p:nvCxnSpPr>
        <p:spPr>
          <a:xfrm xmlns:a="http://schemas.openxmlformats.org/drawingml/2006/main" flipH="0" flipV="1">
            <a:off x="11001375" y="2581275"/>
            <a:ext cx="0" cy="1704975"/>
          </a:xfrm>
          <a:prstGeom xmlns:a="http://schemas.openxmlformats.org/drawingml/2006/main" prst="straightConnector1">
            <a:avLst/>
          </a:prstGeom>
          <a:ln xmlns:a="http://schemas.openxmlformats.org/drawingml/2006/main" w="23813">
            <a:solidFill>
              <a:srgbClr val="0891B2"/>
            </a:solidFill>
            <a:prstDash val="solid"/>
          </a:ln>
        </p:spPr>
      </p:cxnSp>
      <p:cxnSp>
        <p:nvCxnSpPr>
          <p:cNvPr id="23" name="graph-call-3">
            <a:extLst xmlns:a="http://schemas.openxmlformats.org/drawingml/2006/main">
              <a:ext uri="{FF2B5EF4-FFF2-40B4-BE49-F238E27FC236}">
                <a16:creationId xmlns:a16="http://schemas.microsoft.com/office/drawing/2014/main" id="{A124C442-871E-4A66-A97B-F88745B8ADBF}"/>
              </a:ext>
            </a:extLst>
          </p:cNvPr>
          <p:cNvCxnSpPr/>
          <p:nvPr/>
        </p:nvCxnSpPr>
        <p:spPr>
          <a:xfrm xmlns:a="http://schemas.openxmlformats.org/drawingml/2006/main" flipH="0" flipV="0">
            <a:off x="11001375" y="2581275"/>
            <a:ext cx="714375" cy="0"/>
          </a:xfrm>
          <a:prstGeom xmlns:a="http://schemas.openxmlformats.org/drawingml/2006/main" prst="straightConnector1">
            <a:avLst/>
          </a:prstGeom>
          <a:ln xmlns:a="http://schemas.openxmlformats.org/drawingml/2006/main" w="23813">
            <a:solidFill>
              <a:srgbClr val="0891B2"/>
            </a:solidFill>
            <a:prstDash val="solid"/>
            <a:tailEnd type="arrow" w="med" len="med"/>
          </a:ln>
        </p:spPr>
      </p:cxnSp>
      <p:cxnSp>
        <p:nvCxnSpPr>
          <p:cNvPr id="24" name="model-call-1">
            <a:extLst xmlns:a="http://schemas.openxmlformats.org/drawingml/2006/main">
              <a:ext uri="{FF2B5EF4-FFF2-40B4-BE49-F238E27FC236}">
                <a16:creationId xmlns:a16="http://schemas.microsoft.com/office/drawing/2014/main" id="{9FEF6C16-BB56-417B-80B5-D7164BD93416}"/>
              </a:ext>
            </a:extLst>
          </p:cNvPr>
          <p:cNvCxnSpPr/>
          <p:nvPr/>
        </p:nvCxnSpPr>
        <p:spPr>
          <a:xfrm xmlns:a="http://schemas.openxmlformats.org/drawingml/2006/main" flipH="0" flipV="0">
            <a:off x="10067925" y="5086350"/>
            <a:ext cx="600075" cy="0"/>
          </a:xfrm>
          <a:prstGeom xmlns:a="http://schemas.openxmlformats.org/drawingml/2006/main" prst="straightConnector1">
            <a:avLst/>
          </a:prstGeom>
          <a:ln xmlns:a="http://schemas.openxmlformats.org/drawingml/2006/main" w="23813">
            <a:solidFill>
              <a:srgbClr val="EA580C"/>
            </a:solidFill>
            <a:prstDash val="solid"/>
          </a:ln>
        </p:spPr>
      </p:cxnSp>
      <p:cxnSp>
        <p:nvCxnSpPr>
          <p:cNvPr id="25" name="model-call-2">
            <a:extLst xmlns:a="http://schemas.openxmlformats.org/drawingml/2006/main">
              <a:ext uri="{FF2B5EF4-FFF2-40B4-BE49-F238E27FC236}">
                <a16:creationId xmlns:a16="http://schemas.microsoft.com/office/drawing/2014/main" id="{2A5CB260-E35E-48B1-A471-EDF4682F43CA}"/>
              </a:ext>
            </a:extLst>
          </p:cNvPr>
          <p:cNvCxnSpPr/>
          <p:nvPr/>
        </p:nvCxnSpPr>
        <p:spPr>
          <a:xfrm xmlns:a="http://schemas.openxmlformats.org/drawingml/2006/main" flipH="0" flipV="1">
            <a:off x="10668000" y="4562475"/>
            <a:ext cx="0" cy="523875"/>
          </a:xfrm>
          <a:prstGeom xmlns:a="http://schemas.openxmlformats.org/drawingml/2006/main" prst="straightConnector1">
            <a:avLst/>
          </a:prstGeom>
          <a:ln xmlns:a="http://schemas.openxmlformats.org/drawingml/2006/main" w="23813">
            <a:solidFill>
              <a:srgbClr val="EA580C"/>
            </a:solidFill>
            <a:prstDash val="solid"/>
          </a:ln>
        </p:spPr>
      </p:cxnSp>
      <p:cxnSp>
        <p:nvCxnSpPr>
          <p:cNvPr id="26" name="model-call-3">
            <a:extLst xmlns:a="http://schemas.openxmlformats.org/drawingml/2006/main">
              <a:ext uri="{FF2B5EF4-FFF2-40B4-BE49-F238E27FC236}">
                <a16:creationId xmlns:a16="http://schemas.microsoft.com/office/drawing/2014/main" id="{56D2208E-D6B6-49C4-B449-7352D659D568}"/>
              </a:ext>
            </a:extLst>
          </p:cNvPr>
          <p:cNvCxnSpPr/>
          <p:nvPr/>
        </p:nvCxnSpPr>
        <p:spPr>
          <a:xfrm xmlns:a="http://schemas.openxmlformats.org/drawingml/2006/main" flipH="0" flipV="0">
            <a:off x="10668000" y="4562475"/>
            <a:ext cx="1047750" cy="0"/>
          </a:xfrm>
          <a:prstGeom xmlns:a="http://schemas.openxmlformats.org/drawingml/2006/main" prst="straightConnector1">
            <a:avLst/>
          </a:prstGeom>
          <a:ln xmlns:a="http://schemas.openxmlformats.org/drawingml/2006/main" w="23813">
            <a:solidFill>
              <a:srgbClr val="EA580C"/>
            </a:solidFill>
            <a:prstDash val="solid"/>
            <a:tailEnd type="arrow" w="med" len="med"/>
          </a:ln>
        </p:spPr>
      </p:cxnSp>
      <p:cxnSp>
        <p:nvCxnSpPr>
          <p:cNvPr id="27" name="artifact-call-1">
            <a:extLst xmlns:a="http://schemas.openxmlformats.org/drawingml/2006/main">
              <a:ext uri="{FF2B5EF4-FFF2-40B4-BE49-F238E27FC236}">
                <a16:creationId xmlns:a16="http://schemas.microsoft.com/office/drawing/2014/main" id="{887DA42D-FF9A-46F5-BB1B-D441D8791F06}"/>
              </a:ext>
            </a:extLst>
          </p:cNvPr>
          <p:cNvCxnSpPr/>
          <p:nvPr/>
        </p:nvCxnSpPr>
        <p:spPr>
          <a:xfrm xmlns:a="http://schemas.openxmlformats.org/drawingml/2006/main" flipH="0" flipV="0">
            <a:off x="10067925" y="5905500"/>
            <a:ext cx="1219200" cy="0"/>
          </a:xfrm>
          <a:prstGeom xmlns:a="http://schemas.openxmlformats.org/drawingml/2006/main" prst="straightConnector1">
            <a:avLst/>
          </a:prstGeom>
          <a:ln xmlns:a="http://schemas.openxmlformats.org/drawingml/2006/main" w="23813">
            <a:solidFill>
              <a:srgbClr val="64748B"/>
            </a:solidFill>
            <a:prstDash val="solid"/>
          </a:ln>
        </p:spPr>
      </p:cxnSp>
      <p:cxnSp>
        <p:nvCxnSpPr>
          <p:cNvPr id="28" name="artifact-call-2">
            <a:extLst xmlns:a="http://schemas.openxmlformats.org/drawingml/2006/main">
              <a:ext uri="{FF2B5EF4-FFF2-40B4-BE49-F238E27FC236}">
                <a16:creationId xmlns:a16="http://schemas.microsoft.com/office/drawing/2014/main" id="{82E382FE-19FA-4BC7-BA20-B99675614945}"/>
              </a:ext>
            </a:extLst>
          </p:cNvPr>
          <p:cNvCxnSpPr/>
          <p:nvPr/>
        </p:nvCxnSpPr>
        <p:spPr>
          <a:xfrm xmlns:a="http://schemas.openxmlformats.org/drawingml/2006/main" flipH="0" flipV="0">
            <a:off x="11287125" y="5905500"/>
            <a:ext cx="0" cy="95250"/>
          </a:xfrm>
          <a:prstGeom xmlns:a="http://schemas.openxmlformats.org/drawingml/2006/main" prst="straightConnector1">
            <a:avLst/>
          </a:prstGeom>
          <a:ln xmlns:a="http://schemas.openxmlformats.org/drawingml/2006/main" w="23813">
            <a:solidFill>
              <a:srgbClr val="64748B"/>
            </a:solidFill>
            <a:prstDash val="solid"/>
          </a:ln>
        </p:spPr>
      </p:cxnSp>
      <p:cxnSp>
        <p:nvCxnSpPr>
          <p:cNvPr id="29" name="artifact-call-3">
            <a:extLst xmlns:a="http://schemas.openxmlformats.org/drawingml/2006/main">
              <a:ext uri="{FF2B5EF4-FFF2-40B4-BE49-F238E27FC236}">
                <a16:creationId xmlns:a16="http://schemas.microsoft.com/office/drawing/2014/main" id="{328FDBF3-43FD-45EF-8103-05FFA61424CA}"/>
              </a:ext>
            </a:extLst>
          </p:cNvPr>
          <p:cNvCxnSpPr/>
          <p:nvPr/>
        </p:nvCxnSpPr>
        <p:spPr>
          <a:xfrm xmlns:a="http://schemas.openxmlformats.org/drawingml/2006/main" flipH="0" flipV="0">
            <a:off x="11287125" y="6000750"/>
            <a:ext cx="428625" cy="0"/>
          </a:xfrm>
          <a:prstGeom xmlns:a="http://schemas.openxmlformats.org/drawingml/2006/main" prst="straightConnector1">
            <a:avLst/>
          </a:prstGeom>
          <a:ln xmlns:a="http://schemas.openxmlformats.org/drawingml/2006/main" w="23813">
            <a:solidFill>
              <a:srgbClr val="64748B"/>
            </a:solidFill>
            <a:prstDash val="solid"/>
            <a:tailEnd type="arrow" w="med" len="med"/>
          </a:ln>
        </p:spPr>
      </p:cxnSp>
      <p:sp>
        <p:nvSpPr>
          <p:cNvPr id="31" name="jdbc">
            <a:extLst xmlns:a="http://schemas.openxmlformats.org/drawingml/2006/main">
              <a:ext uri="{FF2B5EF4-FFF2-40B4-BE49-F238E27FC236}">
                <a16:creationId xmlns:a16="http://schemas.microsoft.com/office/drawing/2014/main" id="{B39F1001-4C16-48E1-942F-B753CF1BA7E7}"/>
              </a:ext>
            </a:extLst>
          </p:cNvPr>
          <p:cNvSpPr>
            <a:spLocks xmlns:a="http://schemas.openxmlformats.org/drawingml/2006/main" noGrp="1"/>
          </p:cNvSpPr>
          <p:nvPr/>
        </p:nvSpPr>
        <p:spPr>
          <a:xfrm xmlns:a="http://schemas.openxmlformats.org/drawingml/2006/main">
            <a:off x="8286750" y="649605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4748B"/>
                </a:solidFill>
                <a:latin typeface="Arial"/>
                <a:ea typeface="Arial"/>
                <a:cs typeface="Arial"/>
              </a:defRPr>
            </a:defPPr>
          </a:lstStyle>
          <a:p xmlns:a="http://schemas.openxmlformats.org/drawingml/2006/main">
            <a:pPr algn="l">
              <a:defRPr sz="1650" b="0">
                <a:solidFill>
                  <a:srgbClr val="64748B"/>
                </a:solidFill>
                <a:latin typeface="Arial"/>
                <a:ea typeface="Arial"/>
                <a:cs typeface="Arial"/>
              </a:defRPr>
            </a:pPr>
            <a:r>
              <a:rPr sz="1650" b="0">
                <a:solidFill>
                  <a:srgbClr val="64748B"/>
                </a:solidFill>
                <a:latin typeface="Arial"/>
                <a:ea typeface="Arial"/>
                <a:cs typeface="Arial"/>
              </a:rPr>
              <a:t>Transactions / JDBC</a:t>
            </a:r>
          </a:p>
        </p:txBody>
      </p:sp>
      <p:cxnSp>
        <p:nvCxnSpPr>
          <p:cNvPr id="32" name="telemetry-1">
            <a:extLst xmlns:a="http://schemas.openxmlformats.org/drawingml/2006/main">
              <a:ext uri="{FF2B5EF4-FFF2-40B4-BE49-F238E27FC236}">
                <a16:creationId xmlns:a16="http://schemas.microsoft.com/office/drawing/2014/main" id="{66B39B2D-6B4F-40FD-88B3-9668CA157838}"/>
              </a:ext>
            </a:extLst>
          </p:cNvPr>
          <p:cNvCxnSpPr/>
          <p:nvPr/>
        </p:nvCxnSpPr>
        <p:spPr>
          <a:xfrm xmlns:a="http://schemas.openxmlformats.org/drawingml/2006/main" flipH="1" flipV="0">
            <a:off x="4286250" y="6000750"/>
            <a:ext cx="1209675" cy="0"/>
          </a:xfrm>
          <a:prstGeom xmlns:a="http://schemas.openxmlformats.org/drawingml/2006/main" prst="straightConnector1">
            <a:avLst/>
          </a:prstGeom>
          <a:ln xmlns:a="http://schemas.openxmlformats.org/drawingml/2006/main" w="23813">
            <a:solidFill>
              <a:srgbClr val="A07806"/>
            </a:solidFill>
            <a:prstDash val="dash"/>
          </a:ln>
        </p:spPr>
      </p:cxnSp>
      <p:cxnSp>
        <p:nvCxnSpPr>
          <p:cNvPr id="33" name="telemetry-2">
            <a:extLst xmlns:a="http://schemas.openxmlformats.org/drawingml/2006/main">
              <a:ext uri="{FF2B5EF4-FFF2-40B4-BE49-F238E27FC236}">
                <a16:creationId xmlns:a16="http://schemas.microsoft.com/office/drawing/2014/main" id="{236A25EA-18AE-4553-B8B8-8ED926D978AF}"/>
              </a:ext>
            </a:extLst>
          </p:cNvPr>
          <p:cNvCxnSpPr/>
          <p:nvPr/>
        </p:nvCxnSpPr>
        <p:spPr>
          <a:xfrm xmlns:a="http://schemas.openxmlformats.org/drawingml/2006/main" flipH="0" flipV="0">
            <a:off x="4286250" y="6000750"/>
            <a:ext cx="0" cy="1476375"/>
          </a:xfrm>
          <a:prstGeom xmlns:a="http://schemas.openxmlformats.org/drawingml/2006/main" prst="straightConnector1">
            <a:avLst/>
          </a:prstGeom>
          <a:ln xmlns:a="http://schemas.openxmlformats.org/drawingml/2006/main" w="23813">
            <a:solidFill>
              <a:srgbClr val="A07806"/>
            </a:solidFill>
            <a:prstDash val="dash"/>
          </a:ln>
        </p:spPr>
      </p:cxnSp>
      <p:cxnSp>
        <p:nvCxnSpPr>
          <p:cNvPr id="34" name="telemetry-3">
            <a:extLst xmlns:a="http://schemas.openxmlformats.org/drawingml/2006/main">
              <a:ext uri="{FF2B5EF4-FFF2-40B4-BE49-F238E27FC236}">
                <a16:creationId xmlns:a16="http://schemas.microsoft.com/office/drawing/2014/main" id="{537B5810-A0B9-4BF7-A89F-C0E74C465E96}"/>
              </a:ext>
            </a:extLst>
          </p:cNvPr>
          <p:cNvCxnSpPr/>
          <p:nvPr/>
        </p:nvCxnSpPr>
        <p:spPr>
          <a:xfrm xmlns:a="http://schemas.openxmlformats.org/drawingml/2006/main" flipH="1" flipV="0">
            <a:off x="3467100" y="7477125"/>
            <a:ext cx="819150" cy="0"/>
          </a:xfrm>
          <a:prstGeom xmlns:a="http://schemas.openxmlformats.org/drawingml/2006/main" prst="straightConnector1">
            <a:avLst/>
          </a:prstGeom>
          <a:ln xmlns:a="http://schemas.openxmlformats.org/drawingml/2006/main" w="23813">
            <a:solidFill>
              <a:srgbClr val="A07806"/>
            </a:solidFill>
            <a:prstDash val="dash"/>
            <a:tailEnd type="arrow" w="med" len="med"/>
          </a:ln>
        </p:spPr>
      </p:cxnSp>
      <p:sp>
        <p:nvSpPr>
          <p:cNvPr id="35" name="health">
            <a:extLst xmlns:a="http://schemas.openxmlformats.org/drawingml/2006/main">
              <a:ext uri="{FF2B5EF4-FFF2-40B4-BE49-F238E27FC236}">
                <a16:creationId xmlns:a16="http://schemas.microsoft.com/office/drawing/2014/main" id="{428C1A19-A5B9-496B-9436-AFD734E43612}"/>
              </a:ext>
            </a:extLst>
          </p:cNvPr>
          <p:cNvSpPr>
            <a:spLocks xmlns:a="http://schemas.openxmlformats.org/drawingml/2006/main" noGrp="1"/>
          </p:cNvSpPr>
          <p:nvPr/>
        </p:nvSpPr>
        <p:spPr>
          <a:xfrm xmlns:a="http://schemas.openxmlformats.org/drawingml/2006/main">
            <a:off x="609600" y="8143875"/>
            <a:ext cx="1257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6677A"/>
                </a:solidFill>
                <a:latin typeface="Arial"/>
                <a:ea typeface="Arial"/>
                <a:cs typeface="Arial"/>
              </a:defRPr>
            </a:defPPr>
          </a:lstStyle>
          <a:p xmlns:a="http://schemas.openxmlformats.org/drawingml/2006/main">
            <a:pPr algn="l">
              <a:defRPr sz="1575" b="0">
                <a:solidFill>
                  <a:srgbClr val="56677A"/>
                </a:solidFill>
                <a:latin typeface="Arial"/>
                <a:ea typeface="Arial"/>
                <a:cs typeface="Arial"/>
              </a:defRPr>
            </a:pPr>
            <a:r>
              <a:rPr sz="1575" b="0">
                <a:solidFill>
                  <a:srgbClr val="56677A"/>
                </a:solidFill>
                <a:latin typeface="Arial"/>
                <a:ea typeface="Arial"/>
                <a:cs typeface="Arial"/>
              </a:rPr>
              <a:t>Managed runtime: health probes, ready-only routing, replica replacement and graceful rollout</a:t>
            </a:r>
          </a:p>
        </p:txBody>
      </p:sp>
    </p:spTree>
    <p:extLst>
      <p:ext uri="{BB962C8B-B14F-4D97-AF65-F5344CB8AC3E}">
        <p14:creationId xmlns:p14="http://schemas.microsoft.com/office/powerpoint/2010/main" val="189713388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9DBB4CA5-28D5-4E1C-A310-912D36771FC0}"/>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Delivery Milestones and Estimated Labor Cost</a:t>
            </a:r>
          </a:p>
        </p:txBody>
      </p:sp>
      <p:sp>
        <p:nvSpPr>
          <p:cNvPr id="2" name="page">
            <a:extLst xmlns:a="http://schemas.openxmlformats.org/drawingml/2006/main">
              <a:ext uri="{FF2B5EF4-FFF2-40B4-BE49-F238E27FC236}">
                <a16:creationId xmlns:a16="http://schemas.microsoft.com/office/drawing/2014/main" id="{A98B12B2-CEBC-48E6-A190-8A09B3409C77}"/>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5 / 5</a:t>
            </a:r>
          </a:p>
        </p:txBody>
      </p:sp>
      <p:sp>
        <p:nvSpPr>
          <p:cNvPr id="3" name="window">
            <a:extLst xmlns:a="http://schemas.openxmlformats.org/drawingml/2006/main">
              <a:ext uri="{FF2B5EF4-FFF2-40B4-BE49-F238E27FC236}">
                <a16:creationId xmlns:a16="http://schemas.microsoft.com/office/drawing/2014/main" id="{DC80B469-1035-4577-802C-BDF8B546CAFF}"/>
              </a:ext>
            </a:extLst>
          </p:cNvPr>
          <p:cNvSpPr>
            <a:spLocks xmlns:a="http://schemas.openxmlformats.org/drawingml/2006/main" noGrp="1"/>
          </p:cNvSpPr>
          <p:nvPr/>
        </p:nvSpPr>
        <p:spPr>
          <a:xfrm xmlns:a="http://schemas.openxmlformats.org/drawingml/2006/main">
            <a:off x="609600" y="1238250"/>
            <a:ext cx="1371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Delivery window: 2 Nov 2026 to 5 Mar 2027</a:t>
            </a:r>
          </a:p>
        </p:txBody>
      </p:sp>
      <p:graphicFrame>
        <p:nvGraphicFramePr>
          <p:cNvPr id="4" name="">
            <a:extLst xmlns:a="http://schemas.openxmlformats.org/drawingml/2006/main">
              <a:ext uri="{FF2B5EF4-FFF2-40B4-BE49-F238E27FC236}">
                <a16:creationId xmlns:a16="http://schemas.microsoft.com/office/drawing/2014/main" id="{C320D8B1-7716-47AF-AEAB-C9E4A6C00FBC}"/>
              </a:ext>
            </a:extLst>
          </p:cNvPr>
          <p:cNvGraphicFramePr/>
          <p:nvPr/>
        </p:nvGraphicFramePr>
        <p:xfrm>
          <a:off xmlns:a="http://schemas.openxmlformats.org/drawingml/2006/main" x="609600" y="1981200"/>
          <a:ext xmlns:a="http://schemas.openxmlformats.org/drawingml/2006/main" cx="8286750" cy="5448300"/>
        </p:xfrm>
        <a:graphic xmlns:a="http://schemas.openxmlformats.org/drawingml/2006/main">
          <a:graphicData uri="http://schemas.openxmlformats.org/drawingml/2006/table">
            <a:tbl>
              <a:tblPr firstRow="1" bandRow="0"/>
              <a:tblGrid>
                <a:gridCol w="5524500"/>
                <a:gridCol w="2762250"/>
              </a:tblGrid>
              <a:tr h="419100">
                <a:tc>
                  <a:txBody>
                    <a:bodyPr/>
                    <a:lstStyle/>
                    <a:p>
                      <a:r>
                        <a:rPr sz="1725" b="1">
                          <a:solidFill>
                            <a:srgbClr val="FFFFFF"/>
                          </a:solidFill>
                          <a:latin typeface="Arial"/>
                          <a:ea typeface="Arial"/>
                          <a:cs typeface="Arial"/>
                        </a:rPr>
                        <a:t>Milestone</a:t>
                      </a:r>
                    </a:p>
                  </a:txBody>
                  <a:tcPr marL="114300" marR="114300" marT="28575" marB="28575" anchor="ctr">
                    <a:lnL w="6668">
                      <a:solidFill>
                        <a:srgbClr val="DFE5EC"/>
                      </a:solidFill>
                      <a:prstDash val="solid"/>
                    </a:lnL>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Planned date</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r>
              <a:tr h="419100">
                <a:tc>
                  <a:txBody>
                    <a:bodyPr/>
                    <a:lstStyle/>
                    <a:p>
                      <a:r>
                        <a:rPr sz="1725">
                          <a:solidFill>
                            <a:srgbClr val="132B45"/>
                          </a:solidFill>
                          <a:latin typeface="Arial"/>
                          <a:ea typeface="Arial"/>
                          <a:cs typeface="Arial"/>
                        </a:rPr>
                        <a:t>Project kickoff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02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FSD and UX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13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CI/CD and test environment ready</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20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Java features and integration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04 Dec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SIT start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07 Dec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SIT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29 Jan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UAT environment and smoke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02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AM UAT start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15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UAT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24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Release Go / No-Go</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25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Production rollout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26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Hypercare and handover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05 Mar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bl>
          </a:graphicData>
        </a:graphic>
      </p:graphicFrame>
      <p:sp>
        <p:nvSpPr>
          <p:cNvPr id="5" name="total-cost">
            <a:extLst xmlns:a="http://schemas.openxmlformats.org/drawingml/2006/main">
              <a:ext uri="{FF2B5EF4-FFF2-40B4-BE49-F238E27FC236}">
                <a16:creationId xmlns:a16="http://schemas.microsoft.com/office/drawing/2014/main" id="{966AE20E-5E43-4530-A3D9-96C9F2854E0E}"/>
              </a:ext>
            </a:extLst>
          </p:cNvPr>
          <p:cNvSpPr>
            <a:spLocks xmlns:a="http://schemas.openxmlformats.org/drawingml/2006/main" noGrp="1"/>
          </p:cNvSpPr>
          <p:nvPr/>
        </p:nvSpPr>
        <p:spPr>
          <a:xfrm xmlns:a="http://schemas.openxmlformats.org/drawingml/2006/main">
            <a:off x="9620250" y="1990725"/>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2563EB"/>
                </a:solidFill>
                <a:latin typeface="Arial"/>
                <a:ea typeface="Arial"/>
                <a:cs typeface="Arial"/>
              </a:defRPr>
            </a:defPPr>
          </a:lstStyle>
          <a:p xmlns:a="http://schemas.openxmlformats.org/drawingml/2006/main">
            <a:pPr algn="l">
              <a:defRPr sz="4350" b="1">
                <a:solidFill>
                  <a:srgbClr val="2563EB"/>
                </a:solidFill>
                <a:latin typeface="Arial"/>
                <a:ea typeface="Arial"/>
                <a:cs typeface="Arial"/>
              </a:defRPr>
            </a:pPr>
            <a:r>
              <a:rPr sz="4350" b="1">
                <a:solidFill>
                  <a:srgbClr val="2563EB"/>
                </a:solidFill>
                <a:latin typeface="Arial"/>
                <a:ea typeface="Arial"/>
                <a:cs typeface="Arial"/>
              </a:rPr>
              <a:t>$136,584</a:t>
            </a:r>
          </a:p>
        </p:txBody>
      </p:sp>
      <p:sp>
        <p:nvSpPr>
          <p:cNvPr id="6" name="basis">
            <a:extLst xmlns:a="http://schemas.openxmlformats.org/drawingml/2006/main">
              <a:ext uri="{FF2B5EF4-FFF2-40B4-BE49-F238E27FC236}">
                <a16:creationId xmlns:a16="http://schemas.microsoft.com/office/drawing/2014/main" id="{E688315C-FF51-4771-AD4A-F3A4EFDE0964}"/>
              </a:ext>
            </a:extLst>
          </p:cNvPr>
          <p:cNvSpPr>
            <a:spLocks xmlns:a="http://schemas.openxmlformats.org/drawingml/2006/main" noGrp="1"/>
          </p:cNvSpPr>
          <p:nvPr/>
        </p:nvSpPr>
        <p:spPr>
          <a:xfrm xmlns:a="http://schemas.openxmlformats.org/drawingml/2006/main">
            <a:off x="9620250" y="281940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379.4 scheduled person-days at USD 360/day</a:t>
            </a:r>
          </a:p>
        </p:txBody>
      </p:sp>
      <p:graphicFrame>
        <p:nvGraphicFramePr>
          <p:cNvPr id="7" name="">
            <a:extLst xmlns:a="http://schemas.openxmlformats.org/drawingml/2006/main">
              <a:ext uri="{FF2B5EF4-FFF2-40B4-BE49-F238E27FC236}">
                <a16:creationId xmlns:a16="http://schemas.microsoft.com/office/drawing/2014/main" id="{CA0A4BBB-42DA-482B-987B-10A320EB071D}"/>
              </a:ext>
            </a:extLst>
          </p:cNvPr>
          <p:cNvGraphicFramePr/>
          <p:nvPr/>
        </p:nvGraphicFramePr>
        <p:xfrm>
          <a:off xmlns:a="http://schemas.openxmlformats.org/drawingml/2006/main" x="9620250" y="3686175"/>
          <a:ext xmlns:a="http://schemas.openxmlformats.org/drawingml/2006/main" cx="5000625" cy="3600450"/>
        </p:xfrm>
        <a:graphic xmlns:a="http://schemas.openxmlformats.org/drawingml/2006/main">
          <a:graphicData uri="http://schemas.openxmlformats.org/drawingml/2006/table">
            <a:tbl>
              <a:tblPr firstRow="1" bandRow="0"/>
              <a:tblGrid>
                <a:gridCol w="2047875"/>
                <a:gridCol w="1000125"/>
                <a:gridCol w="1952625"/>
              </a:tblGrid>
              <a:tr h="400050">
                <a:tc>
                  <a:txBody>
                    <a:bodyPr/>
                    <a:lstStyle/>
                    <a:p>
                      <a:r>
                        <a:rPr sz="1725" b="1">
                          <a:solidFill>
                            <a:srgbClr val="FFFFFF"/>
                          </a:solidFill>
                          <a:latin typeface="Arial"/>
                          <a:ea typeface="Arial"/>
                          <a:cs typeface="Arial"/>
                        </a:rPr>
                        <a:t>Resource</a:t>
                      </a:r>
                    </a:p>
                  </a:txBody>
                  <a:tcPr marL="114300" marR="114300" marT="28575" marB="28575" anchor="ctr">
                    <a:lnL w="6668">
                      <a:solidFill>
                        <a:srgbClr val="DFE5EC"/>
                      </a:solidFill>
                      <a:prstDash val="solid"/>
                    </a:lnL>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Days</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Cost (USD)</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r>
              <a:tr h="400050">
                <a:tc>
                  <a:txBody>
                    <a:bodyPr/>
                    <a:lstStyle/>
                    <a:p>
                      <a:r>
                        <a:rPr sz="1725">
                          <a:solidFill>
                            <a:srgbClr val="132B45"/>
                          </a:solidFill>
                          <a:latin typeface="Arial"/>
                          <a:ea typeface="Arial"/>
                          <a:cs typeface="Arial"/>
                        </a:rPr>
                        <a:t>Dev 1</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54.5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$19,620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Dev 2</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55.5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$19,980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DS</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61.4</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$22,104</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Tester 1</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58.5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$21,060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Tester 2</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58.5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$21,060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BA</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49.0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$17,640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UI/UX</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42.0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$15,120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b="1">
                          <a:solidFill>
                            <a:srgbClr val="132B45"/>
                          </a:solidFill>
                          <a:latin typeface="Arial"/>
                          <a:ea typeface="Arial"/>
                          <a:cs typeface="Arial"/>
                        </a:rPr>
                        <a:t>TOTAL</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DBEAFE"/>
                    </a:solidFill>
                  </a:tcPr>
                </a:tc>
                <a:tc>
                  <a:txBody>
                    <a:bodyPr/>
                    <a:lstStyle/>
                    <a:p>
                      <a:r>
                        <a:rPr sz="1725" b="1">
                          <a:solidFill>
                            <a:srgbClr val="132B45"/>
                          </a:solidFill>
                          <a:latin typeface="Arial"/>
                          <a:ea typeface="Arial"/>
                          <a:cs typeface="Arial"/>
                        </a:rPr>
                        <a:t>379.4</a:t>
                      </a:r>
                    </a:p>
                  </a:txBody>
                  <a:tcPr marL="114300" marR="114300" marT="28575" marB="28575" anchor="ctr">
                    <a:lnR w="6668">
                      <a:solidFill>
                        <a:srgbClr val="DFE5EC"/>
                      </a:solidFill>
                      <a:prstDash val="solid"/>
                    </a:lnR>
                    <a:lnB w="6668">
                      <a:solidFill>
                        <a:srgbClr val="DFE5EC"/>
                      </a:solidFill>
                      <a:prstDash val="solid"/>
                    </a:lnB>
                    <a:solidFill>
                      <a:srgbClr val="DBEAFE"/>
                    </a:solidFill>
                  </a:tcPr>
                </a:tc>
                <a:tc>
                  <a:txBody>
                    <a:bodyPr/>
                    <a:lstStyle/>
                    <a:p>
                      <a:r>
                        <a:rPr sz="1725" b="1">
                          <a:solidFill>
                            <a:srgbClr val="132B45"/>
                          </a:solidFill>
                          <a:latin typeface="Arial"/>
                          <a:ea typeface="Arial"/>
                          <a:cs typeface="Arial"/>
                        </a:rPr>
                        <a:t>$136,584</a:t>
                      </a:r>
                    </a:p>
                  </a:txBody>
                  <a:tcPr marL="114300" marR="114300" marT="28575" marB="28575" anchor="ctr">
                    <a:lnR w="6668">
                      <a:solidFill>
                        <a:srgbClr val="DFE5EC"/>
                      </a:solidFill>
                      <a:prstDash val="solid"/>
                    </a:lnR>
                    <a:lnB w="6668">
                      <a:solidFill>
                        <a:srgbClr val="DFE5EC"/>
                      </a:solidFill>
                      <a:prstDash val="solid"/>
                    </a:lnB>
                    <a:solidFill>
                      <a:srgbClr val="DBEAFE"/>
                    </a:solidFill>
                  </a:tcPr>
                </a:tc>
              </a:tr>
            </a:tbl>
          </a:graphicData>
        </a:graphic>
      </p:graphicFrame>
      <p:sp>
        <p:nvSpPr>
          <p:cNvPr id="8" name="leave">
            <a:extLst xmlns:a="http://schemas.openxmlformats.org/drawingml/2006/main">
              <a:ext uri="{FF2B5EF4-FFF2-40B4-BE49-F238E27FC236}">
                <a16:creationId xmlns:a16="http://schemas.microsoft.com/office/drawing/2014/main" id="{FE66F8C2-59E7-4C98-8EB8-3DDED8FD8BF5}"/>
              </a:ext>
            </a:extLst>
          </p:cNvPr>
          <p:cNvSpPr>
            <a:spLocks xmlns:a="http://schemas.openxmlformats.org/drawingml/2006/main" noGrp="1"/>
          </p:cNvSpPr>
          <p:nvPr/>
        </p:nvSpPr>
        <p:spPr>
          <a:xfrm xmlns:a="http://schemas.openxmlformats.org/drawingml/2006/main">
            <a:off x="609600" y="7629525"/>
            <a:ext cx="1400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32B45"/>
                </a:solidFill>
                <a:latin typeface="Arial"/>
                <a:ea typeface="Arial"/>
                <a:cs typeface="Arial"/>
              </a:defRPr>
            </a:defPPr>
          </a:lstStyle>
          <a:p xmlns:a="http://schemas.openxmlformats.org/drawingml/2006/main">
            <a:pPr algn="l">
              <a:defRPr sz="1650" b="0">
                <a:solidFill>
                  <a:srgbClr val="132B45"/>
                </a:solidFill>
                <a:latin typeface="Arial"/>
                <a:ea typeface="Arial"/>
                <a:cs typeface="Arial"/>
              </a:defRPr>
            </a:pPr>
            <a:r>
              <a:rPr sz="1650" b="0">
                <a:solidFill>
                  <a:srgbClr val="132B45"/>
                </a:solidFill>
                <a:latin typeface="Arial"/>
                <a:ea typeface="Arial"/>
                <a:cs typeface="Arial"/>
              </a:rPr>
              <a:t>Feb 3-12 leave excluded. UAT has 8 workdays. Production depends on Feb 24 signoff and Feb 25 Go decision.</a:t>
            </a:r>
          </a:p>
        </p:txBody>
      </p:sp>
      <p:sp>
        <p:nvSpPr>
          <p:cNvPr id="9" name="cost-exclusion">
            <a:extLst xmlns:a="http://schemas.openxmlformats.org/drawingml/2006/main">
              <a:ext uri="{FF2B5EF4-FFF2-40B4-BE49-F238E27FC236}">
                <a16:creationId xmlns:a16="http://schemas.microsoft.com/office/drawing/2014/main" id="{D1E7F042-CCA8-4103-AEF9-6D2A4AC87EFB}"/>
              </a:ext>
            </a:extLst>
          </p:cNvPr>
          <p:cNvSpPr>
            <a:spLocks xmlns:a="http://schemas.openxmlformats.org/drawingml/2006/main" noGrp="1"/>
          </p:cNvSpPr>
          <p:nvPr/>
        </p:nvSpPr>
        <p:spPr>
          <a:xfrm xmlns:a="http://schemas.openxmlformats.org/drawingml/2006/main">
            <a:off x="609600" y="8010525"/>
            <a:ext cx="1295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6677A"/>
                </a:solidFill>
                <a:latin typeface="Arial"/>
                <a:ea typeface="Arial"/>
                <a:cs typeface="Arial"/>
              </a:defRPr>
            </a:defPPr>
          </a:lstStyle>
          <a:p xmlns:a="http://schemas.openxmlformats.org/drawingml/2006/main">
            <a:pPr algn="l">
              <a:defRPr sz="1575" b="0">
                <a:solidFill>
                  <a:srgbClr val="56677A"/>
                </a:solidFill>
                <a:latin typeface="Arial"/>
                <a:ea typeface="Arial"/>
                <a:cs typeface="Arial"/>
              </a:defRPr>
            </a:pPr>
            <a:r>
              <a:rPr sz="1575" b="0">
                <a:solidFill>
                  <a:srgbClr val="56677A"/>
                </a:solidFill>
                <a:latin typeface="Arial"/>
                <a:ea typeface="Arial"/>
                <a:cs typeface="Arial"/>
              </a:rPr>
              <a:t>Labor estimate excludes Azure, model consumption, external IT/AM time and overhead. Friday rollout requires staffed on-call coverage.</a:t>
            </a:r>
          </a:p>
        </p:txBody>
      </p:sp>
    </p:spTree>
    <p:extLst>
      <p:ext uri="{BB962C8B-B14F-4D97-AF65-F5344CB8AC3E}">
        <p14:creationId xmlns:p14="http://schemas.microsoft.com/office/powerpoint/2010/main" val="6145906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2026-10-21T07:55:37.0040000Z</dcterms:created>
  <dcterms:modified xsi:type="dcterms:W3CDTF">2026-10-21T07:55:37.0040000Z</dcterms:modified>
</coreProperties>
</file>