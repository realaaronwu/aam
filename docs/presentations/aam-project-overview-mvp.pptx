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81ab1732ce4d0b" /><Relationship Type="http://schemas.openxmlformats.org/officeDocument/2006/relationships/extended-properties" Target="/docProps/app.xml" Id="R79cf2014ee0b418c" /><Relationship Type="http://schemas.openxmlformats.org/officeDocument/2006/relationships/officeDocument" Target="/ppt/presentation.xml" Id="Rda141237e5af4ca6" /></Relationships>
</file>

<file path=ppt/presentation.xml><?xml version="1.0" encoding="utf-8"?>
<p:presentation xmlns:p="http://schemas.openxmlformats.org/presentationml/2006/main">
  <p:sldMasterIdLst>
    <p:sldMasterId xmlns:r="http://schemas.openxmlformats.org/officeDocument/2006/relationships" id="2147483648" r:id="R9857ea8aca5c4aa6"/>
  </p:sldMasterIdLst>
  <p:notesMasterIdLst>
    <p:notesMasterId xmlns:r="http://schemas.openxmlformats.org/officeDocument/2006/relationships" r:id="R507de0c321374af1"/>
  </p:notesMasterIdLst>
  <p:sldIdLst>
    <p:sldId xmlns:r="http://schemas.openxmlformats.org/officeDocument/2006/relationships" id="256" r:id="R71f7e099b0884fac"/>
    <p:sldId xmlns:r="http://schemas.openxmlformats.org/officeDocument/2006/relationships" id="257" r:id="R8a4508d8bccf4540"/>
    <p:sldId xmlns:r="http://schemas.openxmlformats.org/officeDocument/2006/relationships" id="258" r:id="Rbdfd9f4fcbfa4ecc"/>
    <p:sldId xmlns:r="http://schemas.openxmlformats.org/officeDocument/2006/relationships" id="259" r:id="Rec95dd2403824d02"/>
    <p:sldId xmlns:r="http://schemas.openxmlformats.org/officeDocument/2006/relationships" id="260" r:id="R47e1fc36585c48b4"/>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660aba17d14c3d" /><Relationship Type="http://schemas.openxmlformats.org/officeDocument/2006/relationships/slideMaster" Target="/ppt/slideMasters/slideMaster1.xml" Id="R9857ea8aca5c4aa6" /><Relationship Type="http://schemas.openxmlformats.org/officeDocument/2006/relationships/notesMaster" Target="/ppt/notesMasters/notesMaster1.xml" Id="R507de0c321374af1" /><Relationship Type="http://schemas.openxmlformats.org/officeDocument/2006/relationships/presProps" Target="/ppt/presProps.xml" Id="R91681230c2d94332" /><Relationship Type="http://schemas.openxmlformats.org/officeDocument/2006/relationships/tableStyles" Target="/ppt/tableStyles.xml" Id="R2fe733c03e964450" /><Relationship Type="http://schemas.openxmlformats.org/officeDocument/2006/relationships/slide" Target="/ppt/slides/slide1.xml" Id="R71f7e099b0884fac" /><Relationship Type="http://schemas.openxmlformats.org/officeDocument/2006/relationships/slide" Target="/ppt/slides/slide2.xml" Id="R8a4508d8bccf4540" /><Relationship Type="http://schemas.openxmlformats.org/officeDocument/2006/relationships/slide" Target="/ppt/slides/slide3.xml" Id="Rbdfd9f4fcbfa4ecc" /><Relationship Type="http://schemas.openxmlformats.org/officeDocument/2006/relationships/slide" Target="/ppt/slides/slide4.xml" Id="Rec95dd2403824d02" /><Relationship Type="http://schemas.openxmlformats.org/officeDocument/2006/relationships/slide" Target="/ppt/slides/slide5.xml" Id="R47e1fc36585c48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770e1d9a1df41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24b76ded9b640c3" /><Relationship Type="http://schemas.openxmlformats.org/officeDocument/2006/relationships/notesMaster" Target="/ppt/notesMasters/notesMaster1.xml" Id="Ra428430ebd7143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62b07776a1944ace" /><Relationship Type="http://schemas.openxmlformats.org/officeDocument/2006/relationships/notesMaster" Target="/ppt/notesMasters/notesMaster1.xml" Id="Rbdb34afba8864a76"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39c88b98e344bd" /><Relationship Type="http://schemas.openxmlformats.org/officeDocument/2006/relationships/notesMaster" Target="/ppt/notesMasters/notesMaster1.xml" Id="R424a3fc407844b6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3f82dd5d6a4d7a" /><Relationship Type="http://schemas.openxmlformats.org/officeDocument/2006/relationships/notesMaster" Target="/ppt/notesMasters/notesMaster1.xml" Id="Rcc100a7e21a044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8cb3e701f2b74bef" /><Relationship Type="http://schemas.openxmlformats.org/officeDocument/2006/relationships/notesMaster" Target="/ppt/notesMasters/notesMaster1.xml" Id="Rf7f5a3d072e74f6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Background and scope: Aaron's project brief and accepted RBAC decision in this conversation. AAM organizes email-derived customer work into reviewed Cases and Open Items. Fixed MVP roles: Local AM, Regional AM, Group Director and AAM Admin, with business-group/region/customer data scopes. Okta owns role-group memberships. Java enforces action permissions AND applicable resource scopes. AAM Admin is an application role, not an Okta admin role, and does not automatically grant all mailbox access. Director can define authorized Playbooks and view scoped overall Case status. Detailed permissions require FSD signoff. No quantified productivity benefit has been assumed.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https://github.com/realAaronWu/aam/blob/4266cc34b7c7639256ebb993810caeea34608a82/docs/architecture/diagrams/aam-java-services-ha-architecture.drawio and https://github.com/realAaronWu/aam/blob/4266cc34b7c7639256ebb993810caeea34608a82/docs/planning/AAM_Delivery_Plan_FSD_SIT_UAT_to_2027-03-05_EN.xlsx . One backend deployment has identical replicas that handle HTTP and async work. Recovery can repeat AI computation while fenced database commits and business idempotency prevent duplicate effects. Graph send outcomes can be uncertain and require reconciliation, not blind retries. These are design controls, not an implemented production qualification.</a:t>
            </a:r>
          </a:p>
          <a:p xmlns:a="http://schemas.openxmlformats.org/drawingml/2006/main">
            <a:r>
              <a:t/>
            </a:r>
          </a:p>
          <a:p xmlns:a="http://schemas.openxmlformats.org/drawingml/2006/main">
            <a:r>
              <a:t>RBAC addition approved by Aaron: MVP has fixed Local AM, Regional AM, Group Director and AAM Admin roles. Okta is authoritative for role-group membership. Java maps these groups to action permissions and enforces them together with applicable business-group, region and customer scopes. PostgreSQL owns business scope bindings and audit, not a second editable role-membership authority. Default deny applies. Local AM access follows assigned customers; Regional AM access follows authorized regions; Directors can define authorized Playbooks and see authorized group-wide Case status. AAM Admin can manage Playbooks/configuration without automatic unrestricted access to raw mail. Dashboard summaries, list/detail/search/export and AI context must respect scope. Java rechecks current authorization for user-initiated jobs and before sensitive effects; ingestion uses explicit mailbox/service grants. AM approval before sending remains required. Entra/Graph mailbox permissions remain an independent limit. Scope control is cross-cutting, not another business step or service. Confirm Okta authorization-server licensing and session/token integration during implementation. Sources for capability boundaries: https://developer.okta.com/docs/guides/customize-tokens-groups-claim/ , https://developer.okta.com/docs/concepts/auth-servers/ , https://docs.spring.io/spring-security/reference/servlet/oauth2/resource-server/jwt.html . The referenced GitHub diagrams are the baseline before this accepted RBAC addition.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https://github.com/realAaronWu/aam/blob/4266cc34b7c7639256ebb993810caeea34608a82/docs/architecture/diagrams/aam-logical-component-flow.drawio . Reflowed to a widescreen, editable PowerPoint component diagram. Preserves numbered core path 01-06, reply branch 04.1-04.3 and Playbook management 07-08. Green arrows show the business path, purple supplies Playbook rules, orange starts AI draft generation, blue represents human review and cyan sends through Graph. AI also supports intent, summaries and Playbook authoring. Progress updates change Case/Open Item state. The original draw.io remains the detailed source.</a:t>
            </a:r>
          </a:p>
          <a:p xmlns:a="http://schemas.openxmlformats.org/drawingml/2006/main">
            <a:r>
              <a:t/>
            </a:r>
          </a:p>
          <a:p xmlns:a="http://schemas.openxmlformats.org/drawingml/2006/main">
            <a:r>
              <a:t>RBAC addition approved by Aaron: MVP has fixed Local AM, Regional AM, Group Director and AAM Admin roles. Okta is authoritative for role-group membership. Java maps these groups to action permissions and enforces them together with applicable business-group, region and customer scopes. PostgreSQL owns business scope bindings and audit, not a second editable role-membership authority. Default deny applies. Local AM access follows assigned customers; Regional AM access follows authorized regions; Directors can define authorized Playbooks and see authorized group-wide Case status. AAM Admin can manage Playbooks/configuration without automatic unrestricted access to raw mail. Dashboard summaries, list/detail/search/export and AI context must respect scope. Java rechecks current authorization for user-initiated jobs and before sensitive effects; ingestion uses explicit mailbox/service grants. AM approval before sending remains required. Entra/Graph mailbox permissions remain an independent limit. Scope control is cross-cutting, not another business step or service. Confirm Okta authorization-server licensing and session/token integration during implementation. Sources for capability boundaries: https://developer.okta.com/docs/guides/customize-tokens-groups-claim/ , https://developer.okta.com/docs/concepts/auth-servers/ , https://docs.spring.io/spring-security/reference/servlet/oauth2/resource-server/jwt.html . The referenced GitHub diagrams are the baseline before this accepted RBAC addition.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https://github.com/realAaronWu/aam/blob/4266cc34b7c7639256ebb993810caeea34608a82/docs/architecture/diagrams/aam-java-services-ha-architecture.drawio . Widescreen reflow preserves the current single-Java-backend architecture and its identity, mail, AI, storage and observability integrations. AM is a user role, not a service. Portal/BFF and Java backend are separate deployments. Every Java replica runs HTTP and bounded async execution; logical modules are not separate microservices. PostgreSQL uses a primary/standby and one write endpoint. Durable job claims, lease renewal, fencing, request idempotency and unique business keys protect recovery. Database HA protection depends on the selected replication/failover configuration. Azure Blob remains in the current source diagram for file artifacts. Okta and Entra arrows describe integration dependencies, not the full OAuth redirect sequence. GitHub Actions is delivery tooling described on slide 2, not a runtime request dependency.</a:t>
            </a:r>
          </a:p>
          <a:p xmlns:a="http://schemas.openxmlformats.org/drawingml/2006/main">
            <a:r>
              <a:t/>
            </a:r>
          </a:p>
          <a:p xmlns:a="http://schemas.openxmlformats.org/drawingml/2006/main">
            <a:r>
              <a:t>RBAC addition approved by Aaron: MVP has fixed Local AM, Regional AM, Group Director and AAM Admin roles. Okta is authoritative for role-group membership. Java maps these groups to action permissions and enforces them together with applicable business-group, region and customer scopes. PostgreSQL owns business scope bindings and audit, not a second editable role-membership authority. Default deny applies. Local AM access follows assigned customers; Regional AM access follows authorized regions; Directors can define authorized Playbooks and see authorized group-wide Case status. AAM Admin can manage Playbooks/configuration without automatic unrestricted access to raw mail. Dashboard summaries, list/detail/search/export and AI context must respect scope. Java rechecks current authorization for user-initiated jobs and before sensitive effects; ingestion uses explicit mailbox/service grants. AM approval before sending remains required. Entra/Graph mailbox permissions remain an independent limit. Scope control is cross-cutting, not another business step or service. Confirm Okta authorization-server licensing and session/token integration during implementation. Sources for capability boundaries: https://developer.okta.com/docs/guides/customize-tokens-groups-claim/ , https://developer.okta.com/docs/concepts/auth-servers/ , https://docs.spring.io/spring-security/reference/servlet/oauth2/resource-server/jwt.html . The referenced GitHub diagrams are the baseline before this accepted RBAC addition.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https://github.com/realAaronWu/aam/blob/4266cc34b7c7639256ebb993810caeea34608a82/docs/planning/AAM_Delivery_Plan_FSD_SIT_UAT_to_2027-03-05_EN.xlsx . SHA-256 a918de308e653598253a3d1cd3428d509e4f69928cdc919a5fcc515c2b5f5ea8. Team and Gates A7:D13/A15:D15 supplies role effort and cost, D68:D79 supplies milestones. Cost equals scheduled person-days from the Gantt multiplied by editable default USD360 daily rates. Scheduled labor is not full payroll availability. Two developers, DS, two testers, BA and UI/UX are seven assumed resources, with planned part-time usage where the workbook allocates fewer days. Tester 1 covers technical QA. Tester 2 covers business and AI scenario QA after DS tuning. FSD/UX two weeks; Java build three weeks; CI/CD parallel; SIT/tuning eight weeks; UAT Feb15-24. Feb3-12 leave excluded. Budget and milestones are planned estimates, not approvals or actual expenditure.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3e658cab464ab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a4a80601dcd448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a5a076b71f04b6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97ee53a18114c0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2c506f36a3f4e3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955e41014e3486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AB71E2-4C69-4827-99D6-042C1459F7CA}"/>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9C4929A0-C555-445F-9AC1-65C9BB53908D}"/>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B29D607-E2E0-4724-A90C-3AD18BAEBF35}"/>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BDD192-9C9F-4D2A-B051-3DAA955FD199}"/>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A4F6BDE-1E9B-4F62-8CB0-1C0029FA07DD}"/>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33ABE0-5CBA-4C52-AD71-F9D1C78DCEC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FEFD53C-08CD-4EE5-8863-502CF2B4AA84}"/>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25BDB1A-78BB-4073-BB40-B2FD65A595BF}"/>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01E7AF1-EF37-4C17-A5E6-B79D080B6C2E}"/>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77E0118-B374-4793-81DF-E31906C3C9AC}"/>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c535c92eff4178" /><Relationship Type="http://schemas.openxmlformats.org/officeDocument/2006/relationships/slideLayout" Target="/ppt/slideLayouts/slideLayout1.xml" Id="Rdd8b7957e3274f08" /><Relationship Type="http://schemas.openxmlformats.org/officeDocument/2006/relationships/slideLayout" Target="/ppt/slideLayouts/slideLayout2.xml" Id="R9d99442d94b543d6" /><Relationship Type="http://schemas.openxmlformats.org/officeDocument/2006/relationships/slideLayout" Target="/ppt/slideLayouts/slideLayout3.xml" Id="Rd98a3f8f1fac4b83" /><Relationship Type="http://schemas.openxmlformats.org/officeDocument/2006/relationships/slideLayout" Target="/ppt/slideLayouts/slideLayout4.xml" Id="Rdf73bb4515b74e2c" /><Relationship Type="http://schemas.openxmlformats.org/officeDocument/2006/relationships/slideLayout" Target="/ppt/slideLayouts/slideLayout5.xml" Id="R912fdbb3dd3e4542" /><Relationship Type="http://schemas.openxmlformats.org/officeDocument/2006/relationships/slideLayout" Target="/ppt/slideLayouts/slideLayout6.xml" Id="R0a654deb9e554b1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8b7957e3274f08"/>
    <p:sldLayoutId xmlns:r="http://schemas.openxmlformats.org/officeDocument/2006/relationships" id="2147483650" r:id="R9d99442d94b543d6"/>
    <p:sldLayoutId xmlns:r="http://schemas.openxmlformats.org/officeDocument/2006/relationships" id="2147483651" r:id="Rd98a3f8f1fac4b83"/>
    <p:sldLayoutId xmlns:r="http://schemas.openxmlformats.org/officeDocument/2006/relationships" id="2147483652" r:id="Rdf73bb4515b74e2c"/>
    <p:sldLayoutId xmlns:r="http://schemas.openxmlformats.org/officeDocument/2006/relationships" id="2147483653" r:id="R912fdbb3dd3e4542"/>
    <p:sldLayoutId xmlns:r="http://schemas.openxmlformats.org/officeDocument/2006/relationships" id="2147483654" r:id="R0a654deb9e554b1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addfa2748974ba9" /><Relationship Type="http://schemas.openxmlformats.org/officeDocument/2006/relationships/notesSlide" Target="/ppt/notesSlides/notesSlide1.xml" Id="R954c299b59924cf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0bce1a31e744d71" /><Relationship Type="http://schemas.openxmlformats.org/officeDocument/2006/relationships/notesSlide" Target="/ppt/notesSlides/notesSlide2.xml" Id="R2268759d2ca247a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3122c49142d4a41" /><Relationship Type="http://schemas.openxmlformats.org/officeDocument/2006/relationships/notesSlide" Target="/ppt/notesSlides/notesSlide3.xml" Id="Rc3f32bad2c9c4e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158bfc87a93439c" /><Relationship Type="http://schemas.openxmlformats.org/officeDocument/2006/relationships/notesSlide" Target="/ppt/notesSlides/notesSlide4.xml" Id="R5b2757a13f0848c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06db8b935ce4e3b" /><Relationship Type="http://schemas.openxmlformats.org/officeDocument/2006/relationships/notesSlide" Target="/ppt/notesSlides/notesSlide5.xml" Id="Rbc426dfe1c044f25"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itle">
            <a:extLst xmlns:a="http://schemas.openxmlformats.org/drawingml/2006/main">
              <a:ext uri="{FF2B5EF4-FFF2-40B4-BE49-F238E27FC236}">
                <a16:creationId xmlns:a16="http://schemas.microsoft.com/office/drawing/2014/main" id="{3D28BB3D-A09B-499A-8836-5C94615C8825}"/>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AAM Background and MVP Scope</a:t>
            </a:r>
          </a:p>
        </p:txBody>
      </p:sp>
      <p:sp>
        <p:nvSpPr>
          <p:cNvPr id="2" name="page">
            <a:extLst xmlns:a="http://schemas.openxmlformats.org/drawingml/2006/main">
              <a:ext uri="{FF2B5EF4-FFF2-40B4-BE49-F238E27FC236}">
                <a16:creationId xmlns:a16="http://schemas.microsoft.com/office/drawing/2014/main" id="{42507972-CE38-48AB-A7BF-48ED0C9B598F}"/>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1 / 5</a:t>
            </a:r>
          </a:p>
        </p:txBody>
      </p:sp>
      <p:sp>
        <p:nvSpPr>
          <p:cNvPr id="3" name="intro">
            <a:extLst xmlns:a="http://schemas.openxmlformats.org/drawingml/2006/main">
              <a:ext uri="{FF2B5EF4-FFF2-40B4-BE49-F238E27FC236}">
                <a16:creationId xmlns:a16="http://schemas.microsoft.com/office/drawing/2014/main" id="{44668E74-C113-436D-BFC3-27D6BE8DE3CB}"/>
              </a:ext>
            </a:extLst>
          </p:cNvPr>
          <p:cNvSpPr>
            <a:spLocks xmlns:a="http://schemas.openxmlformats.org/drawingml/2006/main" noGrp="1"/>
          </p:cNvSpPr>
          <p:nvPr/>
        </p:nvSpPr>
        <p:spPr>
          <a:xfrm xmlns:a="http://schemas.openxmlformats.org/drawingml/2006/main">
            <a:off x="609600" y="1238250"/>
            <a:ext cx="13716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132B45"/>
                </a:solidFill>
                <a:latin typeface="Arial"/>
                <a:ea typeface="Arial"/>
                <a:cs typeface="Arial"/>
              </a:defRPr>
            </a:defPPr>
          </a:lstStyle>
          <a:p xmlns:a="http://schemas.openxmlformats.org/drawingml/2006/main">
            <a:pPr algn="l">
              <a:defRPr sz="2325" b="0">
                <a:solidFill>
                  <a:srgbClr val="132B45"/>
                </a:solidFill>
                <a:latin typeface="Arial"/>
                <a:ea typeface="Arial"/>
                <a:cs typeface="Arial"/>
              </a:defRPr>
            </a:pPr>
            <a:r>
              <a:rPr sz="2325" b="0">
                <a:solidFill>
                  <a:srgbClr val="132B45"/>
                </a:solidFill>
                <a:latin typeface="Arial"/>
                <a:ea typeface="Arial"/>
                <a:cs typeface="Arial"/>
              </a:rPr>
              <a:t>Account managers need a clear view of customer work that currently sits across email threads.</a:t>
            </a:r>
          </a:p>
        </p:txBody>
      </p:sp>
      <p:sp>
        <p:nvSpPr>
          <p:cNvPr id="4" name="today">
            <a:extLst xmlns:a="http://schemas.openxmlformats.org/drawingml/2006/main">
              <a:ext uri="{FF2B5EF4-FFF2-40B4-BE49-F238E27FC236}">
                <a16:creationId xmlns:a16="http://schemas.microsoft.com/office/drawing/2014/main" id="{948FA2DE-0570-4895-813C-6D92E6801CA5}"/>
              </a:ext>
            </a:extLst>
          </p:cNvPr>
          <p:cNvSpPr>
            <a:spLocks xmlns:a="http://schemas.openxmlformats.org/drawingml/2006/main" noGrp="1"/>
          </p:cNvSpPr>
          <p:nvPr/>
        </p:nvSpPr>
        <p:spPr>
          <a:xfrm xmlns:a="http://schemas.openxmlformats.org/drawingml/2006/main">
            <a:off x="609600" y="2324100"/>
            <a:ext cx="5810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56677A"/>
                </a:solidFill>
                <a:latin typeface="Arial"/>
                <a:ea typeface="Arial"/>
                <a:cs typeface="Arial"/>
              </a:defRPr>
            </a:defPPr>
          </a:lstStyle>
          <a:p xmlns:a="http://schemas.openxmlformats.org/drawingml/2006/main">
            <a:pPr algn="l">
              <a:defRPr sz="2400" b="1">
                <a:solidFill>
                  <a:srgbClr val="56677A"/>
                </a:solidFill>
                <a:latin typeface="Arial"/>
                <a:ea typeface="Arial"/>
                <a:cs typeface="Arial"/>
              </a:defRPr>
            </a:pPr>
            <a:r>
              <a:rPr sz="2400" b="1">
                <a:solidFill>
                  <a:srgbClr val="56677A"/>
                </a:solidFill>
                <a:latin typeface="Arial"/>
                <a:ea typeface="Arial"/>
                <a:cs typeface="Arial"/>
              </a:rPr>
              <a:t>Current pain points</a:t>
            </a:r>
          </a:p>
        </p:txBody>
      </p:sp>
      <p:sp>
        <p:nvSpPr>
          <p:cNvPr id="5" name="pain-title-0">
            <a:extLst xmlns:a="http://schemas.openxmlformats.org/drawingml/2006/main">
              <a:ext uri="{FF2B5EF4-FFF2-40B4-BE49-F238E27FC236}">
                <a16:creationId xmlns:a16="http://schemas.microsoft.com/office/drawing/2014/main" id="{D7D4CCAC-0DE5-4696-813C-49F7D21BE539}"/>
              </a:ext>
            </a:extLst>
          </p:cNvPr>
          <p:cNvSpPr>
            <a:spLocks xmlns:a="http://schemas.openxmlformats.org/drawingml/2006/main" noGrp="1"/>
          </p:cNvSpPr>
          <p:nvPr/>
        </p:nvSpPr>
        <p:spPr>
          <a:xfrm xmlns:a="http://schemas.openxmlformats.org/drawingml/2006/main">
            <a:off x="609600" y="3000375"/>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2B45"/>
                </a:solidFill>
                <a:latin typeface="Arial"/>
                <a:ea typeface="Arial"/>
                <a:cs typeface="Arial"/>
              </a:defRPr>
            </a:defPPr>
          </a:lstStyle>
          <a:p xmlns:a="http://schemas.openxmlformats.org/drawingml/2006/main">
            <a:pPr algn="l">
              <a:defRPr sz="2100" b="1">
                <a:solidFill>
                  <a:srgbClr val="132B45"/>
                </a:solidFill>
                <a:latin typeface="Arial"/>
                <a:ea typeface="Arial"/>
                <a:cs typeface="Arial"/>
              </a:defRPr>
            </a:pPr>
            <a:r>
              <a:rPr sz="2100" b="1">
                <a:solidFill>
                  <a:srgbClr val="132B45"/>
                </a:solidFill>
                <a:latin typeface="Arial"/>
                <a:ea typeface="Arial"/>
                <a:cs typeface="Arial"/>
              </a:rPr>
              <a:t>Email overload</a:t>
            </a:r>
          </a:p>
        </p:txBody>
      </p:sp>
      <p:sp>
        <p:nvSpPr>
          <p:cNvPr id="6" name="pain-body-0">
            <a:extLst xmlns:a="http://schemas.openxmlformats.org/drawingml/2006/main">
              <a:ext uri="{FF2B5EF4-FFF2-40B4-BE49-F238E27FC236}">
                <a16:creationId xmlns:a16="http://schemas.microsoft.com/office/drawing/2014/main" id="{8B6010B2-B6D2-4783-908E-5C0D2FD22491}"/>
              </a:ext>
            </a:extLst>
          </p:cNvPr>
          <p:cNvSpPr>
            <a:spLocks xmlns:a="http://schemas.openxmlformats.org/drawingml/2006/main" noGrp="1"/>
          </p:cNvSpPr>
          <p:nvPr/>
        </p:nvSpPr>
        <p:spPr>
          <a:xfrm xmlns:a="http://schemas.openxmlformats.org/drawingml/2006/main">
            <a:off x="609600" y="3419475"/>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Customer requests and updates spread across personal and shared inboxes.</a:t>
            </a:r>
          </a:p>
        </p:txBody>
      </p:sp>
      <p:sp>
        <p:nvSpPr>
          <p:cNvPr id="7" name="pain-title-1">
            <a:extLst xmlns:a="http://schemas.openxmlformats.org/drawingml/2006/main">
              <a:ext uri="{FF2B5EF4-FFF2-40B4-BE49-F238E27FC236}">
                <a16:creationId xmlns:a16="http://schemas.microsoft.com/office/drawing/2014/main" id="{BBF92CDF-ED51-44F3-9DBD-D54F363B8834}"/>
              </a:ext>
            </a:extLst>
          </p:cNvPr>
          <p:cNvSpPr>
            <a:spLocks xmlns:a="http://schemas.openxmlformats.org/drawingml/2006/main" noGrp="1"/>
          </p:cNvSpPr>
          <p:nvPr/>
        </p:nvSpPr>
        <p:spPr>
          <a:xfrm xmlns:a="http://schemas.openxmlformats.org/drawingml/2006/main">
            <a:off x="609600" y="4286250"/>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2B45"/>
                </a:solidFill>
                <a:latin typeface="Arial"/>
                <a:ea typeface="Arial"/>
                <a:cs typeface="Arial"/>
              </a:defRPr>
            </a:defPPr>
          </a:lstStyle>
          <a:p xmlns:a="http://schemas.openxmlformats.org/drawingml/2006/main">
            <a:pPr algn="l">
              <a:defRPr sz="2100" b="1">
                <a:solidFill>
                  <a:srgbClr val="132B45"/>
                </a:solidFill>
                <a:latin typeface="Arial"/>
                <a:ea typeface="Arial"/>
                <a:cs typeface="Arial"/>
              </a:defRPr>
            </a:pPr>
            <a:r>
              <a:rPr sz="2100" b="1">
                <a:solidFill>
                  <a:srgbClr val="132B45"/>
                </a:solidFill>
                <a:latin typeface="Arial"/>
                <a:ea typeface="Arial"/>
                <a:cs typeface="Arial"/>
              </a:rPr>
              <a:t>Unclear ownership and stage</a:t>
            </a:r>
          </a:p>
        </p:txBody>
      </p:sp>
      <p:sp>
        <p:nvSpPr>
          <p:cNvPr id="8" name="pain-body-1">
            <a:extLst xmlns:a="http://schemas.openxmlformats.org/drawingml/2006/main">
              <a:ext uri="{FF2B5EF4-FFF2-40B4-BE49-F238E27FC236}">
                <a16:creationId xmlns:a16="http://schemas.microsoft.com/office/drawing/2014/main" id="{7FB8FF10-577C-45D5-9D30-FCAFE3A2FCD7}"/>
              </a:ext>
            </a:extLst>
          </p:cNvPr>
          <p:cNvSpPr>
            <a:spLocks xmlns:a="http://schemas.openxmlformats.org/drawingml/2006/main" noGrp="1"/>
          </p:cNvSpPr>
          <p:nvPr/>
        </p:nvSpPr>
        <p:spPr>
          <a:xfrm xmlns:a="http://schemas.openxmlformats.org/drawingml/2006/main">
            <a:off x="609600" y="4705350"/>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AMs cannot easily see who owns each customer request or how far it has progressed.</a:t>
            </a:r>
          </a:p>
        </p:txBody>
      </p:sp>
      <p:sp>
        <p:nvSpPr>
          <p:cNvPr id="9" name="pain-title-2">
            <a:extLst xmlns:a="http://schemas.openxmlformats.org/drawingml/2006/main">
              <a:ext uri="{FF2B5EF4-FFF2-40B4-BE49-F238E27FC236}">
                <a16:creationId xmlns:a16="http://schemas.microsoft.com/office/drawing/2014/main" id="{0D9327EC-7011-43AF-948E-4B24FAC59271}"/>
              </a:ext>
            </a:extLst>
          </p:cNvPr>
          <p:cNvSpPr>
            <a:spLocks xmlns:a="http://schemas.openxmlformats.org/drawingml/2006/main" noGrp="1"/>
          </p:cNvSpPr>
          <p:nvPr/>
        </p:nvSpPr>
        <p:spPr>
          <a:xfrm xmlns:a="http://schemas.openxmlformats.org/drawingml/2006/main">
            <a:off x="609600" y="5572125"/>
            <a:ext cx="5905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32B45"/>
                </a:solidFill>
                <a:latin typeface="Arial"/>
                <a:ea typeface="Arial"/>
                <a:cs typeface="Arial"/>
              </a:defRPr>
            </a:defPPr>
          </a:lstStyle>
          <a:p xmlns:a="http://schemas.openxmlformats.org/drawingml/2006/main">
            <a:pPr algn="l">
              <a:defRPr sz="2100" b="1">
                <a:solidFill>
                  <a:srgbClr val="132B45"/>
                </a:solidFill>
                <a:latin typeface="Arial"/>
                <a:ea typeface="Arial"/>
                <a:cs typeface="Arial"/>
              </a:defRPr>
            </a:pPr>
            <a:r>
              <a:rPr sz="2100" b="1">
                <a:solidFill>
                  <a:srgbClr val="132B45"/>
                </a:solidFill>
                <a:latin typeface="Arial"/>
                <a:ea typeface="Arial"/>
                <a:cs typeface="Arial"/>
              </a:rPr>
              <a:t>Manual follow-up</a:t>
            </a:r>
          </a:p>
        </p:txBody>
      </p:sp>
      <p:sp>
        <p:nvSpPr>
          <p:cNvPr id="10" name="pain-body-2">
            <a:extLst xmlns:a="http://schemas.openxmlformats.org/drawingml/2006/main">
              <a:ext uri="{FF2B5EF4-FFF2-40B4-BE49-F238E27FC236}">
                <a16:creationId xmlns:a16="http://schemas.microsoft.com/office/drawing/2014/main" id="{2C0EC7DE-19E0-467F-8753-52C331AA1DA3}"/>
              </a:ext>
            </a:extLst>
          </p:cNvPr>
          <p:cNvSpPr>
            <a:spLocks xmlns:a="http://schemas.openxmlformats.org/drawingml/2006/main" noGrp="1"/>
          </p:cNvSpPr>
          <p:nvPr/>
        </p:nvSpPr>
        <p:spPr>
          <a:xfrm xmlns:a="http://schemas.openxmlformats.org/drawingml/2006/main">
            <a:off x="609600" y="5991225"/>
            <a:ext cx="59055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AMs reconstruct open items, next actions and reply context by reading long threads.</a:t>
            </a:r>
          </a:p>
        </p:txBody>
      </p:sp>
      <p:sp>
        <p:nvSpPr>
          <p:cNvPr id="11" name="mvp">
            <a:extLst xmlns:a="http://schemas.openxmlformats.org/drawingml/2006/main">
              <a:ext uri="{FF2B5EF4-FFF2-40B4-BE49-F238E27FC236}">
                <a16:creationId xmlns:a16="http://schemas.microsoft.com/office/drawing/2014/main" id="{44A2B8DA-BF24-4D27-8B82-7C73A78034E7}"/>
              </a:ext>
            </a:extLst>
          </p:cNvPr>
          <p:cNvSpPr>
            <a:spLocks xmlns:a="http://schemas.openxmlformats.org/drawingml/2006/main" noGrp="1"/>
          </p:cNvSpPr>
          <p:nvPr/>
        </p:nvSpPr>
        <p:spPr>
          <a:xfrm xmlns:a="http://schemas.openxmlformats.org/drawingml/2006/main">
            <a:off x="7381875" y="2324100"/>
            <a:ext cx="723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MVP: one portal with role-based access</a:t>
            </a:r>
          </a:p>
        </p:txBody>
      </p:sp>
      <p:sp>
        <p:nvSpPr>
          <p:cNvPr id="12" name="scope-title-0">
            <a:extLst xmlns:a="http://schemas.openxmlformats.org/drawingml/2006/main">
              <a:ext uri="{FF2B5EF4-FFF2-40B4-BE49-F238E27FC236}">
                <a16:creationId xmlns:a16="http://schemas.microsoft.com/office/drawing/2014/main" id="{7997E77F-6021-49CF-9831-92FCD5926A9B}"/>
              </a:ext>
            </a:extLst>
          </p:cNvPr>
          <p:cNvSpPr>
            <a:spLocks xmlns:a="http://schemas.openxmlformats.org/drawingml/2006/main" noGrp="1"/>
          </p:cNvSpPr>
          <p:nvPr/>
        </p:nvSpPr>
        <p:spPr>
          <a:xfrm xmlns:a="http://schemas.openxmlformats.org/drawingml/2006/main">
            <a:off x="7381875" y="3048000"/>
            <a:ext cx="714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B45"/>
                </a:solidFill>
                <a:latin typeface="Arial"/>
                <a:ea typeface="Arial"/>
                <a:cs typeface="Arial"/>
              </a:defRPr>
            </a:defPPr>
          </a:lstStyle>
          <a:p xmlns:a="http://schemas.openxmlformats.org/drawingml/2006/main">
            <a:pPr algn="l">
              <a:defRPr sz="1950" b="1">
                <a:solidFill>
                  <a:srgbClr val="132B45"/>
                </a:solidFill>
                <a:latin typeface="Arial"/>
                <a:ea typeface="Arial"/>
                <a:cs typeface="Arial"/>
              </a:defRPr>
            </a:pPr>
            <a:r>
              <a:rPr sz="1950" b="1">
                <a:solidFill>
                  <a:srgbClr val="132B45"/>
                </a:solidFill>
                <a:latin typeface="Arial"/>
                <a:ea typeface="Arial"/>
                <a:cs typeface="Arial"/>
              </a:rPr>
              <a:t>Mail visibility and triage</a:t>
            </a:r>
          </a:p>
        </p:txBody>
      </p:sp>
      <p:sp>
        <p:nvSpPr>
          <p:cNvPr id="13" name="scope-body-0">
            <a:extLst xmlns:a="http://schemas.openxmlformats.org/drawingml/2006/main">
              <a:ext uri="{FF2B5EF4-FFF2-40B4-BE49-F238E27FC236}">
                <a16:creationId xmlns:a16="http://schemas.microsoft.com/office/drawing/2014/main" id="{B910B43C-6BF3-4E36-821B-A1F146D8D561}"/>
              </a:ext>
            </a:extLst>
          </p:cNvPr>
          <p:cNvSpPr>
            <a:spLocks xmlns:a="http://schemas.openxmlformats.org/drawingml/2006/main" noGrp="1"/>
          </p:cNvSpPr>
          <p:nvPr/>
        </p:nvSpPr>
        <p:spPr>
          <a:xfrm xmlns:a="http://schemas.openxmlformats.org/drawingml/2006/main">
            <a:off x="7381875" y="3381375"/>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6677A"/>
                </a:solidFill>
                <a:latin typeface="Arial"/>
                <a:ea typeface="Arial"/>
                <a:cs typeface="Arial"/>
              </a:defRPr>
            </a:defPPr>
          </a:lstStyle>
          <a:p xmlns:a="http://schemas.openxmlformats.org/drawingml/2006/main">
            <a:pPr algn="l">
              <a:defRPr sz="1800" b="0">
                <a:solidFill>
                  <a:srgbClr val="56677A"/>
                </a:solidFill>
                <a:latin typeface="Arial"/>
                <a:ea typeface="Arial"/>
                <a:cs typeface="Arial"/>
              </a:defRPr>
            </a:pPr>
            <a:r>
              <a:rPr sz="1800" b="0">
                <a:solidFill>
                  <a:srgbClr val="56677A"/>
                </a:solidFill>
                <a:latin typeface="Arial"/>
                <a:ea typeface="Arial"/>
                <a:cs typeface="Arial"/>
              </a:rPr>
              <a:t>Identify customer and intent. Suggest a new Case or a link to an existing Case.</a:t>
            </a:r>
          </a:p>
        </p:txBody>
      </p:sp>
      <p:sp>
        <p:nvSpPr>
          <p:cNvPr id="14" name="scope-title-1">
            <a:extLst xmlns:a="http://schemas.openxmlformats.org/drawingml/2006/main">
              <a:ext uri="{FF2B5EF4-FFF2-40B4-BE49-F238E27FC236}">
                <a16:creationId xmlns:a16="http://schemas.microsoft.com/office/drawing/2014/main" id="{5255682A-E107-4150-8277-DC2D2BCE333E}"/>
              </a:ext>
            </a:extLst>
          </p:cNvPr>
          <p:cNvSpPr>
            <a:spLocks xmlns:a="http://schemas.openxmlformats.org/drawingml/2006/main" noGrp="1"/>
          </p:cNvSpPr>
          <p:nvPr/>
        </p:nvSpPr>
        <p:spPr>
          <a:xfrm xmlns:a="http://schemas.openxmlformats.org/drawingml/2006/main">
            <a:off x="7381875" y="3914775"/>
            <a:ext cx="714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B45"/>
                </a:solidFill>
                <a:latin typeface="Arial"/>
                <a:ea typeface="Arial"/>
                <a:cs typeface="Arial"/>
              </a:defRPr>
            </a:defPPr>
          </a:lstStyle>
          <a:p xmlns:a="http://schemas.openxmlformats.org/drawingml/2006/main">
            <a:pPr algn="l">
              <a:defRPr sz="1950" b="1">
                <a:solidFill>
                  <a:srgbClr val="132B45"/>
                </a:solidFill>
                <a:latin typeface="Arial"/>
                <a:ea typeface="Arial"/>
                <a:cs typeface="Arial"/>
              </a:defRPr>
            </a:pPr>
            <a:r>
              <a:rPr sz="1950" b="1">
                <a:solidFill>
                  <a:srgbClr val="132B45"/>
                </a:solidFill>
                <a:latin typeface="Arial"/>
                <a:ea typeface="Arial"/>
                <a:cs typeface="Arial"/>
              </a:rPr>
              <a:t>Customer and Case workspace</a:t>
            </a:r>
          </a:p>
        </p:txBody>
      </p:sp>
      <p:sp>
        <p:nvSpPr>
          <p:cNvPr id="15" name="scope-body-1">
            <a:extLst xmlns:a="http://schemas.openxmlformats.org/drawingml/2006/main">
              <a:ext uri="{FF2B5EF4-FFF2-40B4-BE49-F238E27FC236}">
                <a16:creationId xmlns:a16="http://schemas.microsoft.com/office/drawing/2014/main" id="{72AF4866-9AA8-4BE5-BFF6-87EAD9D41591}"/>
              </a:ext>
            </a:extLst>
          </p:cNvPr>
          <p:cNvSpPr>
            <a:spLocks xmlns:a="http://schemas.openxmlformats.org/drawingml/2006/main" noGrp="1"/>
          </p:cNvSpPr>
          <p:nvPr/>
        </p:nvSpPr>
        <p:spPr>
          <a:xfrm xmlns:a="http://schemas.openxmlformats.org/drawingml/2006/main">
            <a:off x="7381875" y="4248150"/>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6677A"/>
                </a:solidFill>
                <a:latin typeface="Arial"/>
                <a:ea typeface="Arial"/>
                <a:cs typeface="Arial"/>
              </a:defRPr>
            </a:defPPr>
          </a:lstStyle>
          <a:p xmlns:a="http://schemas.openxmlformats.org/drawingml/2006/main">
            <a:pPr algn="l">
              <a:defRPr sz="1800" b="0">
                <a:solidFill>
                  <a:srgbClr val="56677A"/>
                </a:solidFill>
                <a:latin typeface="Arial"/>
                <a:ea typeface="Arial"/>
                <a:cs typeface="Arial"/>
              </a:defRPr>
            </a:pPr>
            <a:r>
              <a:rPr sz="1800" b="0">
                <a:solidFill>
                  <a:srgbClr val="56677A"/>
                </a:solidFill>
                <a:latin typeface="Arial"/>
                <a:ea typeface="Arial"/>
                <a:cs typeface="Arial"/>
              </a:rPr>
              <a:t>Show owners, current stage, progress, open items and next actions.</a:t>
            </a:r>
          </a:p>
        </p:txBody>
      </p:sp>
      <p:sp>
        <p:nvSpPr>
          <p:cNvPr id="16" name="scope-title-2">
            <a:extLst xmlns:a="http://schemas.openxmlformats.org/drawingml/2006/main">
              <a:ext uri="{FF2B5EF4-FFF2-40B4-BE49-F238E27FC236}">
                <a16:creationId xmlns:a16="http://schemas.microsoft.com/office/drawing/2014/main" id="{FF97E5A9-1994-406E-81B2-CD614891B1A4}"/>
              </a:ext>
            </a:extLst>
          </p:cNvPr>
          <p:cNvSpPr>
            <a:spLocks xmlns:a="http://schemas.openxmlformats.org/drawingml/2006/main" noGrp="1"/>
          </p:cNvSpPr>
          <p:nvPr/>
        </p:nvSpPr>
        <p:spPr>
          <a:xfrm xmlns:a="http://schemas.openxmlformats.org/drawingml/2006/main">
            <a:off x="7381875" y="4781550"/>
            <a:ext cx="714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B45"/>
                </a:solidFill>
                <a:latin typeface="Arial"/>
                <a:ea typeface="Arial"/>
                <a:cs typeface="Arial"/>
              </a:defRPr>
            </a:defPPr>
          </a:lstStyle>
          <a:p xmlns:a="http://schemas.openxmlformats.org/drawingml/2006/main">
            <a:pPr algn="l">
              <a:defRPr sz="1950" b="1">
                <a:solidFill>
                  <a:srgbClr val="132B45"/>
                </a:solidFill>
                <a:latin typeface="Arial"/>
                <a:ea typeface="Arial"/>
                <a:cs typeface="Arial"/>
              </a:defRPr>
            </a:pPr>
            <a:r>
              <a:rPr sz="1950" b="1">
                <a:solidFill>
                  <a:srgbClr val="132B45"/>
                </a:solidFill>
                <a:latin typeface="Arial"/>
                <a:ea typeface="Arial"/>
                <a:cs typeface="Arial"/>
              </a:rPr>
              <a:t>AI summaries and email drafts</a:t>
            </a:r>
          </a:p>
        </p:txBody>
      </p:sp>
      <p:sp>
        <p:nvSpPr>
          <p:cNvPr id="17" name="scope-body-2">
            <a:extLst xmlns:a="http://schemas.openxmlformats.org/drawingml/2006/main">
              <a:ext uri="{FF2B5EF4-FFF2-40B4-BE49-F238E27FC236}">
                <a16:creationId xmlns:a16="http://schemas.microsoft.com/office/drawing/2014/main" id="{1F0E3425-647F-46A7-8AB9-EEF7AB1E7175}"/>
              </a:ext>
            </a:extLst>
          </p:cNvPr>
          <p:cNvSpPr>
            <a:spLocks xmlns:a="http://schemas.openxmlformats.org/drawingml/2006/main" noGrp="1"/>
          </p:cNvSpPr>
          <p:nvPr/>
        </p:nvSpPr>
        <p:spPr>
          <a:xfrm xmlns:a="http://schemas.openxmlformats.org/drawingml/2006/main">
            <a:off x="7381875" y="5114925"/>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6677A"/>
                </a:solidFill>
                <a:latin typeface="Arial"/>
                <a:ea typeface="Arial"/>
                <a:cs typeface="Arial"/>
              </a:defRPr>
            </a:defPPr>
          </a:lstStyle>
          <a:p xmlns:a="http://schemas.openxmlformats.org/drawingml/2006/main">
            <a:pPr algn="l">
              <a:defRPr sz="1800" b="0">
                <a:solidFill>
                  <a:srgbClr val="56677A"/>
                </a:solidFill>
                <a:latin typeface="Arial"/>
                <a:ea typeface="Arial"/>
                <a:cs typeface="Arial"/>
              </a:defRPr>
            </a:pPr>
            <a:r>
              <a:rPr sz="1800" b="0">
                <a:solidFill>
                  <a:srgbClr val="56677A"/>
                </a:solidFill>
                <a:latin typeface="Arial"/>
                <a:ea typeface="Arial"/>
                <a:cs typeface="Arial"/>
              </a:rPr>
              <a:t>Prepare grounded replies. AMs review, edit and approve sending.</a:t>
            </a:r>
          </a:p>
        </p:txBody>
      </p:sp>
      <p:sp>
        <p:nvSpPr>
          <p:cNvPr id="18" name="scope-title-3">
            <a:extLst xmlns:a="http://schemas.openxmlformats.org/drawingml/2006/main">
              <a:ext uri="{FF2B5EF4-FFF2-40B4-BE49-F238E27FC236}">
                <a16:creationId xmlns:a16="http://schemas.microsoft.com/office/drawing/2014/main" id="{6E4387D4-B2DF-4783-9615-39D91FC1B0F6}"/>
              </a:ext>
            </a:extLst>
          </p:cNvPr>
          <p:cNvSpPr>
            <a:spLocks xmlns:a="http://schemas.openxmlformats.org/drawingml/2006/main" noGrp="1"/>
          </p:cNvSpPr>
          <p:nvPr/>
        </p:nvSpPr>
        <p:spPr>
          <a:xfrm xmlns:a="http://schemas.openxmlformats.org/drawingml/2006/main">
            <a:off x="7381875" y="5648325"/>
            <a:ext cx="714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B45"/>
                </a:solidFill>
                <a:latin typeface="Arial"/>
                <a:ea typeface="Arial"/>
                <a:cs typeface="Arial"/>
              </a:defRPr>
            </a:defPPr>
          </a:lstStyle>
          <a:p xmlns:a="http://schemas.openxmlformats.org/drawingml/2006/main">
            <a:pPr algn="l">
              <a:defRPr sz="1950" b="1">
                <a:solidFill>
                  <a:srgbClr val="132B45"/>
                </a:solidFill>
                <a:latin typeface="Arial"/>
                <a:ea typeface="Arial"/>
                <a:cs typeface="Arial"/>
              </a:defRPr>
            </a:pPr>
            <a:r>
              <a:rPr sz="1950" b="1">
                <a:solidFill>
                  <a:srgbClr val="132B45"/>
                </a:solidFill>
                <a:latin typeface="Arial"/>
                <a:ea typeface="Arial"/>
                <a:cs typeface="Arial"/>
              </a:rPr>
              <a:t>Playbook management</a:t>
            </a:r>
          </a:p>
        </p:txBody>
      </p:sp>
      <p:sp>
        <p:nvSpPr>
          <p:cNvPr id="19" name="scope-body-3">
            <a:extLst xmlns:a="http://schemas.openxmlformats.org/drawingml/2006/main">
              <a:ext uri="{FF2B5EF4-FFF2-40B4-BE49-F238E27FC236}">
                <a16:creationId xmlns:a16="http://schemas.microsoft.com/office/drawing/2014/main" id="{2E9690F9-70FA-4785-990B-E4D6699AFDC1}"/>
              </a:ext>
            </a:extLst>
          </p:cNvPr>
          <p:cNvSpPr>
            <a:spLocks xmlns:a="http://schemas.openxmlformats.org/drawingml/2006/main" noGrp="1"/>
          </p:cNvSpPr>
          <p:nvPr/>
        </p:nvSpPr>
        <p:spPr>
          <a:xfrm xmlns:a="http://schemas.openxmlformats.org/drawingml/2006/main">
            <a:off x="7381875" y="5981700"/>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6677A"/>
                </a:solidFill>
                <a:latin typeface="Arial"/>
                <a:ea typeface="Arial"/>
                <a:cs typeface="Arial"/>
              </a:defRPr>
            </a:defPPr>
          </a:lstStyle>
          <a:p xmlns:a="http://schemas.openxmlformats.org/drawingml/2006/main">
            <a:pPr algn="l">
              <a:defRPr sz="1800" b="0">
                <a:solidFill>
                  <a:srgbClr val="56677A"/>
                </a:solidFill>
                <a:latin typeface="Arial"/>
                <a:ea typeface="Arial"/>
                <a:cs typeface="Arial"/>
              </a:defRPr>
            </a:pPr>
            <a:r>
              <a:rPr sz="1800" b="0">
                <a:solidFill>
                  <a:srgbClr val="56677A"/>
                </a:solidFill>
                <a:latin typeface="Arial"/>
                <a:ea typeface="Arial"/>
                <a:cs typeface="Arial"/>
              </a:rPr>
              <a:t>Generate rules from prompts and example emails. Test, review and publish.</a:t>
            </a:r>
          </a:p>
        </p:txBody>
      </p:sp>
      <p:sp>
        <p:nvSpPr>
          <p:cNvPr id="20" name="scope-title-4">
            <a:extLst xmlns:a="http://schemas.openxmlformats.org/drawingml/2006/main">
              <a:ext uri="{FF2B5EF4-FFF2-40B4-BE49-F238E27FC236}">
                <a16:creationId xmlns:a16="http://schemas.microsoft.com/office/drawing/2014/main" id="{4F14A718-46C6-4D44-B340-A23712236ECD}"/>
              </a:ext>
            </a:extLst>
          </p:cNvPr>
          <p:cNvSpPr>
            <a:spLocks xmlns:a="http://schemas.openxmlformats.org/drawingml/2006/main" noGrp="1"/>
          </p:cNvSpPr>
          <p:nvPr/>
        </p:nvSpPr>
        <p:spPr>
          <a:xfrm xmlns:a="http://schemas.openxmlformats.org/drawingml/2006/main">
            <a:off x="7381875" y="6515100"/>
            <a:ext cx="714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B45"/>
                </a:solidFill>
                <a:latin typeface="Arial"/>
                <a:ea typeface="Arial"/>
                <a:cs typeface="Arial"/>
              </a:defRPr>
            </a:defPPr>
          </a:lstStyle>
          <a:p xmlns:a="http://schemas.openxmlformats.org/drawingml/2006/main">
            <a:pPr algn="l">
              <a:defRPr sz="1950" b="1">
                <a:solidFill>
                  <a:srgbClr val="132B45"/>
                </a:solidFill>
                <a:latin typeface="Arial"/>
                <a:ea typeface="Arial"/>
                <a:cs typeface="Arial"/>
              </a:defRPr>
            </a:pPr>
            <a:r>
              <a:rPr sz="1950" b="1">
                <a:solidFill>
                  <a:srgbClr val="132B45"/>
                </a:solidFill>
                <a:latin typeface="Arial"/>
                <a:ea typeface="Arial"/>
                <a:cs typeface="Arial"/>
              </a:rPr>
              <a:t>Fixed roles and data scopes</a:t>
            </a:r>
          </a:p>
        </p:txBody>
      </p:sp>
      <p:sp>
        <p:nvSpPr>
          <p:cNvPr id="21" name="scope-body-4">
            <a:extLst xmlns:a="http://schemas.openxmlformats.org/drawingml/2006/main">
              <a:ext uri="{FF2B5EF4-FFF2-40B4-BE49-F238E27FC236}">
                <a16:creationId xmlns:a16="http://schemas.microsoft.com/office/drawing/2014/main" id="{0E8DAB4D-BECB-4A50-90DD-E796E17F1A57}"/>
              </a:ext>
            </a:extLst>
          </p:cNvPr>
          <p:cNvSpPr>
            <a:spLocks xmlns:a="http://schemas.openxmlformats.org/drawingml/2006/main" noGrp="1"/>
          </p:cNvSpPr>
          <p:nvPr/>
        </p:nvSpPr>
        <p:spPr>
          <a:xfrm xmlns:a="http://schemas.openxmlformats.org/drawingml/2006/main">
            <a:off x="7381875" y="6848475"/>
            <a:ext cx="714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6677A"/>
                </a:solidFill>
                <a:latin typeface="Arial"/>
                <a:ea typeface="Arial"/>
                <a:cs typeface="Arial"/>
              </a:defRPr>
            </a:defPPr>
          </a:lstStyle>
          <a:p xmlns:a="http://schemas.openxmlformats.org/drawingml/2006/main">
            <a:pPr algn="l">
              <a:defRPr sz="1800" b="0">
                <a:solidFill>
                  <a:srgbClr val="56677A"/>
                </a:solidFill>
                <a:latin typeface="Arial"/>
                <a:ea typeface="Arial"/>
                <a:cs typeface="Arial"/>
              </a:defRPr>
            </a:pPr>
            <a:r>
              <a:rPr sz="1800" b="0">
                <a:solidFill>
                  <a:srgbClr val="56677A"/>
                </a:solidFill>
                <a:latin typeface="Arial"/>
                <a:ea typeface="Arial"/>
                <a:cs typeface="Arial"/>
              </a:rPr>
              <a:t>Local AM, Regional AM, Director and Admin. Limit data by business group, region and customer.</a:t>
            </a:r>
          </a:p>
        </p:txBody>
      </p:sp>
      <p:sp>
        <p:nvSpPr>
          <p:cNvPr id="22" name="benefit">
            <a:extLst xmlns:a="http://schemas.openxmlformats.org/drawingml/2006/main">
              <a:ext uri="{FF2B5EF4-FFF2-40B4-BE49-F238E27FC236}">
                <a16:creationId xmlns:a16="http://schemas.microsoft.com/office/drawing/2014/main" id="{267EAA46-5065-46DA-B3D8-582D1B3C7D69}"/>
              </a:ext>
            </a:extLst>
          </p:cNvPr>
          <p:cNvSpPr>
            <a:spLocks xmlns:a="http://schemas.openxmlformats.org/drawingml/2006/main" noGrp="1"/>
          </p:cNvSpPr>
          <p:nvPr/>
        </p:nvSpPr>
        <p:spPr>
          <a:xfrm xmlns:a="http://schemas.openxmlformats.org/drawingml/2006/main">
            <a:off x="609600" y="7572375"/>
            <a:ext cx="1390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563EB"/>
                </a:solidFill>
                <a:latin typeface="Arial"/>
                <a:ea typeface="Arial"/>
                <a:cs typeface="Arial"/>
              </a:defRPr>
            </a:defPPr>
          </a:lstStyle>
          <a:p xmlns:a="http://schemas.openxmlformats.org/drawingml/2006/main">
            <a:pPr algn="l">
              <a:defRPr sz="2100" b="1">
                <a:solidFill>
                  <a:srgbClr val="2563EB"/>
                </a:solidFill>
                <a:latin typeface="Arial"/>
                <a:ea typeface="Arial"/>
                <a:cs typeface="Arial"/>
              </a:defRPr>
            </a:pPr>
            <a:r>
              <a:rPr sz="2100" b="1">
                <a:solidFill>
                  <a:srgbClr val="2563EB"/>
                </a:solidFill>
                <a:latin typeface="Arial"/>
                <a:ea typeface="Arial"/>
                <a:cs typeface="Arial"/>
              </a:rPr>
              <a:t>Expected benefit: clearer customer visibility and ownership, with less manual email tracking.</a:t>
            </a:r>
          </a:p>
        </p:txBody>
      </p:sp>
    </p:spTree>
    <p:extLst>
      <p:ext uri="{BB962C8B-B14F-4D97-AF65-F5344CB8AC3E}">
        <p14:creationId xmlns:p14="http://schemas.microsoft.com/office/powerpoint/2010/main" val="151322003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title">
            <a:extLst xmlns:a="http://schemas.openxmlformats.org/drawingml/2006/main">
              <a:ext uri="{FF2B5EF4-FFF2-40B4-BE49-F238E27FC236}">
                <a16:creationId xmlns:a16="http://schemas.microsoft.com/office/drawing/2014/main" id="{7E89AAAA-8E48-4258-B472-56F3E77628C3}"/>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Overall Implementation Approach</a:t>
            </a:r>
          </a:p>
        </p:txBody>
      </p:sp>
      <p:sp>
        <p:nvSpPr>
          <p:cNvPr id="2" name="page">
            <a:extLst xmlns:a="http://schemas.openxmlformats.org/drawingml/2006/main">
              <a:ext uri="{FF2B5EF4-FFF2-40B4-BE49-F238E27FC236}">
                <a16:creationId xmlns:a16="http://schemas.microsoft.com/office/drawing/2014/main" id="{4CD79712-76E9-4556-B792-D8D03CB33687}"/>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2 / 5</a:t>
            </a:r>
          </a:p>
        </p:txBody>
      </p:sp>
      <p:sp>
        <p:nvSpPr>
          <p:cNvPr id="3" name="lead">
            <a:extLst xmlns:a="http://schemas.openxmlformats.org/drawingml/2006/main">
              <a:ext uri="{FF2B5EF4-FFF2-40B4-BE49-F238E27FC236}">
                <a16:creationId xmlns:a16="http://schemas.microsoft.com/office/drawing/2014/main" id="{140FF9A0-F365-4F7B-9F4C-F9A0E61ED358}"/>
              </a:ext>
            </a:extLst>
          </p:cNvPr>
          <p:cNvSpPr>
            <a:spLocks xmlns:a="http://schemas.openxmlformats.org/drawingml/2006/main" noGrp="1"/>
          </p:cNvSpPr>
          <p:nvPr/>
        </p:nvSpPr>
        <p:spPr>
          <a:xfrm xmlns:a="http://schemas.openxmlformats.org/drawingml/2006/main">
            <a:off x="609600" y="1304925"/>
            <a:ext cx="13525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6A34A"/>
                </a:solidFill>
                <a:latin typeface="Arial"/>
                <a:ea typeface="Arial"/>
                <a:cs typeface="Arial"/>
              </a:defRPr>
            </a:defPPr>
          </a:lstStyle>
          <a:p xmlns:a="http://schemas.openxmlformats.org/drawingml/2006/main">
            <a:pPr algn="l">
              <a:defRPr sz="3225" b="1">
                <a:solidFill>
                  <a:srgbClr val="16A34A"/>
                </a:solidFill>
                <a:latin typeface="Arial"/>
                <a:ea typeface="Arial"/>
                <a:cs typeface="Arial"/>
              </a:defRPr>
            </a:pPr>
            <a:r>
              <a:rPr sz="3225" b="1">
                <a:solidFill>
                  <a:srgbClr val="16A34A"/>
                </a:solidFill>
                <a:latin typeface="Arial"/>
                <a:ea typeface="Arial"/>
                <a:cs typeface="Arial"/>
              </a:rPr>
              <a:t>One Java backend, multiple replicas</a:t>
            </a:r>
          </a:p>
        </p:txBody>
      </p:sp>
      <p:sp>
        <p:nvSpPr>
          <p:cNvPr id="4" name="lead-body">
            <a:extLst xmlns:a="http://schemas.openxmlformats.org/drawingml/2006/main">
              <a:ext uri="{FF2B5EF4-FFF2-40B4-BE49-F238E27FC236}">
                <a16:creationId xmlns:a16="http://schemas.microsoft.com/office/drawing/2014/main" id="{DFFC9C69-7D05-4ACF-BEFA-D6676F57D909}"/>
              </a:ext>
            </a:extLst>
          </p:cNvPr>
          <p:cNvSpPr>
            <a:spLocks xmlns:a="http://schemas.openxmlformats.org/drawingml/2006/main" noGrp="1"/>
          </p:cNvSpPr>
          <p:nvPr/>
        </p:nvSpPr>
        <p:spPr>
          <a:xfrm xmlns:a="http://schemas.openxmlformats.org/drawingml/2006/main">
            <a:off x="609600" y="2057400"/>
            <a:ext cx="1362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A small deployment footprint with shared business state and recoverable background processing.</a:t>
            </a:r>
          </a:p>
        </p:txBody>
      </p:sp>
      <p:sp>
        <p:nvSpPr>
          <p:cNvPr id="5" name="n-0">
            <a:extLst xmlns:a="http://schemas.openxmlformats.org/drawingml/2006/main">
              <a:ext uri="{FF2B5EF4-FFF2-40B4-BE49-F238E27FC236}">
                <a16:creationId xmlns:a16="http://schemas.microsoft.com/office/drawing/2014/main" id="{451D4BBF-1FE4-41D6-99E0-8618E87E6D89}"/>
              </a:ext>
            </a:extLst>
          </p:cNvPr>
          <p:cNvSpPr>
            <a:spLocks xmlns:a="http://schemas.openxmlformats.org/drawingml/2006/main" noGrp="1"/>
          </p:cNvSpPr>
          <p:nvPr/>
        </p:nvSpPr>
        <p:spPr>
          <a:xfrm xmlns:a="http://schemas.openxmlformats.org/drawingml/2006/main">
            <a:off x="609600" y="2905125"/>
            <a:ext cx="571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01</a:t>
            </a:r>
          </a:p>
        </p:txBody>
      </p:sp>
      <p:sp>
        <p:nvSpPr>
          <p:cNvPr id="6" name="h-0">
            <a:extLst xmlns:a="http://schemas.openxmlformats.org/drawingml/2006/main">
              <a:ext uri="{FF2B5EF4-FFF2-40B4-BE49-F238E27FC236}">
                <a16:creationId xmlns:a16="http://schemas.microsoft.com/office/drawing/2014/main" id="{DF47C398-8CE0-46C3-90C3-3379A695464E}"/>
              </a:ext>
            </a:extLst>
          </p:cNvPr>
          <p:cNvSpPr>
            <a:spLocks xmlns:a="http://schemas.openxmlformats.org/drawingml/2006/main" noGrp="1"/>
          </p:cNvSpPr>
          <p:nvPr/>
        </p:nvSpPr>
        <p:spPr>
          <a:xfrm xmlns:a="http://schemas.openxmlformats.org/drawingml/2006/main">
            <a:off x="1409700" y="2905125"/>
            <a:ext cx="790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Java owns business behavior</a:t>
            </a:r>
          </a:p>
        </p:txBody>
      </p:sp>
      <p:sp>
        <p:nvSpPr>
          <p:cNvPr id="7" name="b-0">
            <a:extLst xmlns:a="http://schemas.openxmlformats.org/drawingml/2006/main">
              <a:ext uri="{FF2B5EF4-FFF2-40B4-BE49-F238E27FC236}">
                <a16:creationId xmlns:a16="http://schemas.microsoft.com/office/drawing/2014/main" id="{19CD6113-8B16-42BD-99C9-2B48C5276B29}"/>
              </a:ext>
            </a:extLst>
          </p:cNvPr>
          <p:cNvSpPr>
            <a:spLocks xmlns:a="http://schemas.openxmlformats.org/drawingml/2006/main" noGrp="1"/>
          </p:cNvSpPr>
          <p:nvPr/>
        </p:nvSpPr>
        <p:spPr>
          <a:xfrm xmlns:a="http://schemas.openxmlformats.org/drawingml/2006/main">
            <a:off x="1409700" y="3286125"/>
            <a:ext cx="785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Spring Boot serves APIs and runs bounded async jobs for Cases, Open Items, approvals and mail workflows.</a:t>
            </a:r>
          </a:p>
        </p:txBody>
      </p:sp>
      <p:sp>
        <p:nvSpPr>
          <p:cNvPr id="8" name="n-1">
            <a:extLst xmlns:a="http://schemas.openxmlformats.org/drawingml/2006/main">
              <a:ext uri="{FF2B5EF4-FFF2-40B4-BE49-F238E27FC236}">
                <a16:creationId xmlns:a16="http://schemas.microsoft.com/office/drawing/2014/main" id="{80C2E769-5951-4620-95E2-61563B797845}"/>
              </a:ext>
            </a:extLst>
          </p:cNvPr>
          <p:cNvSpPr>
            <a:spLocks xmlns:a="http://schemas.openxmlformats.org/drawingml/2006/main" noGrp="1"/>
          </p:cNvSpPr>
          <p:nvPr/>
        </p:nvSpPr>
        <p:spPr>
          <a:xfrm xmlns:a="http://schemas.openxmlformats.org/drawingml/2006/main">
            <a:off x="609600" y="3848100"/>
            <a:ext cx="571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02</a:t>
            </a:r>
          </a:p>
        </p:txBody>
      </p:sp>
      <p:sp>
        <p:nvSpPr>
          <p:cNvPr id="9" name="h-1">
            <a:extLst xmlns:a="http://schemas.openxmlformats.org/drawingml/2006/main">
              <a:ext uri="{FF2B5EF4-FFF2-40B4-BE49-F238E27FC236}">
                <a16:creationId xmlns:a16="http://schemas.microsoft.com/office/drawing/2014/main" id="{DF11F892-8723-406F-9215-94118822F299}"/>
              </a:ext>
            </a:extLst>
          </p:cNvPr>
          <p:cNvSpPr>
            <a:spLocks xmlns:a="http://schemas.openxmlformats.org/drawingml/2006/main" noGrp="1"/>
          </p:cNvSpPr>
          <p:nvPr/>
        </p:nvSpPr>
        <p:spPr>
          <a:xfrm xmlns:a="http://schemas.openxmlformats.org/drawingml/2006/main">
            <a:off x="1409700" y="3848100"/>
            <a:ext cx="790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AI assists within the workflow</a:t>
            </a:r>
          </a:p>
        </p:txBody>
      </p:sp>
      <p:sp>
        <p:nvSpPr>
          <p:cNvPr id="10" name="b-1">
            <a:extLst xmlns:a="http://schemas.openxmlformats.org/drawingml/2006/main">
              <a:ext uri="{FF2B5EF4-FFF2-40B4-BE49-F238E27FC236}">
                <a16:creationId xmlns:a16="http://schemas.microsoft.com/office/drawing/2014/main" id="{8C173AC2-18D7-45F0-852A-966BC93EAAD6}"/>
              </a:ext>
            </a:extLst>
          </p:cNvPr>
          <p:cNvSpPr>
            <a:spLocks xmlns:a="http://schemas.openxmlformats.org/drawingml/2006/main" noGrp="1"/>
          </p:cNvSpPr>
          <p:nvPr/>
        </p:nvSpPr>
        <p:spPr>
          <a:xfrm xmlns:a="http://schemas.openxmlformats.org/drawingml/2006/main">
            <a:off x="1409700" y="4229100"/>
            <a:ext cx="785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Spring AI calls Azure AI Foundry for intent, summaries, drafts and Playbooks. AMs approve actions.</a:t>
            </a:r>
          </a:p>
        </p:txBody>
      </p:sp>
      <p:sp>
        <p:nvSpPr>
          <p:cNvPr id="11" name="n-2">
            <a:extLst xmlns:a="http://schemas.openxmlformats.org/drawingml/2006/main">
              <a:ext uri="{FF2B5EF4-FFF2-40B4-BE49-F238E27FC236}">
                <a16:creationId xmlns:a16="http://schemas.microsoft.com/office/drawing/2014/main" id="{3D56A0CE-55C2-4A6B-895E-AFCBA5A49267}"/>
              </a:ext>
            </a:extLst>
          </p:cNvPr>
          <p:cNvSpPr>
            <a:spLocks xmlns:a="http://schemas.openxmlformats.org/drawingml/2006/main" noGrp="1"/>
          </p:cNvSpPr>
          <p:nvPr/>
        </p:nvSpPr>
        <p:spPr>
          <a:xfrm xmlns:a="http://schemas.openxmlformats.org/drawingml/2006/main">
            <a:off x="609600" y="4791075"/>
            <a:ext cx="571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03</a:t>
            </a:r>
          </a:p>
        </p:txBody>
      </p:sp>
      <p:sp>
        <p:nvSpPr>
          <p:cNvPr id="12" name="h-2">
            <a:extLst xmlns:a="http://schemas.openxmlformats.org/drawingml/2006/main">
              <a:ext uri="{FF2B5EF4-FFF2-40B4-BE49-F238E27FC236}">
                <a16:creationId xmlns:a16="http://schemas.microsoft.com/office/drawing/2014/main" id="{45E8C0AA-82CD-4897-A785-85E8D7A4388F}"/>
              </a:ext>
            </a:extLst>
          </p:cNvPr>
          <p:cNvSpPr>
            <a:spLocks xmlns:a="http://schemas.openxmlformats.org/drawingml/2006/main" noGrp="1"/>
          </p:cNvSpPr>
          <p:nvPr/>
        </p:nvSpPr>
        <p:spPr>
          <a:xfrm xmlns:a="http://schemas.openxmlformats.org/drawingml/2006/main">
            <a:off x="1409700" y="4791075"/>
            <a:ext cx="790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PostgreSQL owns durable state</a:t>
            </a:r>
          </a:p>
        </p:txBody>
      </p:sp>
      <p:sp>
        <p:nvSpPr>
          <p:cNvPr id="13" name="b-2">
            <a:extLst xmlns:a="http://schemas.openxmlformats.org/drawingml/2006/main">
              <a:ext uri="{FF2B5EF4-FFF2-40B4-BE49-F238E27FC236}">
                <a16:creationId xmlns:a16="http://schemas.microsoft.com/office/drawing/2014/main" id="{21F64295-D470-4A67-B5C1-A955101E81B8}"/>
              </a:ext>
            </a:extLst>
          </p:cNvPr>
          <p:cNvSpPr>
            <a:spLocks xmlns:a="http://schemas.openxmlformats.org/drawingml/2006/main" noGrp="1"/>
          </p:cNvSpPr>
          <p:nvPr/>
        </p:nvSpPr>
        <p:spPr>
          <a:xfrm xmlns:a="http://schemas.openxmlformats.org/drawingml/2006/main">
            <a:off x="1409700" y="5172075"/>
            <a:ext cx="785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Persist Cases, jobs and sessions. Transactions and idempotency protect business updates.</a:t>
            </a:r>
          </a:p>
        </p:txBody>
      </p:sp>
      <p:sp>
        <p:nvSpPr>
          <p:cNvPr id="14" name="n-3">
            <a:extLst xmlns:a="http://schemas.openxmlformats.org/drawingml/2006/main">
              <a:ext uri="{FF2B5EF4-FFF2-40B4-BE49-F238E27FC236}">
                <a16:creationId xmlns:a16="http://schemas.microsoft.com/office/drawing/2014/main" id="{27298665-FD9D-4153-BFF3-279B99132D7E}"/>
              </a:ext>
            </a:extLst>
          </p:cNvPr>
          <p:cNvSpPr>
            <a:spLocks xmlns:a="http://schemas.openxmlformats.org/drawingml/2006/main" noGrp="1"/>
          </p:cNvSpPr>
          <p:nvPr/>
        </p:nvSpPr>
        <p:spPr>
          <a:xfrm xmlns:a="http://schemas.openxmlformats.org/drawingml/2006/main">
            <a:off x="609600" y="5734050"/>
            <a:ext cx="571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04</a:t>
            </a:r>
          </a:p>
        </p:txBody>
      </p:sp>
      <p:sp>
        <p:nvSpPr>
          <p:cNvPr id="15" name="h-3">
            <a:extLst xmlns:a="http://schemas.openxmlformats.org/drawingml/2006/main">
              <a:ext uri="{FF2B5EF4-FFF2-40B4-BE49-F238E27FC236}">
                <a16:creationId xmlns:a16="http://schemas.microsoft.com/office/drawing/2014/main" id="{91EB7F62-F172-44C1-8E75-8027743C892C}"/>
              </a:ext>
            </a:extLst>
          </p:cNvPr>
          <p:cNvSpPr>
            <a:spLocks xmlns:a="http://schemas.openxmlformats.org/drawingml/2006/main" noGrp="1"/>
          </p:cNvSpPr>
          <p:nvPr/>
        </p:nvSpPr>
        <p:spPr>
          <a:xfrm xmlns:a="http://schemas.openxmlformats.org/drawingml/2006/main">
            <a:off x="1409700" y="5734050"/>
            <a:ext cx="790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Replicas recover unfinished work</a:t>
            </a:r>
          </a:p>
        </p:txBody>
      </p:sp>
      <p:sp>
        <p:nvSpPr>
          <p:cNvPr id="16" name="b-3">
            <a:extLst xmlns:a="http://schemas.openxmlformats.org/drawingml/2006/main">
              <a:ext uri="{FF2B5EF4-FFF2-40B4-BE49-F238E27FC236}">
                <a16:creationId xmlns:a16="http://schemas.microsoft.com/office/drawing/2014/main" id="{2084CE53-BFC2-4796-A886-6128A2DCCBAD}"/>
              </a:ext>
            </a:extLst>
          </p:cNvPr>
          <p:cNvSpPr>
            <a:spLocks xmlns:a="http://schemas.openxmlformats.org/drawingml/2006/main" noGrp="1"/>
          </p:cNvSpPr>
          <p:nvPr/>
        </p:nvSpPr>
        <p:spPr>
          <a:xfrm xmlns:a="http://schemas.openxmlformats.org/drawingml/2006/main">
            <a:off x="1409700" y="6115050"/>
            <a:ext cx="785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Replicas reclaim unfinished jobs using leases and fencing. The platform replaces failed instances.</a:t>
            </a:r>
          </a:p>
        </p:txBody>
      </p:sp>
      <p:sp>
        <p:nvSpPr>
          <p:cNvPr id="17" name="n-4">
            <a:extLst xmlns:a="http://schemas.openxmlformats.org/drawingml/2006/main">
              <a:ext uri="{FF2B5EF4-FFF2-40B4-BE49-F238E27FC236}">
                <a16:creationId xmlns:a16="http://schemas.microsoft.com/office/drawing/2014/main" id="{1A1571AF-A8DD-4111-84BC-15825B4AC7F3}"/>
              </a:ext>
            </a:extLst>
          </p:cNvPr>
          <p:cNvSpPr>
            <a:spLocks xmlns:a="http://schemas.openxmlformats.org/drawingml/2006/main" noGrp="1"/>
          </p:cNvSpPr>
          <p:nvPr/>
        </p:nvSpPr>
        <p:spPr>
          <a:xfrm xmlns:a="http://schemas.openxmlformats.org/drawingml/2006/main">
            <a:off x="609600" y="6677025"/>
            <a:ext cx="571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563EB"/>
                </a:solidFill>
                <a:latin typeface="Arial"/>
                <a:ea typeface="Arial"/>
                <a:cs typeface="Arial"/>
              </a:defRPr>
            </a:defPPr>
          </a:lstStyle>
          <a:p xmlns:a="http://schemas.openxmlformats.org/drawingml/2006/main">
            <a:pPr algn="l">
              <a:defRPr sz="2400" b="1">
                <a:solidFill>
                  <a:srgbClr val="2563EB"/>
                </a:solidFill>
                <a:latin typeface="Arial"/>
                <a:ea typeface="Arial"/>
                <a:cs typeface="Arial"/>
              </a:defRPr>
            </a:pPr>
            <a:r>
              <a:rPr sz="2400" b="1">
                <a:solidFill>
                  <a:srgbClr val="2563EB"/>
                </a:solidFill>
                <a:latin typeface="Arial"/>
                <a:ea typeface="Arial"/>
                <a:cs typeface="Arial"/>
              </a:rPr>
              <a:t>05</a:t>
            </a:r>
          </a:p>
        </p:txBody>
      </p:sp>
      <p:sp>
        <p:nvSpPr>
          <p:cNvPr id="18" name="h-4">
            <a:extLst xmlns:a="http://schemas.openxmlformats.org/drawingml/2006/main">
              <a:ext uri="{FF2B5EF4-FFF2-40B4-BE49-F238E27FC236}">
                <a16:creationId xmlns:a16="http://schemas.microsoft.com/office/drawing/2014/main" id="{863D4E4B-E0D0-4D98-8A31-95D1A716E287}"/>
              </a:ext>
            </a:extLst>
          </p:cNvPr>
          <p:cNvSpPr>
            <a:spLocks xmlns:a="http://schemas.openxmlformats.org/drawingml/2006/main" noGrp="1"/>
          </p:cNvSpPr>
          <p:nvPr/>
        </p:nvSpPr>
        <p:spPr>
          <a:xfrm xmlns:a="http://schemas.openxmlformats.org/drawingml/2006/main">
            <a:off x="1409700" y="6677025"/>
            <a:ext cx="7905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32B45"/>
                </a:solidFill>
                <a:latin typeface="Arial"/>
                <a:ea typeface="Arial"/>
                <a:cs typeface="Arial"/>
              </a:defRPr>
            </a:defPPr>
          </a:lstStyle>
          <a:p xmlns:a="http://schemas.openxmlformats.org/drawingml/2006/main">
            <a:pPr algn="l">
              <a:defRPr sz="2175" b="1">
                <a:solidFill>
                  <a:srgbClr val="132B45"/>
                </a:solidFill>
                <a:latin typeface="Arial"/>
                <a:ea typeface="Arial"/>
                <a:cs typeface="Arial"/>
              </a:defRPr>
            </a:pPr>
            <a:r>
              <a:rPr sz="2175" b="1">
                <a:solidFill>
                  <a:srgbClr val="132B45"/>
                </a:solidFill>
                <a:latin typeface="Arial"/>
                <a:ea typeface="Arial"/>
                <a:cs typeface="Arial"/>
              </a:rPr>
              <a:t>Okta roles, Java authorization</a:t>
            </a:r>
          </a:p>
        </p:txBody>
      </p:sp>
      <p:sp>
        <p:nvSpPr>
          <p:cNvPr id="19" name="b-4">
            <a:extLst xmlns:a="http://schemas.openxmlformats.org/drawingml/2006/main">
              <a:ext uri="{FF2B5EF4-FFF2-40B4-BE49-F238E27FC236}">
                <a16:creationId xmlns:a16="http://schemas.microsoft.com/office/drawing/2014/main" id="{85DDC0BB-9FE7-4742-84A9-C004F6DF60CF}"/>
              </a:ext>
            </a:extLst>
          </p:cNvPr>
          <p:cNvSpPr>
            <a:spLocks xmlns:a="http://schemas.openxmlformats.org/drawingml/2006/main" noGrp="1"/>
          </p:cNvSpPr>
          <p:nvPr/>
        </p:nvSpPr>
        <p:spPr>
          <a:xfrm xmlns:a="http://schemas.openxmlformats.org/drawingml/2006/main">
            <a:off x="1409700" y="7058025"/>
            <a:ext cx="7858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Okta owns role groups. Java enforces permissions and business group, region and customer data scopes.</a:t>
            </a:r>
          </a:p>
        </p:txBody>
      </p:sp>
      <p:sp>
        <p:nvSpPr>
          <p:cNvPr id="20" name="platform">
            <a:extLst xmlns:a="http://schemas.openxmlformats.org/drawingml/2006/main">
              <a:ext uri="{FF2B5EF4-FFF2-40B4-BE49-F238E27FC236}">
                <a16:creationId xmlns:a16="http://schemas.microsoft.com/office/drawing/2014/main" id="{2AB2E0E6-A6B0-4479-B4B1-6EFB992A5A05}"/>
              </a:ext>
            </a:extLst>
          </p:cNvPr>
          <p:cNvSpPr>
            <a:spLocks xmlns:a="http://schemas.openxmlformats.org/drawingml/2006/main" noGrp="1"/>
          </p:cNvSpPr>
          <p:nvPr/>
        </p:nvSpPr>
        <p:spPr>
          <a:xfrm xmlns:a="http://schemas.openxmlformats.org/drawingml/2006/main">
            <a:off x="10191750" y="301942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B45"/>
                </a:solidFill>
                <a:latin typeface="Arial"/>
                <a:ea typeface="Arial"/>
                <a:cs typeface="Arial"/>
              </a:defRPr>
            </a:defPPr>
          </a:lstStyle>
          <a:p xmlns:a="http://schemas.openxmlformats.org/drawingml/2006/main">
            <a:pPr algn="l">
              <a:defRPr sz="2325" b="1">
                <a:solidFill>
                  <a:srgbClr val="132B45"/>
                </a:solidFill>
                <a:latin typeface="Arial"/>
                <a:ea typeface="Arial"/>
                <a:cs typeface="Arial"/>
              </a:defRPr>
            </a:pPr>
            <a:r>
              <a:rPr sz="2325" b="1">
                <a:solidFill>
                  <a:srgbClr val="132B45"/>
                </a:solidFill>
                <a:latin typeface="Arial"/>
                <a:ea typeface="Arial"/>
                <a:cs typeface="Arial"/>
              </a:rPr>
              <a:t>Platform integrations</a:t>
            </a:r>
          </a:p>
        </p:txBody>
      </p:sp>
      <p:sp>
        <p:nvSpPr>
          <p:cNvPr id="21" name="platform-list">
            <a:extLst xmlns:a="http://schemas.openxmlformats.org/drawingml/2006/main">
              <a:ext uri="{FF2B5EF4-FFF2-40B4-BE49-F238E27FC236}">
                <a16:creationId xmlns:a16="http://schemas.microsoft.com/office/drawing/2014/main" id="{2505D828-8A29-46E3-ADC7-18D95A022B2F}"/>
              </a:ext>
            </a:extLst>
          </p:cNvPr>
          <p:cNvSpPr>
            <a:spLocks xmlns:a="http://schemas.openxmlformats.org/drawingml/2006/main" noGrp="1"/>
          </p:cNvSpPr>
          <p:nvPr/>
        </p:nvSpPr>
        <p:spPr>
          <a:xfrm xmlns:a="http://schemas.openxmlformats.org/drawingml/2006/main">
            <a:off x="10191750" y="3581400"/>
            <a:ext cx="43815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Okta SSO, MFA and role groups</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Entra ID for Graph authorization</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Microsoft Graph for Outlook</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Azure Monitor and App Insights</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GitHub Actions for CI/CD</a:t>
            </a:r>
          </a:p>
        </p:txBody>
      </p:sp>
      <p:sp>
        <p:nvSpPr>
          <p:cNvPr id="22" name="delivery">
            <a:extLst xmlns:a="http://schemas.openxmlformats.org/drawingml/2006/main">
              <a:ext uri="{FF2B5EF4-FFF2-40B4-BE49-F238E27FC236}">
                <a16:creationId xmlns:a16="http://schemas.microsoft.com/office/drawing/2014/main" id="{08586E99-EC42-46F7-B8D9-E645BAE16697}"/>
              </a:ext>
            </a:extLst>
          </p:cNvPr>
          <p:cNvSpPr>
            <a:spLocks xmlns:a="http://schemas.openxmlformats.org/drawingml/2006/main" noGrp="1"/>
          </p:cNvSpPr>
          <p:nvPr/>
        </p:nvSpPr>
        <p:spPr>
          <a:xfrm xmlns:a="http://schemas.openxmlformats.org/drawingml/2006/main">
            <a:off x="10191750" y="5953125"/>
            <a:ext cx="4286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B45"/>
                </a:solidFill>
                <a:latin typeface="Arial"/>
                <a:ea typeface="Arial"/>
                <a:cs typeface="Arial"/>
              </a:defRPr>
            </a:defPPr>
          </a:lstStyle>
          <a:p xmlns:a="http://schemas.openxmlformats.org/drawingml/2006/main">
            <a:pPr algn="l">
              <a:defRPr sz="2325" b="1">
                <a:solidFill>
                  <a:srgbClr val="132B45"/>
                </a:solidFill>
                <a:latin typeface="Arial"/>
                <a:ea typeface="Arial"/>
                <a:cs typeface="Arial"/>
              </a:defRPr>
            </a:pPr>
            <a:r>
              <a:rPr sz="2325" b="1">
                <a:solidFill>
                  <a:srgbClr val="132B45"/>
                </a:solidFill>
                <a:latin typeface="Arial"/>
                <a:ea typeface="Arial"/>
                <a:cs typeface="Arial"/>
              </a:rPr>
              <a:t>Delivery priorities</a:t>
            </a:r>
          </a:p>
        </p:txBody>
      </p:sp>
      <p:sp>
        <p:nvSpPr>
          <p:cNvPr id="23" name="delivery-body">
            <a:extLst xmlns:a="http://schemas.openxmlformats.org/drawingml/2006/main">
              <a:ext uri="{FF2B5EF4-FFF2-40B4-BE49-F238E27FC236}">
                <a16:creationId xmlns:a16="http://schemas.microsoft.com/office/drawing/2014/main" id="{F3660663-FF02-4003-B962-F37D23201866}"/>
              </a:ext>
            </a:extLst>
          </p:cNvPr>
          <p:cNvSpPr>
            <a:spLocks xmlns:a="http://schemas.openxmlformats.org/drawingml/2006/main" noGrp="1"/>
          </p:cNvSpPr>
          <p:nvPr/>
        </p:nvSpPr>
        <p:spPr>
          <a:xfrm xmlns:a="http://schemas.openxmlformats.org/drawingml/2006/main">
            <a:off x="10191750" y="6505575"/>
            <a:ext cx="4381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56677A"/>
                </a:solidFill>
                <a:latin typeface="Arial"/>
                <a:ea typeface="Arial"/>
                <a:cs typeface="Arial"/>
              </a:defRPr>
            </a:defPPr>
          </a:lstStyle>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Two-week FSD and UX design</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Three-week Java feature build</a:t>
            </a:r>
          </a:p>
          <a:p xmlns:a="http://schemas.openxmlformats.org/drawingml/2006/main">
            <a:pPr algn="l">
              <a:defRPr sz="1950" b="0">
                <a:solidFill>
                  <a:srgbClr val="56677A"/>
                </a:solidFill>
                <a:latin typeface="Arial"/>
                <a:ea typeface="Arial"/>
                <a:cs typeface="Arial"/>
              </a:defRPr>
            </a:pPr>
            <a:r>
              <a:rPr sz="1950" b="0">
                <a:solidFill>
                  <a:srgbClr val="56677A"/>
                </a:solidFill>
                <a:latin typeface="Arial"/>
                <a:ea typeface="Arial"/>
                <a:cs typeface="Arial"/>
              </a:rPr>
              <a:t>Protected tuning and independent QA</a:t>
            </a:r>
          </a:p>
        </p:txBody>
      </p:sp>
    </p:spTree>
    <p:extLst>
      <p:ext uri="{BB962C8B-B14F-4D97-AF65-F5344CB8AC3E}">
        <p14:creationId xmlns:p14="http://schemas.microsoft.com/office/powerpoint/2010/main" val="92542309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82C929B2-D1FE-44DF-8E81-51582E900175}"/>
              </a:ext>
            </a:extLst>
          </p:cNvPr>
          <p:cNvCxnSpPr>
            <a:stCxn xmlns:a="http://schemas.openxmlformats.org/drawingml/2006/main" id="23" idx="3"/>
            <a:endCxn xmlns:a="http://schemas.openxmlformats.org/drawingml/2006/main" id="24" idx="1"/>
          </p:cNvCxnSpPr>
          <p:nvPr/>
        </p:nvCxnSpPr>
        <p:spPr>
          <a:xfrm xmlns:a="http://schemas.openxmlformats.org/drawingml/2006/main">
            <a:off x="11858625" y="5915025"/>
            <a:ext cx="428625" cy="0"/>
          </a:xfrm>
          <a:prstGeom xmlns:a="http://schemas.openxmlformats.org/drawingml/2006/main" prst="straightConnector1">
            <a:avLst/>
          </a:prstGeom>
          <a:ln xmlns:a="http://schemas.openxmlformats.org/drawingml/2006/main" w="23813">
            <a:solidFill>
              <a:srgbClr val="0891B2"/>
            </a:solidFill>
            <a:prstDash val="solid"/>
            <a:tailEnd type="arrow" w="med" len="med"/>
          </a:ln>
        </p:spPr>
      </p:cxnSp>
      <p:cxnSp>
        <p:nvCxnSpPr>
          <p:cNvPr id="26" name="">
            <a:extLst xmlns:a="http://schemas.openxmlformats.org/drawingml/2006/main">
              <a:ext uri="{FF2B5EF4-FFF2-40B4-BE49-F238E27FC236}">
                <a16:creationId xmlns:a16="http://schemas.microsoft.com/office/drawing/2014/main" id="{21361021-02A2-440D-A7AE-B2E9CBEC313F}"/>
              </a:ext>
            </a:extLst>
          </p:cNvPr>
          <p:cNvCxnSpPr>
            <a:stCxn xmlns:a="http://schemas.openxmlformats.org/drawingml/2006/main" id="22" idx="3"/>
            <a:endCxn xmlns:a="http://schemas.openxmlformats.org/drawingml/2006/main" id="23" idx="1"/>
          </p:cNvCxnSpPr>
          <p:nvPr/>
        </p:nvCxnSpPr>
        <p:spPr>
          <a:xfrm xmlns:a="http://schemas.openxmlformats.org/drawingml/2006/main">
            <a:off x="9191625" y="5915025"/>
            <a:ext cx="428625" cy="0"/>
          </a:xfrm>
          <a:prstGeom xmlns:a="http://schemas.openxmlformats.org/drawingml/2006/main" prst="straightConnector1">
            <a:avLst/>
          </a:prstGeom>
          <a:ln xmlns:a="http://schemas.openxmlformats.org/drawingml/2006/main" w="23813">
            <a:solidFill>
              <a:srgbClr val="2563EB"/>
            </a:solidFill>
            <a:prstDash val="solid"/>
            <a:tailEnd type="arrow" w="med" len="med"/>
          </a:ln>
        </p:spPr>
      </p:cxnSp>
      <p:cxnSp>
        <p:nvCxnSpPr>
          <p:cNvPr id="25" name="">
            <a:extLst xmlns:a="http://schemas.openxmlformats.org/drawingml/2006/main">
              <a:ext uri="{FF2B5EF4-FFF2-40B4-BE49-F238E27FC236}">
                <a16:creationId xmlns:a16="http://schemas.microsoft.com/office/drawing/2014/main" id="{E7B71F08-10C2-4359-9ED6-F46409573EE9}"/>
              </a:ext>
            </a:extLst>
          </p:cNvPr>
          <p:cNvCxnSpPr>
            <a:stCxn xmlns:a="http://schemas.openxmlformats.org/drawingml/2006/main" id="7" idx="2"/>
            <a:endCxn xmlns:a="http://schemas.openxmlformats.org/drawingml/2006/main" id="22" idx="0"/>
          </p:cNvCxnSpPr>
          <p:nvPr/>
        </p:nvCxnSpPr>
        <p:spPr>
          <a:xfrm xmlns:a="http://schemas.openxmlformats.org/drawingml/2006/main" flipH="1">
            <a:off x="8072438" y="3676650"/>
            <a:ext cx="690563" cy="1524000"/>
          </a:xfrm>
          <a:prstGeom xmlns:a="http://schemas.openxmlformats.org/drawingml/2006/main" prst="bentConnector4">
            <a:avLst>
              <a:gd name="adj1" fmla="val 0"/>
              <a:gd name="adj2" fmla="val 50000"/>
            </a:avLst>
          </a:prstGeom>
          <a:ln xmlns:a="http://schemas.openxmlformats.org/drawingml/2006/main" w="23813">
            <a:solidFill>
              <a:srgbClr val="EA580C"/>
            </a:solidFill>
            <a:prstDash val="solid"/>
            <a:tailEnd type="arrow" w="med" len="med"/>
          </a:ln>
        </p:spPr>
      </p:cxnSp>
      <p:cxnSp>
        <p:nvCxnSpPr>
          <p:cNvPr id="20" name="">
            <a:extLst xmlns:a="http://schemas.openxmlformats.org/drawingml/2006/main">
              <a:ext uri="{FF2B5EF4-FFF2-40B4-BE49-F238E27FC236}">
                <a16:creationId xmlns:a16="http://schemas.microsoft.com/office/drawing/2014/main" id="{998F8435-C60C-438A-AE31-84F9141F0BFC}"/>
              </a:ext>
            </a:extLst>
          </p:cNvPr>
          <p:cNvCxnSpPr>
            <a:stCxn xmlns:a="http://schemas.openxmlformats.org/drawingml/2006/main" id="18" idx="0"/>
            <a:endCxn xmlns:a="http://schemas.openxmlformats.org/drawingml/2006/main" id="5" idx="2"/>
          </p:cNvCxnSpPr>
          <p:nvPr/>
        </p:nvCxnSpPr>
        <p:spPr>
          <a:xfrm xmlns:a="http://schemas.openxmlformats.org/drawingml/2006/main" flipH="1" flipV="1">
            <a:off x="4019550" y="3676650"/>
            <a:ext cx="838200" cy="1524000"/>
          </a:xfrm>
          <a:prstGeom xmlns:a="http://schemas.openxmlformats.org/drawingml/2006/main" prst="bentConnector4">
            <a:avLst>
              <a:gd name="adj1" fmla="val 0"/>
              <a:gd name="adj2" fmla="val 50000"/>
            </a:avLst>
          </a:prstGeom>
          <a:ln xmlns:a="http://schemas.openxmlformats.org/drawingml/2006/main" w="23813">
            <a:solidFill>
              <a:srgbClr val="7C3AED"/>
            </a:solidFill>
            <a:prstDash val="solid"/>
            <a:tailEnd type="arrow" w="med" len="med"/>
          </a:ln>
        </p:spPr>
      </p:cxnSp>
      <p:cxnSp>
        <p:nvCxnSpPr>
          <p:cNvPr id="19" name="">
            <a:extLst xmlns:a="http://schemas.openxmlformats.org/drawingml/2006/main">
              <a:ext uri="{FF2B5EF4-FFF2-40B4-BE49-F238E27FC236}">
                <a16:creationId xmlns:a16="http://schemas.microsoft.com/office/drawing/2014/main" id="{746ECCAA-E093-4002-9B6F-18857C1F7FD1}"/>
              </a:ext>
            </a:extLst>
          </p:cNvPr>
          <p:cNvCxnSpPr>
            <a:stCxn xmlns:a="http://schemas.openxmlformats.org/drawingml/2006/main" id="17" idx="3"/>
            <a:endCxn xmlns:a="http://schemas.openxmlformats.org/drawingml/2006/main" id="18" idx="1"/>
          </p:cNvCxnSpPr>
          <p:nvPr/>
        </p:nvCxnSpPr>
        <p:spPr>
          <a:xfrm xmlns:a="http://schemas.openxmlformats.org/drawingml/2006/main">
            <a:off x="3086100" y="5915025"/>
            <a:ext cx="533400" cy="0"/>
          </a:xfrm>
          <a:prstGeom xmlns:a="http://schemas.openxmlformats.org/drawingml/2006/main" prst="straightConnector1">
            <a:avLst/>
          </a:prstGeom>
          <a:ln xmlns:a="http://schemas.openxmlformats.org/drawingml/2006/main" w="23813">
            <a:solidFill>
              <a:srgbClr val="7C3AED"/>
            </a:solidFill>
            <a:prstDash val="solid"/>
            <a:tailEnd type="arrow" w="med" len="med"/>
          </a:ln>
        </p:spPr>
      </p:cxnSp>
      <p:cxnSp>
        <p:nvCxnSpPr>
          <p:cNvPr id="14" name="">
            <a:extLst xmlns:a="http://schemas.openxmlformats.org/drawingml/2006/main">
              <a:ext uri="{FF2B5EF4-FFF2-40B4-BE49-F238E27FC236}">
                <a16:creationId xmlns:a16="http://schemas.microsoft.com/office/drawing/2014/main" id="{9CDF2364-8485-49F7-91DE-D0259AE30D5E}"/>
              </a:ext>
            </a:extLst>
          </p:cNvPr>
          <p:cNvCxnSpPr>
            <a:stCxn xmlns:a="http://schemas.openxmlformats.org/drawingml/2006/main" id="8" idx="3"/>
            <a:endCxn xmlns:a="http://schemas.openxmlformats.org/drawingml/2006/main" id="9" idx="1"/>
          </p:cNvCxnSpPr>
          <p:nvPr/>
        </p:nvCxnSpPr>
        <p:spPr>
          <a:xfrm xmlns:a="http://schemas.openxmlformats.org/drawingml/2006/main">
            <a:off x="12172950"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3" name="">
            <a:extLst xmlns:a="http://schemas.openxmlformats.org/drawingml/2006/main">
              <a:ext uri="{FF2B5EF4-FFF2-40B4-BE49-F238E27FC236}">
                <a16:creationId xmlns:a16="http://schemas.microsoft.com/office/drawing/2014/main" id="{C6ADF8CE-106B-485B-B0E5-2BE21322F2A3}"/>
              </a:ext>
            </a:extLst>
          </p:cNvPr>
          <p:cNvCxnSpPr>
            <a:stCxn xmlns:a="http://schemas.openxmlformats.org/drawingml/2006/main" id="7" idx="3"/>
            <a:endCxn xmlns:a="http://schemas.openxmlformats.org/drawingml/2006/main" id="8" idx="1"/>
          </p:cNvCxnSpPr>
          <p:nvPr/>
        </p:nvCxnSpPr>
        <p:spPr>
          <a:xfrm xmlns:a="http://schemas.openxmlformats.org/drawingml/2006/main">
            <a:off x="9801225"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2" name="">
            <a:extLst xmlns:a="http://schemas.openxmlformats.org/drawingml/2006/main">
              <a:ext uri="{FF2B5EF4-FFF2-40B4-BE49-F238E27FC236}">
                <a16:creationId xmlns:a16="http://schemas.microsoft.com/office/drawing/2014/main" id="{F81219B4-436A-450D-9DF7-EE0D7AB32775}"/>
              </a:ext>
            </a:extLst>
          </p:cNvPr>
          <p:cNvCxnSpPr>
            <a:stCxn xmlns:a="http://schemas.openxmlformats.org/drawingml/2006/main" id="6" idx="3"/>
            <a:endCxn xmlns:a="http://schemas.openxmlformats.org/drawingml/2006/main" id="7" idx="1"/>
          </p:cNvCxnSpPr>
          <p:nvPr/>
        </p:nvCxnSpPr>
        <p:spPr>
          <a:xfrm xmlns:a="http://schemas.openxmlformats.org/drawingml/2006/main">
            <a:off x="7429500"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1" name="">
            <a:extLst xmlns:a="http://schemas.openxmlformats.org/drawingml/2006/main">
              <a:ext uri="{FF2B5EF4-FFF2-40B4-BE49-F238E27FC236}">
                <a16:creationId xmlns:a16="http://schemas.microsoft.com/office/drawing/2014/main" id="{58B06EAD-96D4-480B-AEA8-CDB5CBCEB4C9}"/>
              </a:ext>
            </a:extLst>
          </p:cNvPr>
          <p:cNvCxnSpPr>
            <a:stCxn xmlns:a="http://schemas.openxmlformats.org/drawingml/2006/main" id="5" idx="3"/>
            <a:endCxn xmlns:a="http://schemas.openxmlformats.org/drawingml/2006/main" id="6" idx="1"/>
          </p:cNvCxnSpPr>
          <p:nvPr/>
        </p:nvCxnSpPr>
        <p:spPr>
          <a:xfrm xmlns:a="http://schemas.openxmlformats.org/drawingml/2006/main">
            <a:off x="5057775"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cxnSp>
        <p:nvCxnSpPr>
          <p:cNvPr id="10" name="">
            <a:extLst xmlns:a="http://schemas.openxmlformats.org/drawingml/2006/main">
              <a:ext uri="{FF2B5EF4-FFF2-40B4-BE49-F238E27FC236}">
                <a16:creationId xmlns:a16="http://schemas.microsoft.com/office/drawing/2014/main" id="{AD2516A6-1DF1-4426-A794-600F87BA2C62}"/>
              </a:ext>
            </a:extLst>
          </p:cNvPr>
          <p:cNvCxnSpPr>
            <a:stCxn xmlns:a="http://schemas.openxmlformats.org/drawingml/2006/main" id="4" idx="3"/>
            <a:endCxn xmlns:a="http://schemas.openxmlformats.org/drawingml/2006/main" id="5" idx="1"/>
          </p:cNvCxnSpPr>
          <p:nvPr/>
        </p:nvCxnSpPr>
        <p:spPr>
          <a:xfrm xmlns:a="http://schemas.openxmlformats.org/drawingml/2006/main">
            <a:off x="2686050" y="2924175"/>
            <a:ext cx="295275" cy="0"/>
          </a:xfrm>
          <a:prstGeom xmlns:a="http://schemas.openxmlformats.org/drawingml/2006/main" prst="straightConnector1">
            <a:avLst/>
          </a:prstGeom>
          <a:ln xmlns:a="http://schemas.openxmlformats.org/drawingml/2006/main" w="23813">
            <a:solidFill>
              <a:srgbClr val="16A34A"/>
            </a:solidFill>
            <a:prstDash val="solid"/>
            <a:tailEnd type="arrow" w="med" len="med"/>
          </a:ln>
        </p:spPr>
      </p:cxnSp>
      <p:sp>
        <p:nvSpPr>
          <p:cNvPr id="30" name="title">
            <a:extLst xmlns:a="http://schemas.openxmlformats.org/drawingml/2006/main">
              <a:ext uri="{FF2B5EF4-FFF2-40B4-BE49-F238E27FC236}">
                <a16:creationId xmlns:a16="http://schemas.microsoft.com/office/drawing/2014/main" id="{21DE2603-A5C5-4D97-946C-CE9C1F7E805A}"/>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Logical Component Flow</a:t>
            </a:r>
          </a:p>
        </p:txBody>
      </p:sp>
      <p:sp>
        <p:nvSpPr>
          <p:cNvPr id="2" name="page">
            <a:extLst xmlns:a="http://schemas.openxmlformats.org/drawingml/2006/main">
              <a:ext uri="{FF2B5EF4-FFF2-40B4-BE49-F238E27FC236}">
                <a16:creationId xmlns:a16="http://schemas.microsoft.com/office/drawing/2014/main" id="{579A8990-A282-456F-9919-D4BFA4549661}"/>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3 / 5</a:t>
            </a:r>
          </a:p>
        </p:txBody>
      </p:sp>
      <p:sp>
        <p:nvSpPr>
          <p:cNvPr id="3" name="caption">
            <a:extLst xmlns:a="http://schemas.openxmlformats.org/drawingml/2006/main">
              <a:ext uri="{FF2B5EF4-FFF2-40B4-BE49-F238E27FC236}">
                <a16:creationId xmlns:a16="http://schemas.microsoft.com/office/drawing/2014/main" id="{D173EC6E-2AE5-4E83-B233-BE1650204E00}"/>
              </a:ext>
            </a:extLst>
          </p:cNvPr>
          <p:cNvSpPr>
            <a:spLocks xmlns:a="http://schemas.openxmlformats.org/drawingml/2006/main" noGrp="1"/>
          </p:cNvSpPr>
          <p:nvPr/>
        </p:nvSpPr>
        <p:spPr>
          <a:xfrm xmlns:a="http://schemas.openxmlformats.org/drawingml/2006/main">
            <a:off x="609600" y="1238250"/>
            <a:ext cx="1390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The numbered path turns incoming email into visible, trackable customer work.</a:t>
            </a:r>
          </a:p>
        </p:txBody>
      </p:sp>
      <p:sp>
        <p:nvSpPr>
          <p:cNvPr id="4" name="sync">
            <a:extLst xmlns:a="http://schemas.openxmlformats.org/drawingml/2006/main">
              <a:ext uri="{FF2B5EF4-FFF2-40B4-BE49-F238E27FC236}">
                <a16:creationId xmlns:a16="http://schemas.microsoft.com/office/drawing/2014/main" id="{F494DDA8-FBAE-4632-9F92-74C8ADB8B1D2}"/>
              </a:ext>
            </a:extLst>
          </p:cNvPr>
          <p:cNvSpPr>
            <a:spLocks xmlns:a="http://schemas.openxmlformats.org/drawingml/2006/main" noGrp="1"/>
          </p:cNvSpPr>
          <p:nvPr/>
        </p:nvSpPr>
        <p:spPr>
          <a:xfrm xmlns:a="http://schemas.openxmlformats.org/drawingml/2006/main">
            <a:off x="609600" y="2171700"/>
            <a:ext cx="2076450" cy="1504950"/>
          </a:xfrm>
          <a:prstGeom xmlns:a="http://schemas.openxmlformats.org/drawingml/2006/main" prst="roundRect">
            <a:avLst>
              <a:gd name="adj" fmla="val 6329"/>
            </a:avLst>
          </a:prstGeom>
          <a:solidFill xmlns:a="http://schemas.openxmlformats.org/drawingml/2006/main">
            <a:srgbClr val="CFFAFE"/>
          </a:solidFill>
          <a:ln xmlns:a="http://schemas.openxmlformats.org/drawingml/2006/main" w="19050">
            <a:solidFill>
              <a:srgbClr val="0891B2"/>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01  Mail sync</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Collect and</a:t>
            </a:r>
            <a:br>
              <a:rPr sz="1800">
                <a:solidFill>
                  <a:srgbClr val="132B45"/>
                </a:solidFill>
                <a:latin typeface="Arial"/>
                <a:ea typeface="Arial"/>
                <a:cs typeface="Arial"/>
              </a:rPr>
            </a:br>
            <a:r>
              <a:rPr sz="1800">
                <a:solidFill>
                  <a:srgbClr val="132B45"/>
                </a:solidFill>
                <a:latin typeface="Arial"/>
                <a:ea typeface="Arial"/>
                <a:cs typeface="Arial"/>
              </a:rPr>
              <a:t>deduplicate emails</a:t>
            </a:r>
          </a:p>
        </p:txBody>
      </p:sp>
      <p:sp>
        <p:nvSpPr>
          <p:cNvPr id="5" name="intent">
            <a:extLst xmlns:a="http://schemas.openxmlformats.org/drawingml/2006/main">
              <a:ext uri="{FF2B5EF4-FFF2-40B4-BE49-F238E27FC236}">
                <a16:creationId xmlns:a16="http://schemas.microsoft.com/office/drawing/2014/main" id="{E5CA06D3-B2DA-42CA-8BB8-CA7EB6261D45}"/>
              </a:ext>
            </a:extLst>
          </p:cNvPr>
          <p:cNvSpPr>
            <a:spLocks xmlns:a="http://schemas.openxmlformats.org/drawingml/2006/main" noGrp="1"/>
          </p:cNvSpPr>
          <p:nvPr/>
        </p:nvSpPr>
        <p:spPr>
          <a:xfrm xmlns:a="http://schemas.openxmlformats.org/drawingml/2006/main">
            <a:off x="2981325"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02  Understand</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Customer, intent</a:t>
            </a:r>
            <a:br>
              <a:rPr sz="1800">
                <a:solidFill>
                  <a:srgbClr val="132B45"/>
                </a:solidFill>
                <a:latin typeface="Arial"/>
                <a:ea typeface="Arial"/>
                <a:cs typeface="Arial"/>
              </a:rPr>
            </a:br>
            <a:r>
              <a:rPr sz="1800">
                <a:solidFill>
                  <a:srgbClr val="132B45"/>
                </a:solidFill>
                <a:latin typeface="Arial"/>
                <a:ea typeface="Arial"/>
                <a:cs typeface="Arial"/>
              </a:rPr>
              <a:t>and candidate Case</a:t>
            </a:r>
          </a:p>
        </p:txBody>
      </p:sp>
      <p:sp>
        <p:nvSpPr>
          <p:cNvPr id="6" name="triage">
            <a:extLst xmlns:a="http://schemas.openxmlformats.org/drawingml/2006/main">
              <a:ext uri="{FF2B5EF4-FFF2-40B4-BE49-F238E27FC236}">
                <a16:creationId xmlns:a16="http://schemas.microsoft.com/office/drawing/2014/main" id="{697F1A60-B08E-4D27-BF93-FE0BB905D563}"/>
              </a:ext>
            </a:extLst>
          </p:cNvPr>
          <p:cNvSpPr>
            <a:spLocks xmlns:a="http://schemas.openxmlformats.org/drawingml/2006/main" noGrp="1"/>
          </p:cNvSpPr>
          <p:nvPr/>
        </p:nvSpPr>
        <p:spPr>
          <a:xfrm xmlns:a="http://schemas.openxmlformats.org/drawingml/2006/main">
            <a:off x="5353050"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03  Triage review</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AM confirms</a:t>
            </a:r>
            <a:br>
              <a:rPr sz="1800">
                <a:solidFill>
                  <a:srgbClr val="132B45"/>
                </a:solidFill>
                <a:latin typeface="Arial"/>
                <a:ea typeface="Arial"/>
                <a:cs typeface="Arial"/>
              </a:rPr>
            </a:br>
            <a:r>
              <a:rPr sz="1800">
                <a:solidFill>
                  <a:srgbClr val="132B45"/>
                </a:solidFill>
                <a:latin typeface="Arial"/>
                <a:ea typeface="Arial"/>
                <a:cs typeface="Arial"/>
              </a:rPr>
              <a:t>Create / Link / Ignore</a:t>
            </a:r>
          </a:p>
        </p:txBody>
      </p:sp>
      <p:sp>
        <p:nvSpPr>
          <p:cNvPr id="7" name="case">
            <a:extLst xmlns:a="http://schemas.openxmlformats.org/drawingml/2006/main">
              <a:ext uri="{FF2B5EF4-FFF2-40B4-BE49-F238E27FC236}">
                <a16:creationId xmlns:a16="http://schemas.microsoft.com/office/drawing/2014/main" id="{B7D233FD-FAC8-4C74-865C-F8319C3A336A}"/>
              </a:ext>
            </a:extLst>
          </p:cNvPr>
          <p:cNvSpPr>
            <a:spLocks xmlns:a="http://schemas.openxmlformats.org/drawingml/2006/main" noGrp="1"/>
          </p:cNvSpPr>
          <p:nvPr/>
        </p:nvSpPr>
        <p:spPr>
          <a:xfrm xmlns:a="http://schemas.openxmlformats.org/drawingml/2006/main">
            <a:off x="7724775"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  Case tracking</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Owners, stage</a:t>
            </a:r>
            <a:br>
              <a:rPr sz="1800">
                <a:solidFill>
                  <a:srgbClr val="132B45"/>
                </a:solidFill>
                <a:latin typeface="Arial"/>
                <a:ea typeface="Arial"/>
                <a:cs typeface="Arial"/>
              </a:rPr>
            </a:br>
            <a:r>
              <a:rPr sz="1800">
                <a:solidFill>
                  <a:srgbClr val="132B45"/>
                </a:solidFill>
                <a:latin typeface="Arial"/>
                <a:ea typeface="Arial"/>
                <a:cs typeface="Arial"/>
              </a:rPr>
              <a:t>and Open Items</a:t>
            </a:r>
          </a:p>
        </p:txBody>
      </p:sp>
      <p:sp>
        <p:nvSpPr>
          <p:cNvPr id="8" name="overview">
            <a:extLst xmlns:a="http://schemas.openxmlformats.org/drawingml/2006/main">
              <a:ext uri="{FF2B5EF4-FFF2-40B4-BE49-F238E27FC236}">
                <a16:creationId xmlns:a16="http://schemas.microsoft.com/office/drawing/2014/main" id="{3EC45513-F6FB-4AE9-929D-6B424A87EBE4}"/>
              </a:ext>
            </a:extLst>
          </p:cNvPr>
          <p:cNvSpPr>
            <a:spLocks xmlns:a="http://schemas.openxmlformats.org/drawingml/2006/main" noGrp="1"/>
          </p:cNvSpPr>
          <p:nvPr/>
        </p:nvSpPr>
        <p:spPr>
          <a:xfrm xmlns:a="http://schemas.openxmlformats.org/drawingml/2006/main">
            <a:off x="10096500" y="2171700"/>
            <a:ext cx="2076450" cy="1504950"/>
          </a:xfrm>
          <a:prstGeom xmlns:a="http://schemas.openxmlformats.org/drawingml/2006/main" prst="roundRect">
            <a:avLst>
              <a:gd name="adj" fmla="val 6329"/>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05  Overview</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Customer status</a:t>
            </a:r>
            <a:br>
              <a:rPr sz="1800">
                <a:solidFill>
                  <a:srgbClr val="132B45"/>
                </a:solidFill>
                <a:latin typeface="Arial"/>
                <a:ea typeface="Arial"/>
                <a:cs typeface="Arial"/>
              </a:rPr>
            </a:br>
            <a:r>
              <a:rPr sz="1800">
                <a:solidFill>
                  <a:srgbClr val="132B45"/>
                </a:solidFill>
                <a:latin typeface="Arial"/>
                <a:ea typeface="Arial"/>
                <a:cs typeface="Arial"/>
              </a:rPr>
              <a:t>and next actions</a:t>
            </a:r>
          </a:p>
        </p:txBody>
      </p:sp>
      <p:sp>
        <p:nvSpPr>
          <p:cNvPr id="9" name="progress">
            <a:extLst xmlns:a="http://schemas.openxmlformats.org/drawingml/2006/main">
              <a:ext uri="{FF2B5EF4-FFF2-40B4-BE49-F238E27FC236}">
                <a16:creationId xmlns:a16="http://schemas.microsoft.com/office/drawing/2014/main" id="{9D51B2B9-3EE8-4FCF-9A58-A55A47535D18}"/>
              </a:ext>
            </a:extLst>
          </p:cNvPr>
          <p:cNvSpPr>
            <a:spLocks xmlns:a="http://schemas.openxmlformats.org/drawingml/2006/main" noGrp="1"/>
          </p:cNvSpPr>
          <p:nvPr/>
        </p:nvSpPr>
        <p:spPr>
          <a:xfrm xmlns:a="http://schemas.openxmlformats.org/drawingml/2006/main">
            <a:off x="12468225" y="2171700"/>
            <a:ext cx="2076450" cy="1504950"/>
          </a:xfrm>
          <a:prstGeom xmlns:a="http://schemas.openxmlformats.org/drawingml/2006/main" prst="roundRect">
            <a:avLst>
              <a:gd name="adj" fmla="val 6329"/>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06  Progress</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Record updates</a:t>
            </a:r>
            <a:br>
              <a:rPr sz="1800">
                <a:solidFill>
                  <a:srgbClr val="132B45"/>
                </a:solidFill>
                <a:latin typeface="Arial"/>
                <a:ea typeface="Arial"/>
                <a:cs typeface="Arial"/>
              </a:rPr>
            </a:br>
            <a:r>
              <a:rPr sz="1800">
                <a:solidFill>
                  <a:srgbClr val="132B45"/>
                </a:solidFill>
                <a:latin typeface="Arial"/>
                <a:ea typeface="Arial"/>
                <a:cs typeface="Arial"/>
              </a:rPr>
              <a:t>Complete / reopen</a:t>
            </a:r>
          </a:p>
        </p:txBody>
      </p:sp>
      <p:sp>
        <p:nvSpPr>
          <p:cNvPr id="15" name="mail-input">
            <a:extLst xmlns:a="http://schemas.openxmlformats.org/drawingml/2006/main">
              <a:ext uri="{FF2B5EF4-FFF2-40B4-BE49-F238E27FC236}">
                <a16:creationId xmlns:a16="http://schemas.microsoft.com/office/drawing/2014/main" id="{898B1138-931A-47D0-80FE-9524B4C79F35}"/>
              </a:ext>
            </a:extLst>
          </p:cNvPr>
          <p:cNvSpPr>
            <a:spLocks xmlns:a="http://schemas.openxmlformats.org/drawingml/2006/main" noGrp="1"/>
          </p:cNvSpPr>
          <p:nvPr/>
        </p:nvSpPr>
        <p:spPr>
          <a:xfrm xmlns:a="http://schemas.openxmlformats.org/drawingml/2006/main">
            <a:off x="609600" y="1771650"/>
            <a:ext cx="2076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725" b="1">
                <a:solidFill>
                  <a:srgbClr val="0891B2"/>
                </a:solidFill>
                <a:latin typeface="Arial"/>
                <a:ea typeface="Arial"/>
                <a:cs typeface="Arial"/>
              </a:defRPr>
            </a:defPPr>
          </a:lstStyle>
          <a:p xmlns:a="http://schemas.openxmlformats.org/drawingml/2006/main">
            <a:pPr algn="ctr">
              <a:defRPr sz="1725" b="1">
                <a:solidFill>
                  <a:srgbClr val="0891B2"/>
                </a:solidFill>
                <a:latin typeface="Arial"/>
                <a:ea typeface="Arial"/>
                <a:cs typeface="Arial"/>
              </a:defRPr>
            </a:pPr>
            <a:r>
              <a:rPr sz="1725" b="1">
                <a:solidFill>
                  <a:srgbClr val="0891B2"/>
                </a:solidFill>
                <a:latin typeface="Arial"/>
                <a:ea typeface="Arial"/>
                <a:cs typeface="Arial"/>
              </a:rPr>
              <a:t>Outlook mailboxes</a:t>
            </a:r>
          </a:p>
        </p:txBody>
      </p:sp>
      <p:sp>
        <p:nvSpPr>
          <p:cNvPr id="16" name="playbook-label">
            <a:extLst xmlns:a="http://schemas.openxmlformats.org/drawingml/2006/main">
              <a:ext uri="{FF2B5EF4-FFF2-40B4-BE49-F238E27FC236}">
                <a16:creationId xmlns:a16="http://schemas.microsoft.com/office/drawing/2014/main" id="{0533B342-AA5F-42D6-ABE6-0EFAC993F6B4}"/>
              </a:ext>
            </a:extLst>
          </p:cNvPr>
          <p:cNvSpPr>
            <a:spLocks xmlns:a="http://schemas.openxmlformats.org/drawingml/2006/main" noGrp="1"/>
          </p:cNvSpPr>
          <p:nvPr/>
        </p:nvSpPr>
        <p:spPr>
          <a:xfrm xmlns:a="http://schemas.openxmlformats.org/drawingml/2006/main">
            <a:off x="609600" y="4552950"/>
            <a:ext cx="552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7C3AED"/>
                </a:solidFill>
                <a:latin typeface="Arial"/>
                <a:ea typeface="Arial"/>
                <a:cs typeface="Arial"/>
              </a:defRPr>
            </a:defPPr>
          </a:lstStyle>
          <a:p xmlns:a="http://schemas.openxmlformats.org/drawingml/2006/main">
            <a:pPr algn="l">
              <a:defRPr sz="2100" b="1">
                <a:solidFill>
                  <a:srgbClr val="7C3AED"/>
                </a:solidFill>
                <a:latin typeface="Arial"/>
                <a:ea typeface="Arial"/>
                <a:cs typeface="Arial"/>
              </a:defRPr>
            </a:pPr>
            <a:r>
              <a:rPr sz="2100" b="1">
                <a:solidFill>
                  <a:srgbClr val="7C3AED"/>
                </a:solidFill>
                <a:latin typeface="Arial"/>
                <a:ea typeface="Arial"/>
                <a:cs typeface="Arial"/>
              </a:rPr>
              <a:t>Playbook management</a:t>
            </a:r>
          </a:p>
        </p:txBody>
      </p:sp>
      <p:sp>
        <p:nvSpPr>
          <p:cNvPr id="17" name="author">
            <a:extLst xmlns:a="http://schemas.openxmlformats.org/drawingml/2006/main">
              <a:ext uri="{FF2B5EF4-FFF2-40B4-BE49-F238E27FC236}">
                <a16:creationId xmlns:a16="http://schemas.microsoft.com/office/drawing/2014/main" id="{0837309D-D50F-40E8-B7C0-EDE28117D6C9}"/>
              </a:ext>
            </a:extLst>
          </p:cNvPr>
          <p:cNvSpPr>
            <a:spLocks xmlns:a="http://schemas.openxmlformats.org/drawingml/2006/main" noGrp="1"/>
          </p:cNvSpPr>
          <p:nvPr/>
        </p:nvSpPr>
        <p:spPr>
          <a:xfrm xmlns:a="http://schemas.openxmlformats.org/drawingml/2006/main">
            <a:off x="609600" y="5200650"/>
            <a:ext cx="2476500" cy="1428750"/>
          </a:xfrm>
          <a:prstGeom xmlns:a="http://schemas.openxmlformats.org/drawingml/2006/main" prst="roundRect">
            <a:avLst>
              <a:gd name="adj" fmla="val 6667"/>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07  Author Playbook</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Prompt + examples</a:t>
            </a:r>
            <a:br>
              <a:rPr sz="1800">
                <a:solidFill>
                  <a:srgbClr val="132B45"/>
                </a:solidFill>
                <a:latin typeface="Arial"/>
                <a:ea typeface="Arial"/>
                <a:cs typeface="Arial"/>
              </a:rPr>
            </a:br>
            <a:r>
              <a:rPr sz="1800">
                <a:solidFill>
                  <a:srgbClr val="132B45"/>
                </a:solidFill>
                <a:latin typeface="Arial"/>
                <a:ea typeface="Arial"/>
                <a:cs typeface="Arial"/>
              </a:rPr>
              <a:t>Generate, test and review</a:t>
            </a:r>
          </a:p>
        </p:txBody>
      </p:sp>
      <p:sp>
        <p:nvSpPr>
          <p:cNvPr id="18" name="rules">
            <a:extLst xmlns:a="http://schemas.openxmlformats.org/drawingml/2006/main">
              <a:ext uri="{FF2B5EF4-FFF2-40B4-BE49-F238E27FC236}">
                <a16:creationId xmlns:a16="http://schemas.microsoft.com/office/drawing/2014/main" id="{3D8D6C8D-11CD-4030-817B-4DC2A6FBFEC0}"/>
              </a:ext>
            </a:extLst>
          </p:cNvPr>
          <p:cNvSpPr>
            <a:spLocks xmlns:a="http://schemas.openxmlformats.org/drawingml/2006/main" noGrp="1"/>
          </p:cNvSpPr>
          <p:nvPr/>
        </p:nvSpPr>
        <p:spPr>
          <a:xfrm xmlns:a="http://schemas.openxmlformats.org/drawingml/2006/main">
            <a:off x="3619500" y="5200650"/>
            <a:ext cx="2476500" cy="1428750"/>
          </a:xfrm>
          <a:prstGeom xmlns:a="http://schemas.openxmlformats.org/drawingml/2006/main" prst="roundRect">
            <a:avLst>
              <a:gd name="adj" fmla="val 6667"/>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08  Published rules</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Matching rules, task templates</a:t>
            </a:r>
            <a:br>
              <a:rPr sz="1800">
                <a:solidFill>
                  <a:srgbClr val="132B45"/>
                </a:solidFill>
                <a:latin typeface="Arial"/>
                <a:ea typeface="Arial"/>
                <a:cs typeface="Arial"/>
              </a:rPr>
            </a:br>
            <a:r>
              <a:rPr sz="1800">
                <a:solidFill>
                  <a:srgbClr val="132B45"/>
                </a:solidFill>
                <a:latin typeface="Arial"/>
                <a:ea typeface="Arial"/>
                <a:cs typeface="Arial"/>
              </a:rPr>
              <a:t>and completion criteria</a:t>
            </a:r>
          </a:p>
        </p:txBody>
      </p:sp>
      <p:sp>
        <p:nvSpPr>
          <p:cNvPr id="21" name="reply-label">
            <a:extLst xmlns:a="http://schemas.openxmlformats.org/drawingml/2006/main">
              <a:ext uri="{FF2B5EF4-FFF2-40B4-BE49-F238E27FC236}">
                <a16:creationId xmlns:a16="http://schemas.microsoft.com/office/drawing/2014/main" id="{CA473A08-88A7-449D-9588-ECC13F0F63BD}"/>
              </a:ext>
            </a:extLst>
          </p:cNvPr>
          <p:cNvSpPr>
            <a:spLocks xmlns:a="http://schemas.openxmlformats.org/drawingml/2006/main" noGrp="1"/>
          </p:cNvSpPr>
          <p:nvPr/>
        </p:nvSpPr>
        <p:spPr>
          <a:xfrm xmlns:a="http://schemas.openxmlformats.org/drawingml/2006/main">
            <a:off x="9525000" y="4552950"/>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2563EB"/>
                </a:solidFill>
                <a:latin typeface="Arial"/>
                <a:ea typeface="Arial"/>
                <a:cs typeface="Arial"/>
              </a:defRPr>
            </a:defPPr>
          </a:lstStyle>
          <a:p xmlns:a="http://schemas.openxmlformats.org/drawingml/2006/main">
            <a:pPr algn="l">
              <a:defRPr sz="2100" b="1">
                <a:solidFill>
                  <a:srgbClr val="2563EB"/>
                </a:solidFill>
                <a:latin typeface="Arial"/>
                <a:ea typeface="Arial"/>
                <a:cs typeface="Arial"/>
              </a:defRPr>
            </a:pPr>
            <a:r>
              <a:rPr sz="2100" b="1">
                <a:solidFill>
                  <a:srgbClr val="2563EB"/>
                </a:solidFill>
                <a:latin typeface="Arial"/>
                <a:ea typeface="Arial"/>
                <a:cs typeface="Arial"/>
              </a:rPr>
              <a:t>Reply from an Open Item</a:t>
            </a:r>
          </a:p>
        </p:txBody>
      </p:sp>
      <p:sp>
        <p:nvSpPr>
          <p:cNvPr id="22" name="generate">
            <a:extLst xmlns:a="http://schemas.openxmlformats.org/drawingml/2006/main">
              <a:ext uri="{FF2B5EF4-FFF2-40B4-BE49-F238E27FC236}">
                <a16:creationId xmlns:a16="http://schemas.microsoft.com/office/drawing/2014/main" id="{1947AC8A-5258-498D-9E2D-C01FBE9DF112}"/>
              </a:ext>
            </a:extLst>
          </p:cNvPr>
          <p:cNvSpPr>
            <a:spLocks xmlns:a="http://schemas.openxmlformats.org/drawingml/2006/main" noGrp="1"/>
          </p:cNvSpPr>
          <p:nvPr/>
        </p:nvSpPr>
        <p:spPr>
          <a:xfrm xmlns:a="http://schemas.openxmlformats.org/drawingml/2006/main">
            <a:off x="6953250" y="5200650"/>
            <a:ext cx="2238375" cy="1428750"/>
          </a:xfrm>
          <a:prstGeom xmlns:a="http://schemas.openxmlformats.org/drawingml/2006/main" prst="roundRect">
            <a:avLst>
              <a:gd name="adj" fmla="val 6667"/>
            </a:avLst>
          </a:prstGeom>
          <a:solidFill xmlns:a="http://schemas.openxmlformats.org/drawingml/2006/main">
            <a:srgbClr val="FFEDD5"/>
          </a:solidFill>
          <a:ln xmlns:a="http://schemas.openxmlformats.org/drawingml/2006/main" w="19050">
            <a:solidFill>
              <a:srgbClr val="EA580C"/>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04.1  Generate draft</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Use Case, email</a:t>
            </a:r>
            <a:br>
              <a:rPr sz="1800">
                <a:solidFill>
                  <a:srgbClr val="132B45"/>
                </a:solidFill>
                <a:latin typeface="Arial"/>
                <a:ea typeface="Arial"/>
                <a:cs typeface="Arial"/>
              </a:rPr>
            </a:br>
            <a:r>
              <a:rPr sz="1800">
                <a:solidFill>
                  <a:srgbClr val="132B45"/>
                </a:solidFill>
                <a:latin typeface="Arial"/>
                <a:ea typeface="Arial"/>
                <a:cs typeface="Arial"/>
              </a:rPr>
              <a:t>and Open Item context</a:t>
            </a:r>
          </a:p>
        </p:txBody>
      </p:sp>
      <p:sp>
        <p:nvSpPr>
          <p:cNvPr id="23" name="review">
            <a:extLst xmlns:a="http://schemas.openxmlformats.org/drawingml/2006/main">
              <a:ext uri="{FF2B5EF4-FFF2-40B4-BE49-F238E27FC236}">
                <a16:creationId xmlns:a16="http://schemas.microsoft.com/office/drawing/2014/main" id="{B7C30FEC-29C3-4C58-A4BD-FD3AF6E56E84}"/>
              </a:ext>
            </a:extLst>
          </p:cNvPr>
          <p:cNvSpPr>
            <a:spLocks xmlns:a="http://schemas.openxmlformats.org/drawingml/2006/main" noGrp="1"/>
          </p:cNvSpPr>
          <p:nvPr/>
        </p:nvSpPr>
        <p:spPr>
          <a:xfrm xmlns:a="http://schemas.openxmlformats.org/drawingml/2006/main">
            <a:off x="9620250" y="5200650"/>
            <a:ext cx="2238375" cy="1428750"/>
          </a:xfrm>
          <a:prstGeom xmlns:a="http://schemas.openxmlformats.org/drawingml/2006/main" prst="roundRect">
            <a:avLst>
              <a:gd name="adj" fmla="val 6667"/>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04.2  Review / edit</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AM checks the</a:t>
            </a:r>
            <a:br>
              <a:rPr sz="1800">
                <a:solidFill>
                  <a:srgbClr val="132B45"/>
                </a:solidFill>
                <a:latin typeface="Arial"/>
                <a:ea typeface="Arial"/>
                <a:cs typeface="Arial"/>
              </a:rPr>
            </a:br>
            <a:r>
              <a:rPr sz="1800">
                <a:solidFill>
                  <a:srgbClr val="132B45"/>
                </a:solidFill>
                <a:latin typeface="Arial"/>
                <a:ea typeface="Arial"/>
                <a:cs typeface="Arial"/>
              </a:rPr>
              <a:t>generated reply</a:t>
            </a:r>
          </a:p>
        </p:txBody>
      </p:sp>
      <p:sp>
        <p:nvSpPr>
          <p:cNvPr id="24" name="send">
            <a:extLst xmlns:a="http://schemas.openxmlformats.org/drawingml/2006/main">
              <a:ext uri="{FF2B5EF4-FFF2-40B4-BE49-F238E27FC236}">
                <a16:creationId xmlns:a16="http://schemas.microsoft.com/office/drawing/2014/main" id="{D04FAEF2-C86E-4EA5-A6C1-48E911AF7866}"/>
              </a:ext>
            </a:extLst>
          </p:cNvPr>
          <p:cNvSpPr>
            <a:spLocks xmlns:a="http://schemas.openxmlformats.org/drawingml/2006/main" noGrp="1"/>
          </p:cNvSpPr>
          <p:nvPr/>
        </p:nvSpPr>
        <p:spPr>
          <a:xfrm xmlns:a="http://schemas.openxmlformats.org/drawingml/2006/main">
            <a:off x="12287250" y="5200650"/>
            <a:ext cx="2238375" cy="1428750"/>
          </a:xfrm>
          <a:prstGeom xmlns:a="http://schemas.openxmlformats.org/drawingml/2006/main" prst="roundRect">
            <a:avLst>
              <a:gd name="adj" fmla="val 6667"/>
            </a:avLst>
          </a:prstGeom>
          <a:solidFill xmlns:a="http://schemas.openxmlformats.org/drawingml/2006/main">
            <a:srgbClr val="CFFAFE"/>
          </a:solidFill>
          <a:ln xmlns:a="http://schemas.openxmlformats.org/drawingml/2006/main" w="19050">
            <a:solidFill>
              <a:srgbClr val="0891B2"/>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04.3  Approve / send</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Persist send job</a:t>
            </a:r>
            <a:br>
              <a:rPr sz="1800">
                <a:solidFill>
                  <a:srgbClr val="132B45"/>
                </a:solidFill>
                <a:latin typeface="Arial"/>
                <a:ea typeface="Arial"/>
                <a:cs typeface="Arial"/>
              </a:rPr>
            </a:br>
            <a:r>
              <a:rPr sz="1800">
                <a:solidFill>
                  <a:srgbClr val="132B45"/>
                </a:solidFill>
                <a:latin typeface="Arial"/>
                <a:ea typeface="Arial"/>
                <a:cs typeface="Arial"/>
              </a:rPr>
              <a:t>Send through Graph</a:t>
            </a:r>
          </a:p>
        </p:txBody>
      </p:sp>
      <p:sp>
        <p:nvSpPr>
          <p:cNvPr id="28" name="legend">
            <a:extLst xmlns:a="http://schemas.openxmlformats.org/drawingml/2006/main">
              <a:ext uri="{FF2B5EF4-FFF2-40B4-BE49-F238E27FC236}">
                <a16:creationId xmlns:a16="http://schemas.microsoft.com/office/drawing/2014/main" id="{FFE18842-1224-46A9-8974-1AC4AECBA2F8}"/>
              </a:ext>
            </a:extLst>
          </p:cNvPr>
          <p:cNvSpPr>
            <a:spLocks xmlns:a="http://schemas.openxmlformats.org/drawingml/2006/main" noGrp="1"/>
          </p:cNvSpPr>
          <p:nvPr/>
        </p:nvSpPr>
        <p:spPr>
          <a:xfrm xmlns:a="http://schemas.openxmlformats.org/drawingml/2006/main">
            <a:off x="609600" y="7181850"/>
            <a:ext cx="1390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56677A"/>
                </a:solidFill>
                <a:latin typeface="Arial"/>
                <a:ea typeface="Arial"/>
                <a:cs typeface="Arial"/>
              </a:defRPr>
            </a:defPPr>
          </a:lstStyle>
          <a:p xmlns:a="http://schemas.openxmlformats.org/drawingml/2006/main">
            <a:pPr algn="l">
              <a:defRPr sz="1800" b="0">
                <a:solidFill>
                  <a:srgbClr val="56677A"/>
                </a:solidFill>
                <a:latin typeface="Arial"/>
                <a:ea typeface="Arial"/>
                <a:cs typeface="Arial"/>
              </a:defRPr>
            </a:pPr>
            <a:r>
              <a:rPr sz="1800" b="0">
                <a:solidFill>
                  <a:srgbClr val="56677A"/>
                </a:solidFill>
                <a:latin typeface="Arial"/>
                <a:ea typeface="Arial"/>
                <a:cs typeface="Arial"/>
              </a:rPr>
              <a:t>Cyan: mail integration     Green: business logic     Blue: AM / portal     Orange: AI     Purple links: Playbook rules</a:t>
            </a:r>
          </a:p>
        </p:txBody>
      </p:sp>
      <p:sp>
        <p:nvSpPr>
          <p:cNvPr id="29" name="boundary">
            <a:extLst xmlns:a="http://schemas.openxmlformats.org/drawingml/2006/main">
              <a:ext uri="{FF2B5EF4-FFF2-40B4-BE49-F238E27FC236}">
                <a16:creationId xmlns:a16="http://schemas.microsoft.com/office/drawing/2014/main" id="{176B82A5-C5D9-42DA-AE65-A41B2F185744}"/>
              </a:ext>
            </a:extLst>
          </p:cNvPr>
          <p:cNvSpPr>
            <a:spLocks xmlns:a="http://schemas.openxmlformats.org/drawingml/2006/main" noGrp="1"/>
          </p:cNvSpPr>
          <p:nvPr/>
        </p:nvSpPr>
        <p:spPr>
          <a:xfrm xmlns:a="http://schemas.openxmlformats.org/drawingml/2006/main">
            <a:off x="609600" y="7639050"/>
            <a:ext cx="13144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32B45"/>
                </a:solidFill>
                <a:latin typeface="Arial"/>
                <a:ea typeface="Arial"/>
                <a:cs typeface="Arial"/>
              </a:defRPr>
            </a:defPPr>
          </a:lstStyle>
          <a:p xmlns:a="http://schemas.openxmlformats.org/drawingml/2006/main">
            <a:pPr algn="l">
              <a:defRPr sz="1725" b="0">
                <a:solidFill>
                  <a:srgbClr val="132B45"/>
                </a:solidFill>
                <a:latin typeface="Arial"/>
                <a:ea typeface="Arial"/>
                <a:cs typeface="Arial"/>
              </a:defRPr>
            </a:pPr>
            <a:r>
              <a:rPr sz="1725" b="0">
                <a:solidFill>
                  <a:srgbClr val="132B45"/>
                </a:solidFill>
                <a:latin typeface="Arial"/>
                <a:ea typeface="Arial"/>
                <a:cs typeface="Arial"/>
              </a:rPr>
              <a:t>All modules share one Java backend. Java checks role permissions and business group / region / customer scope.</a:t>
            </a:r>
          </a:p>
          <a:p xmlns:a="http://schemas.openxmlformats.org/drawingml/2006/main">
            <a:pPr algn="l">
              <a:defRPr sz="1725" b="0">
                <a:solidFill>
                  <a:srgbClr val="132B45"/>
                </a:solidFill>
                <a:latin typeface="Arial"/>
                <a:ea typeface="Arial"/>
                <a:cs typeface="Arial"/>
              </a:defRPr>
            </a:pPr>
            <a:r>
              <a:rPr sz="1725" b="0">
                <a:solidFill>
                  <a:srgbClr val="132B45"/>
                </a:solidFill>
                <a:latin typeface="Arial"/>
                <a:ea typeface="Arial"/>
                <a:cs typeface="Arial"/>
              </a:rPr>
              <a:t>AM approval precedes sending. Sending and Open Item completion remain separate.</a:t>
            </a:r>
          </a:p>
        </p:txBody>
      </p:sp>
    </p:spTree>
    <p:extLst>
      <p:ext uri="{BB962C8B-B14F-4D97-AF65-F5344CB8AC3E}">
        <p14:creationId xmlns:p14="http://schemas.microsoft.com/office/powerpoint/2010/main" val="160919971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cxnSp>
        <p:nvCxnSpPr>
          <p:cNvPr id="30" name="">
            <a:extLst xmlns:a="http://schemas.openxmlformats.org/drawingml/2006/main">
              <a:ext uri="{FF2B5EF4-FFF2-40B4-BE49-F238E27FC236}">
                <a16:creationId xmlns:a16="http://schemas.microsoft.com/office/drawing/2014/main" id="{D594FB77-2A1A-4275-BC1D-F36859F5FF3B}"/>
              </a:ext>
            </a:extLst>
          </p:cNvPr>
          <p:cNvCxnSpPr>
            <a:stCxn xmlns:a="http://schemas.openxmlformats.org/drawingml/2006/main" id="6" idx="2"/>
            <a:endCxn xmlns:a="http://schemas.openxmlformats.org/drawingml/2006/main" id="12" idx="0"/>
          </p:cNvCxnSpPr>
          <p:nvPr/>
        </p:nvCxnSpPr>
        <p:spPr>
          <a:xfrm xmlns:a="http://schemas.openxmlformats.org/drawingml/2006/main">
            <a:off x="7781925" y="6229350"/>
            <a:ext cx="0" cy="723900"/>
          </a:xfrm>
          <a:prstGeom xmlns:a="http://schemas.openxmlformats.org/drawingml/2006/main" prst="straightConnector1">
            <a:avLst/>
          </a:prstGeom>
          <a:ln xmlns:a="http://schemas.openxmlformats.org/drawingml/2006/main" w="23813">
            <a:solidFill>
              <a:srgbClr val="64748B"/>
            </a:solidFill>
            <a:prstDash val="solid"/>
            <a:tailEnd type="arrow" w="med" len="med"/>
          </a:ln>
        </p:spPr>
      </p:cxnSp>
      <p:cxnSp>
        <p:nvCxnSpPr>
          <p:cNvPr id="20" name="">
            <a:extLst xmlns:a="http://schemas.openxmlformats.org/drawingml/2006/main">
              <a:ext uri="{FF2B5EF4-FFF2-40B4-BE49-F238E27FC236}">
                <a16:creationId xmlns:a16="http://schemas.microsoft.com/office/drawing/2014/main" id="{82054B62-C5B8-4E44-A1C2-EFFA42DE95E0}"/>
              </a:ext>
            </a:extLst>
          </p:cNvPr>
          <p:cNvCxnSpPr>
            <a:stCxn xmlns:a="http://schemas.openxmlformats.org/drawingml/2006/main" id="6" idx="1"/>
            <a:endCxn xmlns:a="http://schemas.openxmlformats.org/drawingml/2006/main" id="8" idx="3"/>
          </p:cNvCxnSpPr>
          <p:nvPr/>
        </p:nvCxnSpPr>
        <p:spPr>
          <a:xfrm xmlns:a="http://schemas.openxmlformats.org/drawingml/2006/main" flipH="1">
            <a:off x="3467100" y="5086350"/>
            <a:ext cx="2028825" cy="690563"/>
          </a:xfrm>
          <a:prstGeom xmlns:a="http://schemas.openxmlformats.org/drawingml/2006/main" prst="bentConnector3">
            <a:avLst>
              <a:gd name="adj1" fmla="val 50000"/>
            </a:avLst>
          </a:prstGeom>
          <a:ln xmlns:a="http://schemas.openxmlformats.org/drawingml/2006/main" w="23813">
            <a:solidFill>
              <a:srgbClr val="7C3AED"/>
            </a:solidFill>
            <a:prstDash val="solid"/>
            <a:tailEnd type="arrow" w="med" len="med"/>
          </a:ln>
        </p:spPr>
      </p:cxnSp>
      <p:cxnSp>
        <p:nvCxnSpPr>
          <p:cNvPr id="18" name="">
            <a:extLst xmlns:a="http://schemas.openxmlformats.org/drawingml/2006/main">
              <a:ext uri="{FF2B5EF4-FFF2-40B4-BE49-F238E27FC236}">
                <a16:creationId xmlns:a16="http://schemas.microsoft.com/office/drawing/2014/main" id="{390A424C-6C72-4B66-8ACE-0B28A2FCEFFA}"/>
              </a:ext>
            </a:extLst>
          </p:cNvPr>
          <p:cNvCxnSpPr>
            <a:stCxn xmlns:a="http://schemas.openxmlformats.org/drawingml/2006/main" id="6" idx="1"/>
            <a:endCxn xmlns:a="http://schemas.openxmlformats.org/drawingml/2006/main" id="7" idx="3"/>
          </p:cNvCxnSpPr>
          <p:nvPr/>
        </p:nvCxnSpPr>
        <p:spPr>
          <a:xfrm xmlns:a="http://schemas.openxmlformats.org/drawingml/2006/main" flipH="1" flipV="1">
            <a:off x="3467100" y="4514850"/>
            <a:ext cx="2028825" cy="571500"/>
          </a:xfrm>
          <a:prstGeom xmlns:a="http://schemas.openxmlformats.org/drawingml/2006/main" prst="bentConnector3">
            <a:avLst>
              <a:gd name="adj1" fmla="val 50000"/>
            </a:avLst>
          </a:prstGeom>
          <a:ln xmlns:a="http://schemas.openxmlformats.org/drawingml/2006/main" w="23813">
            <a:solidFill>
              <a:srgbClr val="7C3AED"/>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BF21341A-3FDE-49F7-9254-A0DA3ACA0313}"/>
              </a:ext>
            </a:extLst>
          </p:cNvPr>
          <p:cNvCxnSpPr>
            <a:stCxn xmlns:a="http://schemas.openxmlformats.org/drawingml/2006/main" id="5" idx="2"/>
            <a:endCxn xmlns:a="http://schemas.openxmlformats.org/drawingml/2006/main" id="6" idx="0"/>
          </p:cNvCxnSpPr>
          <p:nvPr/>
        </p:nvCxnSpPr>
        <p:spPr>
          <a:xfrm xmlns:a="http://schemas.openxmlformats.org/drawingml/2006/main">
            <a:off x="7781925" y="3105150"/>
            <a:ext cx="0" cy="838200"/>
          </a:xfrm>
          <a:prstGeom xmlns:a="http://schemas.openxmlformats.org/drawingml/2006/main" prst="straightConnector1">
            <a:avLst/>
          </a:prstGeom>
          <a:ln xmlns:a="http://schemas.openxmlformats.org/drawingml/2006/main" w="23813">
            <a:solidFill>
              <a:srgbClr val="2563EB"/>
            </a:solidFill>
            <a:prstDash val="solid"/>
            <a:tailEnd type="arrow" w="med" len="med"/>
          </a:ln>
        </p:spPr>
      </p:cxnSp>
      <p:cxnSp>
        <p:nvCxnSpPr>
          <p:cNvPr id="14" name="">
            <a:extLst xmlns:a="http://schemas.openxmlformats.org/drawingml/2006/main">
              <a:ext uri="{FF2B5EF4-FFF2-40B4-BE49-F238E27FC236}">
                <a16:creationId xmlns:a16="http://schemas.microsoft.com/office/drawing/2014/main" id="{12514041-DAF5-4F35-A746-8A04F7A8EBA4}"/>
              </a:ext>
            </a:extLst>
          </p:cNvPr>
          <p:cNvCxnSpPr>
            <a:stCxn xmlns:a="http://schemas.openxmlformats.org/drawingml/2006/main" id="4" idx="3"/>
            <a:endCxn xmlns:a="http://schemas.openxmlformats.org/drawingml/2006/main" id="5" idx="1"/>
          </p:cNvCxnSpPr>
          <p:nvPr/>
        </p:nvCxnSpPr>
        <p:spPr>
          <a:xfrm xmlns:a="http://schemas.openxmlformats.org/drawingml/2006/main">
            <a:off x="3467100" y="2581275"/>
            <a:ext cx="2028825" cy="0"/>
          </a:xfrm>
          <a:prstGeom xmlns:a="http://schemas.openxmlformats.org/drawingml/2006/main" prst="straightConnector1">
            <a:avLst/>
          </a:prstGeom>
          <a:ln xmlns:a="http://schemas.openxmlformats.org/drawingml/2006/main" w="23813">
            <a:solidFill>
              <a:srgbClr val="2563EB"/>
            </a:solidFill>
            <a:prstDash val="solid"/>
            <a:tailEnd type="arrow" w="med" len="med"/>
          </a:ln>
        </p:spPr>
      </p:cxnSp>
      <p:sp>
        <p:nvSpPr>
          <p:cNvPr id="36" name="title">
            <a:extLst xmlns:a="http://schemas.openxmlformats.org/drawingml/2006/main">
              <a:ext uri="{FF2B5EF4-FFF2-40B4-BE49-F238E27FC236}">
                <a16:creationId xmlns:a16="http://schemas.microsoft.com/office/drawing/2014/main" id="{A2A63750-A305-4ACF-8D90-28424FFBA51A}"/>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Service and Network Architecture</a:t>
            </a:r>
          </a:p>
        </p:txBody>
      </p:sp>
      <p:sp>
        <p:nvSpPr>
          <p:cNvPr id="2" name="page">
            <a:extLst xmlns:a="http://schemas.openxmlformats.org/drawingml/2006/main">
              <a:ext uri="{FF2B5EF4-FFF2-40B4-BE49-F238E27FC236}">
                <a16:creationId xmlns:a16="http://schemas.microsoft.com/office/drawing/2014/main" id="{36AA7C6D-62E1-4579-8836-99A62000DD45}"/>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4 / 5</a:t>
            </a:r>
          </a:p>
        </p:txBody>
      </p:sp>
      <p:sp>
        <p:nvSpPr>
          <p:cNvPr id="3" name="caption">
            <a:extLst xmlns:a="http://schemas.openxmlformats.org/drawingml/2006/main">
              <a:ext uri="{FF2B5EF4-FFF2-40B4-BE49-F238E27FC236}">
                <a16:creationId xmlns:a16="http://schemas.microsoft.com/office/drawing/2014/main" id="{7DE27461-4E1C-4EBD-9663-B97630E38248}"/>
              </a:ext>
            </a:extLst>
          </p:cNvPr>
          <p:cNvSpPr>
            <a:spLocks xmlns:a="http://schemas.openxmlformats.org/drawingml/2006/main" noGrp="1"/>
          </p:cNvSpPr>
          <p:nvPr/>
        </p:nvSpPr>
        <p:spPr>
          <a:xfrm xmlns:a="http://schemas.openxmlformats.org/drawingml/2006/main">
            <a:off x="609600" y="1238250"/>
            <a:ext cx="14001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One Java deployment with 2+ identical replicas. HTTP and bounded async executors share each replica.</a:t>
            </a:r>
          </a:p>
        </p:txBody>
      </p:sp>
      <p:sp>
        <p:nvSpPr>
          <p:cNvPr id="4" name="am">
            <a:extLst xmlns:a="http://schemas.openxmlformats.org/drawingml/2006/main">
              <a:ext uri="{FF2B5EF4-FFF2-40B4-BE49-F238E27FC236}">
                <a16:creationId xmlns:a16="http://schemas.microsoft.com/office/drawing/2014/main" id="{5FBDBADA-E048-414F-A9B4-7982ABA84105}"/>
              </a:ext>
            </a:extLst>
          </p:cNvPr>
          <p:cNvSpPr>
            <a:spLocks xmlns:a="http://schemas.openxmlformats.org/drawingml/2006/main" noGrp="1"/>
          </p:cNvSpPr>
          <p:nvPr/>
        </p:nvSpPr>
        <p:spPr>
          <a:xfrm xmlns:a="http://schemas.openxmlformats.org/drawingml/2006/main">
            <a:off x="609600" y="2057400"/>
            <a:ext cx="2857500" cy="1047750"/>
          </a:xfrm>
          <a:prstGeom xmlns:a="http://schemas.openxmlformats.org/drawingml/2006/main" prst="roundRect">
            <a:avLst>
              <a:gd name="adj" fmla="val 9091"/>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AM / Director / Admin</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Business users</a:t>
            </a:r>
          </a:p>
        </p:txBody>
      </p:sp>
      <p:sp>
        <p:nvSpPr>
          <p:cNvPr id="5" name="portal">
            <a:extLst xmlns:a="http://schemas.openxmlformats.org/drawingml/2006/main">
              <a:ext uri="{FF2B5EF4-FFF2-40B4-BE49-F238E27FC236}">
                <a16:creationId xmlns:a16="http://schemas.microsoft.com/office/drawing/2014/main" id="{76BDBA33-5473-4C74-82B0-B20B355F64C7}"/>
              </a:ext>
            </a:extLst>
          </p:cNvPr>
          <p:cNvSpPr>
            <a:spLocks xmlns:a="http://schemas.openxmlformats.org/drawingml/2006/main" noGrp="1"/>
          </p:cNvSpPr>
          <p:nvPr/>
        </p:nvSpPr>
        <p:spPr>
          <a:xfrm xmlns:a="http://schemas.openxmlformats.org/drawingml/2006/main">
            <a:off x="5495925" y="2057400"/>
            <a:ext cx="4572000" cy="1047750"/>
          </a:xfrm>
          <a:prstGeom xmlns:a="http://schemas.openxmlformats.org/drawingml/2006/main" prst="roundRect">
            <a:avLst>
              <a:gd name="adj" fmla="val 9091"/>
            </a:avLst>
          </a:prstGeom>
          <a:solidFill xmlns:a="http://schemas.openxmlformats.org/drawingml/2006/main">
            <a:srgbClr val="DBEAFE"/>
          </a:solidFill>
          <a:ln xmlns:a="http://schemas.openxmlformats.org/drawingml/2006/main" w="19050">
            <a:solidFill>
              <a:srgbClr val="2563EB"/>
            </a:solidFill>
          </a:ln>
        </p:spPr>
        <p:txBody>
          <a:bodyPr xmlns:a="http://schemas.openxmlformats.org/drawingml/2006/main" wrap="square" lIns="114300" tIns="114300" rIns="114300" bIns="114300" anchor="ctr">
            <a:noAutofit/>
          </a:bodyPr>
          <a:lstStyle xmlns:a="http://schemas.openxmlformats.org/drawingml/2006/main">
            <a:defPPr algn="ctr">
              <a:defRPr sz="1875">
                <a:solidFill>
                  <a:srgbClr val="132B45"/>
                </a:solidFill>
                <a:latin typeface="Arial"/>
                <a:ea typeface="Arial"/>
                <a:cs typeface="Arial"/>
              </a:defRPr>
            </a:defPPr>
          </a:lstStyle>
          <a:p xmlns:a="http://schemas.openxmlformats.org/drawingml/2006/main">
            <a:pPr algn="ctr">
              <a:spcAft>
                <a:spcPts val="10"/>
              </a:spcAft>
              <a:defRPr sz="1875">
                <a:solidFill>
                  <a:srgbClr val="132B45"/>
                </a:solidFill>
                <a:latin typeface="Arial"/>
                <a:ea typeface="Arial"/>
                <a:cs typeface="Arial"/>
              </a:defRPr>
            </a:pPr>
            <a:r>
              <a:rPr sz="1875" b="1">
                <a:solidFill>
                  <a:srgbClr val="132B45"/>
                </a:solidFill>
                <a:latin typeface="Arial"/>
                <a:ea typeface="Arial"/>
                <a:cs typeface="Arial"/>
              </a:rPr>
              <a:t>Web Portal / BFF</a:t>
            </a:r>
          </a:p>
          <a:p xmlns:a="http://schemas.openxmlformats.org/drawingml/2006/main">
            <a:pPr algn="ctr">
              <a:defRPr sz="1875">
                <a:solidFill>
                  <a:srgbClr val="132B45"/>
                </a:solidFill>
                <a:latin typeface="Arial"/>
                <a:ea typeface="Arial"/>
                <a:cs typeface="Arial"/>
              </a:defRPr>
            </a:pPr>
            <a:r>
              <a:rPr sz="1875">
                <a:solidFill>
                  <a:srgbClr val="132B45"/>
                </a:solidFill>
                <a:latin typeface="Arial"/>
                <a:ea typeface="Arial"/>
                <a:cs typeface="Arial"/>
              </a:rPr>
              <a:t>Next.js, 2+ replicas</a:t>
            </a:r>
          </a:p>
        </p:txBody>
      </p:sp>
      <p:sp>
        <p:nvSpPr>
          <p:cNvPr id="6" name="java">
            <a:extLst xmlns:a="http://schemas.openxmlformats.org/drawingml/2006/main">
              <a:ext uri="{FF2B5EF4-FFF2-40B4-BE49-F238E27FC236}">
                <a16:creationId xmlns:a16="http://schemas.microsoft.com/office/drawing/2014/main" id="{75F9C9A1-E413-4593-89E0-6F8504154C92}"/>
              </a:ext>
            </a:extLst>
          </p:cNvPr>
          <p:cNvSpPr>
            <a:spLocks xmlns:a="http://schemas.openxmlformats.org/drawingml/2006/main" noGrp="1"/>
          </p:cNvSpPr>
          <p:nvPr/>
        </p:nvSpPr>
        <p:spPr>
          <a:xfrm xmlns:a="http://schemas.openxmlformats.org/drawingml/2006/main">
            <a:off x="5495925" y="3943350"/>
            <a:ext cx="4572000" cy="2286000"/>
          </a:xfrm>
          <a:prstGeom xmlns:a="http://schemas.openxmlformats.org/drawingml/2006/main" prst="roundRect">
            <a:avLst>
              <a:gd name="adj" fmla="val 4167"/>
            </a:avLst>
          </a:prstGeom>
          <a:solidFill xmlns:a="http://schemas.openxmlformats.org/drawingml/2006/main">
            <a:srgbClr val="DCFCE7"/>
          </a:solidFill>
          <a:ln xmlns:a="http://schemas.openxmlformats.org/drawingml/2006/main" w="19050">
            <a:solidFill>
              <a:srgbClr val="16A34A"/>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Java Backend Service</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Spring Boot + Spring AI, 2+ replicas</a:t>
            </a:r>
            <a:br>
              <a:rPr sz="1800">
                <a:solidFill>
                  <a:srgbClr val="132B45"/>
                </a:solidFill>
                <a:latin typeface="Arial"/>
                <a:ea typeface="Arial"/>
                <a:cs typeface="Arial"/>
              </a:rPr>
            </a:br>
            <a:r>
              <a:rPr sz="1800">
                <a:solidFill>
                  <a:srgbClr val="132B45"/>
                </a:solidFill>
                <a:latin typeface="Arial"/>
                <a:ea typeface="Arial"/>
                <a:cs typeface="Arial"/>
              </a:rPr>
              <a:t>APIs, async jobs and approved sends</a:t>
            </a:r>
            <a:br>
              <a:rPr sz="1800">
                <a:solidFill>
                  <a:srgbClr val="132B45"/>
                </a:solidFill>
                <a:latin typeface="Arial"/>
                <a:ea typeface="Arial"/>
                <a:cs typeface="Arial"/>
              </a:rPr>
            </a:br>
            <a:r>
              <a:rPr sz="1800">
                <a:solidFill>
                  <a:srgbClr val="132B45"/>
                </a:solidFill>
                <a:latin typeface="Arial"/>
                <a:ea typeface="Arial"/>
                <a:cs typeface="Arial"/>
              </a:rPr>
              <a:t>RBAC and data-scope enforcement</a:t>
            </a:r>
            <a:br>
              <a:rPr sz="1800">
                <a:solidFill>
                  <a:srgbClr val="132B45"/>
                </a:solidFill>
                <a:latin typeface="Arial"/>
                <a:ea typeface="Arial"/>
                <a:cs typeface="Arial"/>
              </a:rPr>
            </a:br>
            <a:r>
              <a:rPr sz="1800">
                <a:solidFill>
                  <a:srgbClr val="132B45"/>
                </a:solidFill>
                <a:latin typeface="Arial"/>
                <a:ea typeface="Arial"/>
                <a:cs typeface="Arial"/>
              </a:rPr>
              <a:t>Every API request and async job</a:t>
            </a:r>
          </a:p>
        </p:txBody>
      </p:sp>
      <p:sp>
        <p:nvSpPr>
          <p:cNvPr id="7" name="okta">
            <a:extLst xmlns:a="http://schemas.openxmlformats.org/drawingml/2006/main">
              <a:ext uri="{FF2B5EF4-FFF2-40B4-BE49-F238E27FC236}">
                <a16:creationId xmlns:a16="http://schemas.microsoft.com/office/drawing/2014/main" id="{85FD9B7E-7AFE-4AE5-9210-51F3579FF210}"/>
              </a:ext>
            </a:extLst>
          </p:cNvPr>
          <p:cNvSpPr>
            <a:spLocks xmlns:a="http://schemas.openxmlformats.org/drawingml/2006/main" noGrp="1"/>
          </p:cNvSpPr>
          <p:nvPr/>
        </p:nvSpPr>
        <p:spPr>
          <a:xfrm xmlns:a="http://schemas.openxmlformats.org/drawingml/2006/main">
            <a:off x="609600" y="3943350"/>
            <a:ext cx="2857500" cy="1143000"/>
          </a:xfrm>
          <a:prstGeom xmlns:a="http://schemas.openxmlformats.org/drawingml/2006/main" prst="roundRect">
            <a:avLst>
              <a:gd name="adj" fmla="val 8333"/>
            </a:avLst>
          </a:prstGeom>
          <a:solidFill xmlns:a="http://schemas.openxmlformats.org/drawingml/2006/main">
            <a:srgbClr val="EDE9FE"/>
          </a:solidFill>
          <a:ln xmlns:a="http://schemas.openxmlformats.org/drawingml/2006/main" w="19050">
            <a:solidFill>
              <a:srgbClr val="7C3AED"/>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Okta SSO</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SSO / MFA</a:t>
            </a:r>
            <a:br>
              <a:rPr sz="1800">
                <a:solidFill>
                  <a:srgbClr val="132B45"/>
                </a:solidFill>
                <a:latin typeface="Arial"/>
                <a:ea typeface="Arial"/>
                <a:cs typeface="Arial"/>
              </a:rPr>
            </a:br>
            <a:r>
              <a:rPr sz="1800">
                <a:solidFill>
                  <a:srgbClr val="132B45"/>
                </a:solidFill>
                <a:latin typeface="Arial"/>
                <a:ea typeface="Arial"/>
                <a:cs typeface="Arial"/>
              </a:rPr>
              <a:t>AAM role groups</a:t>
            </a:r>
          </a:p>
        </p:txBody>
      </p:sp>
      <p:sp>
        <p:nvSpPr>
          <p:cNvPr id="8" name="entra">
            <a:extLst xmlns:a="http://schemas.openxmlformats.org/drawingml/2006/main">
              <a:ext uri="{FF2B5EF4-FFF2-40B4-BE49-F238E27FC236}">
                <a16:creationId xmlns:a16="http://schemas.microsoft.com/office/drawing/2014/main" id="{4AABA699-1D61-43A7-95B8-DB8D7C171811}"/>
              </a:ext>
            </a:extLst>
          </p:cNvPr>
          <p:cNvSpPr>
            <a:spLocks xmlns:a="http://schemas.openxmlformats.org/drawingml/2006/main" noGrp="1"/>
          </p:cNvSpPr>
          <p:nvPr/>
        </p:nvSpPr>
        <p:spPr>
          <a:xfrm xmlns:a="http://schemas.openxmlformats.org/drawingml/2006/main">
            <a:off x="609600" y="5276850"/>
            <a:ext cx="2857500" cy="1000125"/>
          </a:xfrm>
          <a:prstGeom xmlns:a="http://schemas.openxmlformats.org/drawingml/2006/main" prst="roundRect">
            <a:avLst>
              <a:gd name="adj" fmla="val 9524"/>
            </a:avLst>
          </a:prstGeom>
          <a:solidFill xmlns:a="http://schemas.openxmlformats.org/drawingml/2006/main">
            <a:srgbClr val="EDE9FE"/>
          </a:solidFill>
          <a:ln xmlns:a="http://schemas.openxmlformats.org/drawingml/2006/main" w="19050">
            <a:solidFill>
              <a:srgbClr val="7C3AED"/>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Microsoft Entra ID</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Graph authorization</a:t>
            </a:r>
            <a:br>
              <a:rPr sz="1800">
                <a:solidFill>
                  <a:srgbClr val="132B45"/>
                </a:solidFill>
                <a:latin typeface="Arial"/>
                <a:ea typeface="Arial"/>
                <a:cs typeface="Arial"/>
              </a:rPr>
            </a:br>
            <a:r>
              <a:rPr sz="1800">
                <a:solidFill>
                  <a:srgbClr val="132B45"/>
                </a:solidFill>
                <a:latin typeface="Arial"/>
                <a:ea typeface="Arial"/>
                <a:cs typeface="Arial"/>
              </a:rPr>
              <a:t>Azure workload identity</a:t>
            </a:r>
          </a:p>
        </p:txBody>
      </p:sp>
      <p:sp>
        <p:nvSpPr>
          <p:cNvPr id="9" name="graph">
            <a:extLst xmlns:a="http://schemas.openxmlformats.org/drawingml/2006/main">
              <a:ext uri="{FF2B5EF4-FFF2-40B4-BE49-F238E27FC236}">
                <a16:creationId xmlns:a16="http://schemas.microsoft.com/office/drawing/2014/main" id="{C2A7EF92-2088-4E03-BDFE-2F8E6B4D465A}"/>
              </a:ext>
            </a:extLst>
          </p:cNvPr>
          <p:cNvSpPr>
            <a:spLocks xmlns:a="http://schemas.openxmlformats.org/drawingml/2006/main" noGrp="1"/>
          </p:cNvSpPr>
          <p:nvPr/>
        </p:nvSpPr>
        <p:spPr>
          <a:xfrm xmlns:a="http://schemas.openxmlformats.org/drawingml/2006/main">
            <a:off x="11715750" y="2057400"/>
            <a:ext cx="2905125" cy="1047750"/>
          </a:xfrm>
          <a:prstGeom xmlns:a="http://schemas.openxmlformats.org/drawingml/2006/main" prst="roundRect">
            <a:avLst>
              <a:gd name="adj" fmla="val 9091"/>
            </a:avLst>
          </a:prstGeom>
          <a:solidFill xmlns:a="http://schemas.openxmlformats.org/drawingml/2006/main">
            <a:srgbClr val="CFFAFE"/>
          </a:solidFill>
          <a:ln xmlns:a="http://schemas.openxmlformats.org/drawingml/2006/main" w="19050">
            <a:solidFill>
              <a:srgbClr val="0891B2"/>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Graph / Outlook</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Mailbox sync and approved sends</a:t>
            </a:r>
          </a:p>
        </p:txBody>
      </p:sp>
      <p:sp>
        <p:nvSpPr>
          <p:cNvPr id="10" name="foundry">
            <a:extLst xmlns:a="http://schemas.openxmlformats.org/drawingml/2006/main">
              <a:ext uri="{FF2B5EF4-FFF2-40B4-BE49-F238E27FC236}">
                <a16:creationId xmlns:a16="http://schemas.microsoft.com/office/drawing/2014/main" id="{8384C5C3-09FC-4EC3-9E63-8FC85C7996AF}"/>
              </a:ext>
            </a:extLst>
          </p:cNvPr>
          <p:cNvSpPr>
            <a:spLocks xmlns:a="http://schemas.openxmlformats.org/drawingml/2006/main" noGrp="1"/>
          </p:cNvSpPr>
          <p:nvPr/>
        </p:nvSpPr>
        <p:spPr>
          <a:xfrm xmlns:a="http://schemas.openxmlformats.org/drawingml/2006/main">
            <a:off x="11715750" y="3943350"/>
            <a:ext cx="2905125" cy="1238250"/>
          </a:xfrm>
          <a:prstGeom xmlns:a="http://schemas.openxmlformats.org/drawingml/2006/main" prst="roundRect">
            <a:avLst>
              <a:gd name="adj" fmla="val 7692"/>
            </a:avLst>
          </a:prstGeom>
          <a:solidFill xmlns:a="http://schemas.openxmlformats.org/drawingml/2006/main">
            <a:srgbClr val="FFEDD5"/>
          </a:solidFill>
          <a:ln xmlns:a="http://schemas.openxmlformats.org/drawingml/2006/main" w="19050">
            <a:solidFill>
              <a:srgbClr val="EA580C"/>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Azure AI Foundry</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Model inference</a:t>
            </a:r>
            <a:br>
              <a:rPr sz="1800">
                <a:solidFill>
                  <a:srgbClr val="132B45"/>
                </a:solidFill>
                <a:latin typeface="Arial"/>
                <a:ea typeface="Arial"/>
                <a:cs typeface="Arial"/>
              </a:rPr>
            </a:br>
            <a:r>
              <a:rPr sz="1800">
                <a:solidFill>
                  <a:srgbClr val="132B45"/>
                </a:solidFill>
                <a:latin typeface="Arial"/>
                <a:ea typeface="Arial"/>
                <a:cs typeface="Arial"/>
              </a:rPr>
              <a:t>through Spring AI</a:t>
            </a:r>
          </a:p>
        </p:txBody>
      </p:sp>
      <p:sp>
        <p:nvSpPr>
          <p:cNvPr id="11" name="blob">
            <a:extLst xmlns:a="http://schemas.openxmlformats.org/drawingml/2006/main">
              <a:ext uri="{FF2B5EF4-FFF2-40B4-BE49-F238E27FC236}">
                <a16:creationId xmlns:a16="http://schemas.microsoft.com/office/drawing/2014/main" id="{E006D3C6-510C-4928-8C81-EB354D9EF974}"/>
              </a:ext>
            </a:extLst>
          </p:cNvPr>
          <p:cNvSpPr>
            <a:spLocks xmlns:a="http://schemas.openxmlformats.org/drawingml/2006/main" noGrp="1"/>
          </p:cNvSpPr>
          <p:nvPr/>
        </p:nvSpPr>
        <p:spPr>
          <a:xfrm xmlns:a="http://schemas.openxmlformats.org/drawingml/2006/main">
            <a:off x="11715750" y="5476875"/>
            <a:ext cx="2905125" cy="1047750"/>
          </a:xfrm>
          <a:prstGeom xmlns:a="http://schemas.openxmlformats.org/drawingml/2006/main" prst="roundRect">
            <a:avLst>
              <a:gd name="adj" fmla="val 9091"/>
            </a:avLst>
          </a:prstGeom>
          <a:solidFill xmlns:a="http://schemas.openxmlformats.org/drawingml/2006/main">
            <a:srgbClr val="F1F5F9"/>
          </a:solidFill>
          <a:ln xmlns:a="http://schemas.openxmlformats.org/drawingml/2006/main" w="19050">
            <a:solidFill>
              <a:srgbClr val="64748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Azure Blob Storage</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Attachments and</a:t>
            </a:r>
            <a:br>
              <a:rPr sz="1800">
                <a:solidFill>
                  <a:srgbClr val="132B45"/>
                </a:solidFill>
                <a:latin typeface="Arial"/>
                <a:ea typeface="Arial"/>
                <a:cs typeface="Arial"/>
              </a:rPr>
            </a:br>
            <a:r>
              <a:rPr sz="1800">
                <a:solidFill>
                  <a:srgbClr val="132B45"/>
                </a:solidFill>
                <a:latin typeface="Arial"/>
                <a:ea typeface="Arial"/>
                <a:cs typeface="Arial"/>
              </a:rPr>
              <a:t>example email artifacts</a:t>
            </a:r>
          </a:p>
        </p:txBody>
      </p:sp>
      <p:sp>
        <p:nvSpPr>
          <p:cNvPr id="12" name="postgres">
            <a:extLst xmlns:a="http://schemas.openxmlformats.org/drawingml/2006/main">
              <a:ext uri="{FF2B5EF4-FFF2-40B4-BE49-F238E27FC236}">
                <a16:creationId xmlns:a16="http://schemas.microsoft.com/office/drawing/2014/main" id="{2DFFAC62-EDB1-4C8B-B2B9-EC90073BEB99}"/>
              </a:ext>
            </a:extLst>
          </p:cNvPr>
          <p:cNvSpPr>
            <a:spLocks xmlns:a="http://schemas.openxmlformats.org/drawingml/2006/main" noGrp="1"/>
          </p:cNvSpPr>
          <p:nvPr/>
        </p:nvSpPr>
        <p:spPr>
          <a:xfrm xmlns:a="http://schemas.openxmlformats.org/drawingml/2006/main">
            <a:off x="5495925" y="6953250"/>
            <a:ext cx="4572000" cy="1047750"/>
          </a:xfrm>
          <a:prstGeom xmlns:a="http://schemas.openxmlformats.org/drawingml/2006/main" prst="roundRect">
            <a:avLst>
              <a:gd name="adj" fmla="val 9091"/>
            </a:avLst>
          </a:prstGeom>
          <a:solidFill xmlns:a="http://schemas.openxmlformats.org/drawingml/2006/main">
            <a:srgbClr val="F1F5F9"/>
          </a:solidFill>
          <a:ln xmlns:a="http://schemas.openxmlformats.org/drawingml/2006/main" w="19050">
            <a:solidFill>
              <a:srgbClr val="64748B"/>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PostgreSQL HA</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Cases, jobs, sessions and audit</a:t>
            </a:r>
            <a:br>
              <a:rPr sz="1800">
                <a:solidFill>
                  <a:srgbClr val="132B45"/>
                </a:solidFill>
                <a:latin typeface="Arial"/>
                <a:ea typeface="Arial"/>
                <a:cs typeface="Arial"/>
              </a:rPr>
            </a:br>
            <a:r>
              <a:rPr sz="1800">
                <a:solidFill>
                  <a:srgbClr val="132B45"/>
                </a:solidFill>
                <a:latin typeface="Arial"/>
                <a:ea typeface="Arial"/>
                <a:cs typeface="Arial"/>
              </a:rPr>
              <a:t>Business data-scope bindings</a:t>
            </a:r>
          </a:p>
        </p:txBody>
      </p:sp>
      <p:sp>
        <p:nvSpPr>
          <p:cNvPr id="13" name="monitor">
            <a:extLst xmlns:a="http://schemas.openxmlformats.org/drawingml/2006/main">
              <a:ext uri="{FF2B5EF4-FFF2-40B4-BE49-F238E27FC236}">
                <a16:creationId xmlns:a16="http://schemas.microsoft.com/office/drawing/2014/main" id="{8EAE3103-25A3-461E-8D35-8110757C556D}"/>
              </a:ext>
            </a:extLst>
          </p:cNvPr>
          <p:cNvSpPr>
            <a:spLocks xmlns:a="http://schemas.openxmlformats.org/drawingml/2006/main" noGrp="1"/>
          </p:cNvSpPr>
          <p:nvPr/>
        </p:nvSpPr>
        <p:spPr>
          <a:xfrm xmlns:a="http://schemas.openxmlformats.org/drawingml/2006/main">
            <a:off x="609600" y="6953250"/>
            <a:ext cx="2857500" cy="1047750"/>
          </a:xfrm>
          <a:prstGeom xmlns:a="http://schemas.openxmlformats.org/drawingml/2006/main" prst="roundRect">
            <a:avLst>
              <a:gd name="adj" fmla="val 9091"/>
            </a:avLst>
          </a:prstGeom>
          <a:solidFill xmlns:a="http://schemas.openxmlformats.org/drawingml/2006/main">
            <a:srgbClr val="FEF9C3"/>
          </a:solidFill>
          <a:ln xmlns:a="http://schemas.openxmlformats.org/drawingml/2006/main" w="19050">
            <a:solidFill>
              <a:srgbClr val="A07806"/>
            </a:solidFill>
          </a:ln>
        </p:spPr>
        <p:txBody>
          <a:bodyPr xmlns:a="http://schemas.openxmlformats.org/drawingml/2006/main" wrap="square" lIns="114300" tIns="114300" rIns="114300" bIns="114300" anchor="ctr">
            <a:noAutofit/>
          </a:bodyPr>
          <a:lstStyle xmlns:a="http://schemas.openxmlformats.org/drawingml/2006/main">
            <a:defPPr algn="ctr">
              <a:defRPr sz="1800">
                <a:solidFill>
                  <a:srgbClr val="132B45"/>
                </a:solidFill>
                <a:latin typeface="Arial"/>
                <a:ea typeface="Arial"/>
                <a:cs typeface="Arial"/>
              </a:defRPr>
            </a:defPPr>
          </a:lstStyle>
          <a:p xmlns:a="http://schemas.openxmlformats.org/drawingml/2006/main">
            <a:pPr algn="ctr">
              <a:spcAft>
                <a:spcPts val="10"/>
              </a:spcAft>
              <a:defRPr sz="1800">
                <a:solidFill>
                  <a:srgbClr val="132B45"/>
                </a:solidFill>
                <a:latin typeface="Arial"/>
                <a:ea typeface="Arial"/>
                <a:cs typeface="Arial"/>
              </a:defRPr>
            </a:pPr>
            <a:r>
              <a:rPr sz="1800" b="1">
                <a:solidFill>
                  <a:srgbClr val="132B45"/>
                </a:solidFill>
                <a:latin typeface="Arial"/>
                <a:ea typeface="Arial"/>
                <a:cs typeface="Arial"/>
              </a:rPr>
              <a:t>Azure Monitor</a:t>
            </a:r>
          </a:p>
          <a:p xmlns:a="http://schemas.openxmlformats.org/drawingml/2006/main">
            <a:pPr algn="ctr">
              <a:defRPr sz="1800">
                <a:solidFill>
                  <a:srgbClr val="132B45"/>
                </a:solidFill>
                <a:latin typeface="Arial"/>
                <a:ea typeface="Arial"/>
                <a:cs typeface="Arial"/>
              </a:defRPr>
            </a:pPr>
            <a:r>
              <a:rPr sz="1800">
                <a:solidFill>
                  <a:srgbClr val="132B45"/>
                </a:solidFill>
                <a:latin typeface="Arial"/>
                <a:ea typeface="Arial"/>
                <a:cs typeface="Arial"/>
              </a:rPr>
              <a:t>App Insights, logs, traces</a:t>
            </a:r>
            <a:br>
              <a:rPr sz="1800">
                <a:solidFill>
                  <a:srgbClr val="132B45"/>
                </a:solidFill>
                <a:latin typeface="Arial"/>
                <a:ea typeface="Arial"/>
                <a:cs typeface="Arial"/>
              </a:rPr>
            </a:br>
            <a:r>
              <a:rPr sz="1800">
                <a:solidFill>
                  <a:srgbClr val="132B45"/>
                </a:solidFill>
                <a:latin typeface="Arial"/>
                <a:ea typeface="Arial"/>
                <a:cs typeface="Arial"/>
              </a:rPr>
              <a:t>and operational alerts</a:t>
            </a:r>
          </a:p>
        </p:txBody>
      </p:sp>
      <p:sp>
        <p:nvSpPr>
          <p:cNvPr id="15" name="https">
            <a:extLst xmlns:a="http://schemas.openxmlformats.org/drawingml/2006/main">
              <a:ext uri="{FF2B5EF4-FFF2-40B4-BE49-F238E27FC236}">
                <a16:creationId xmlns:a16="http://schemas.microsoft.com/office/drawing/2014/main" id="{EBB8B441-40DA-49F2-BCE1-C0C55EC1385F}"/>
              </a:ext>
            </a:extLst>
          </p:cNvPr>
          <p:cNvSpPr>
            <a:spLocks xmlns:a="http://schemas.openxmlformats.org/drawingml/2006/main" noGrp="1"/>
          </p:cNvSpPr>
          <p:nvPr/>
        </p:nvSpPr>
        <p:spPr>
          <a:xfrm xmlns:a="http://schemas.openxmlformats.org/drawingml/2006/main">
            <a:off x="3886200" y="2362200"/>
            <a:ext cx="114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2563EB"/>
                </a:solidFill>
                <a:latin typeface="Arial"/>
                <a:ea typeface="Arial"/>
                <a:cs typeface="Arial"/>
              </a:defRPr>
            </a:defPPr>
          </a:lstStyle>
          <a:p xmlns:a="http://schemas.openxmlformats.org/drawingml/2006/main">
            <a:pPr algn="ctr">
              <a:defRPr sz="1650" b="0">
                <a:solidFill>
                  <a:srgbClr val="2563EB"/>
                </a:solidFill>
                <a:latin typeface="Arial"/>
                <a:ea typeface="Arial"/>
                <a:cs typeface="Arial"/>
              </a:defRPr>
            </a:pPr>
            <a:r>
              <a:rPr sz="1650" b="0">
                <a:solidFill>
                  <a:srgbClr val="2563EB"/>
                </a:solidFill>
                <a:latin typeface="Arial"/>
                <a:ea typeface="Arial"/>
                <a:cs typeface="Arial"/>
              </a:rPr>
              <a:t>HTTPS</a:t>
            </a:r>
          </a:p>
        </p:txBody>
      </p:sp>
      <p:sp>
        <p:nvSpPr>
          <p:cNvPr id="17" name="http">
            <a:extLst xmlns:a="http://schemas.openxmlformats.org/drawingml/2006/main">
              <a:ext uri="{FF2B5EF4-FFF2-40B4-BE49-F238E27FC236}">
                <a16:creationId xmlns:a16="http://schemas.microsoft.com/office/drawing/2014/main" id="{476A17B0-7A7E-402A-9FC9-F7333914CED9}"/>
              </a:ext>
            </a:extLst>
          </p:cNvPr>
          <p:cNvSpPr>
            <a:spLocks xmlns:a="http://schemas.openxmlformats.org/drawingml/2006/main" noGrp="1"/>
          </p:cNvSpPr>
          <p:nvPr/>
        </p:nvSpPr>
        <p:spPr>
          <a:xfrm xmlns:a="http://schemas.openxmlformats.org/drawingml/2006/main">
            <a:off x="7953375" y="3324225"/>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563EB"/>
                </a:solidFill>
                <a:latin typeface="Arial"/>
                <a:ea typeface="Arial"/>
                <a:cs typeface="Arial"/>
              </a:defRPr>
            </a:defPPr>
          </a:lstStyle>
          <a:p xmlns:a="http://schemas.openxmlformats.org/drawingml/2006/main">
            <a:pPr algn="l">
              <a:defRPr sz="1650" b="0">
                <a:solidFill>
                  <a:srgbClr val="2563EB"/>
                </a:solidFill>
                <a:latin typeface="Arial"/>
                <a:ea typeface="Arial"/>
                <a:cs typeface="Arial"/>
              </a:defRPr>
            </a:pPr>
            <a:r>
              <a:rPr sz="1650" b="0">
                <a:solidFill>
                  <a:srgbClr val="2563EB"/>
                </a:solidFill>
                <a:latin typeface="Arial"/>
                <a:ea typeface="Arial"/>
                <a:cs typeface="Arial"/>
              </a:rPr>
              <a:t>Authenticated HTTP</a:t>
            </a:r>
          </a:p>
        </p:txBody>
      </p:sp>
      <p:sp>
        <p:nvSpPr>
          <p:cNvPr id="19" name="sso">
            <a:extLst xmlns:a="http://schemas.openxmlformats.org/drawingml/2006/main">
              <a:ext uri="{FF2B5EF4-FFF2-40B4-BE49-F238E27FC236}">
                <a16:creationId xmlns:a16="http://schemas.microsoft.com/office/drawing/2014/main" id="{7F6EDADB-B0FB-40FD-90D2-4E60DB017EEF}"/>
              </a:ext>
            </a:extLst>
          </p:cNvPr>
          <p:cNvSpPr>
            <a:spLocks xmlns:a="http://schemas.openxmlformats.org/drawingml/2006/main" noGrp="1"/>
          </p:cNvSpPr>
          <p:nvPr/>
        </p:nvSpPr>
        <p:spPr>
          <a:xfrm xmlns:a="http://schemas.openxmlformats.org/drawingml/2006/main">
            <a:off x="3667125" y="4000500"/>
            <a:ext cx="1666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650" b="0">
                <a:solidFill>
                  <a:srgbClr val="7C3AED"/>
                </a:solidFill>
                <a:latin typeface="Arial"/>
                <a:ea typeface="Arial"/>
                <a:cs typeface="Arial"/>
              </a:defRPr>
            </a:defPPr>
          </a:lstStyle>
          <a:p xmlns:a="http://schemas.openxmlformats.org/drawingml/2006/main">
            <a:pPr algn="ctr">
              <a:defRPr sz="1650" b="0">
                <a:solidFill>
                  <a:srgbClr val="7C3AED"/>
                </a:solidFill>
                <a:latin typeface="Arial"/>
                <a:ea typeface="Arial"/>
                <a:cs typeface="Arial"/>
              </a:defRPr>
            </a:pPr>
            <a:r>
              <a:rPr sz="1650" b="0">
                <a:solidFill>
                  <a:srgbClr val="7C3AED"/>
                </a:solidFill>
                <a:latin typeface="Arial"/>
                <a:ea typeface="Arial"/>
                <a:cs typeface="Arial"/>
              </a:rPr>
              <a:t>SSO / groups</a:t>
            </a:r>
          </a:p>
        </p:txBody>
      </p:sp>
      <p:cxnSp>
        <p:nvCxnSpPr>
          <p:cNvPr id="21" name="graph-call-1">
            <a:extLst xmlns:a="http://schemas.openxmlformats.org/drawingml/2006/main">
              <a:ext uri="{FF2B5EF4-FFF2-40B4-BE49-F238E27FC236}">
                <a16:creationId xmlns:a16="http://schemas.microsoft.com/office/drawing/2014/main" id="{C3F9AF3B-DAC4-49A3-9CA1-2262CE961D72}"/>
              </a:ext>
            </a:extLst>
          </p:cNvPr>
          <p:cNvCxnSpPr/>
          <p:nvPr/>
        </p:nvCxnSpPr>
        <p:spPr>
          <a:xfrm xmlns:a="http://schemas.openxmlformats.org/drawingml/2006/main" flipH="0" flipV="0">
            <a:off x="10067925" y="4286250"/>
            <a:ext cx="933450" cy="0"/>
          </a:xfrm>
          <a:prstGeom xmlns:a="http://schemas.openxmlformats.org/drawingml/2006/main" prst="straightConnector1">
            <a:avLst/>
          </a:prstGeom>
          <a:ln xmlns:a="http://schemas.openxmlformats.org/drawingml/2006/main" w="23813">
            <a:solidFill>
              <a:srgbClr val="0891B2"/>
            </a:solidFill>
            <a:prstDash val="solid"/>
          </a:ln>
        </p:spPr>
      </p:cxnSp>
      <p:cxnSp>
        <p:nvCxnSpPr>
          <p:cNvPr id="22" name="graph-call-2">
            <a:extLst xmlns:a="http://schemas.openxmlformats.org/drawingml/2006/main">
              <a:ext uri="{FF2B5EF4-FFF2-40B4-BE49-F238E27FC236}">
                <a16:creationId xmlns:a16="http://schemas.microsoft.com/office/drawing/2014/main" id="{4B2D5952-016D-49F2-9935-6E8F5ED1A8F3}"/>
              </a:ext>
            </a:extLst>
          </p:cNvPr>
          <p:cNvCxnSpPr/>
          <p:nvPr/>
        </p:nvCxnSpPr>
        <p:spPr>
          <a:xfrm xmlns:a="http://schemas.openxmlformats.org/drawingml/2006/main" flipH="0" flipV="1">
            <a:off x="11001375" y="2581275"/>
            <a:ext cx="0" cy="1704975"/>
          </a:xfrm>
          <a:prstGeom xmlns:a="http://schemas.openxmlformats.org/drawingml/2006/main" prst="straightConnector1">
            <a:avLst/>
          </a:prstGeom>
          <a:ln xmlns:a="http://schemas.openxmlformats.org/drawingml/2006/main" w="23813">
            <a:solidFill>
              <a:srgbClr val="0891B2"/>
            </a:solidFill>
            <a:prstDash val="solid"/>
          </a:ln>
        </p:spPr>
      </p:cxnSp>
      <p:cxnSp>
        <p:nvCxnSpPr>
          <p:cNvPr id="23" name="graph-call-3">
            <a:extLst xmlns:a="http://schemas.openxmlformats.org/drawingml/2006/main">
              <a:ext uri="{FF2B5EF4-FFF2-40B4-BE49-F238E27FC236}">
                <a16:creationId xmlns:a16="http://schemas.microsoft.com/office/drawing/2014/main" id="{BD9E9D83-0C60-44D6-A03B-FE8B9E440916}"/>
              </a:ext>
            </a:extLst>
          </p:cNvPr>
          <p:cNvCxnSpPr/>
          <p:nvPr/>
        </p:nvCxnSpPr>
        <p:spPr>
          <a:xfrm xmlns:a="http://schemas.openxmlformats.org/drawingml/2006/main" flipH="0" flipV="0">
            <a:off x="11001375" y="2581275"/>
            <a:ext cx="714375" cy="0"/>
          </a:xfrm>
          <a:prstGeom xmlns:a="http://schemas.openxmlformats.org/drawingml/2006/main" prst="straightConnector1">
            <a:avLst/>
          </a:prstGeom>
          <a:ln xmlns:a="http://schemas.openxmlformats.org/drawingml/2006/main" w="23813">
            <a:solidFill>
              <a:srgbClr val="0891B2"/>
            </a:solidFill>
            <a:prstDash val="solid"/>
            <a:tailEnd type="arrow" w="med" len="med"/>
          </a:ln>
        </p:spPr>
      </p:cxnSp>
      <p:cxnSp>
        <p:nvCxnSpPr>
          <p:cNvPr id="24" name="model-call-1">
            <a:extLst xmlns:a="http://schemas.openxmlformats.org/drawingml/2006/main">
              <a:ext uri="{FF2B5EF4-FFF2-40B4-BE49-F238E27FC236}">
                <a16:creationId xmlns:a16="http://schemas.microsoft.com/office/drawing/2014/main" id="{877979B7-47F7-4234-A756-EABAD75F35CA}"/>
              </a:ext>
            </a:extLst>
          </p:cNvPr>
          <p:cNvCxnSpPr/>
          <p:nvPr/>
        </p:nvCxnSpPr>
        <p:spPr>
          <a:xfrm xmlns:a="http://schemas.openxmlformats.org/drawingml/2006/main" flipH="0" flipV="0">
            <a:off x="10067925" y="5086350"/>
            <a:ext cx="600075" cy="0"/>
          </a:xfrm>
          <a:prstGeom xmlns:a="http://schemas.openxmlformats.org/drawingml/2006/main" prst="straightConnector1">
            <a:avLst/>
          </a:prstGeom>
          <a:ln xmlns:a="http://schemas.openxmlformats.org/drawingml/2006/main" w="23813">
            <a:solidFill>
              <a:srgbClr val="EA580C"/>
            </a:solidFill>
            <a:prstDash val="solid"/>
          </a:ln>
        </p:spPr>
      </p:cxnSp>
      <p:cxnSp>
        <p:nvCxnSpPr>
          <p:cNvPr id="25" name="model-call-2">
            <a:extLst xmlns:a="http://schemas.openxmlformats.org/drawingml/2006/main">
              <a:ext uri="{FF2B5EF4-FFF2-40B4-BE49-F238E27FC236}">
                <a16:creationId xmlns:a16="http://schemas.microsoft.com/office/drawing/2014/main" id="{3B70F274-F552-4892-8CBA-F8BCB0E0DC58}"/>
              </a:ext>
            </a:extLst>
          </p:cNvPr>
          <p:cNvCxnSpPr/>
          <p:nvPr/>
        </p:nvCxnSpPr>
        <p:spPr>
          <a:xfrm xmlns:a="http://schemas.openxmlformats.org/drawingml/2006/main" flipH="0" flipV="1">
            <a:off x="10668000" y="4562475"/>
            <a:ext cx="0" cy="523875"/>
          </a:xfrm>
          <a:prstGeom xmlns:a="http://schemas.openxmlformats.org/drawingml/2006/main" prst="straightConnector1">
            <a:avLst/>
          </a:prstGeom>
          <a:ln xmlns:a="http://schemas.openxmlformats.org/drawingml/2006/main" w="23813">
            <a:solidFill>
              <a:srgbClr val="EA580C"/>
            </a:solidFill>
            <a:prstDash val="solid"/>
          </a:ln>
        </p:spPr>
      </p:cxnSp>
      <p:cxnSp>
        <p:nvCxnSpPr>
          <p:cNvPr id="26" name="model-call-3">
            <a:extLst xmlns:a="http://schemas.openxmlformats.org/drawingml/2006/main">
              <a:ext uri="{FF2B5EF4-FFF2-40B4-BE49-F238E27FC236}">
                <a16:creationId xmlns:a16="http://schemas.microsoft.com/office/drawing/2014/main" id="{CB8D5564-A6BC-4122-BDDE-BA08A3A470FE}"/>
              </a:ext>
            </a:extLst>
          </p:cNvPr>
          <p:cNvCxnSpPr/>
          <p:nvPr/>
        </p:nvCxnSpPr>
        <p:spPr>
          <a:xfrm xmlns:a="http://schemas.openxmlformats.org/drawingml/2006/main" flipH="0" flipV="0">
            <a:off x="10668000" y="4562475"/>
            <a:ext cx="1047750" cy="0"/>
          </a:xfrm>
          <a:prstGeom xmlns:a="http://schemas.openxmlformats.org/drawingml/2006/main" prst="straightConnector1">
            <a:avLst/>
          </a:prstGeom>
          <a:ln xmlns:a="http://schemas.openxmlformats.org/drawingml/2006/main" w="23813">
            <a:solidFill>
              <a:srgbClr val="EA580C"/>
            </a:solidFill>
            <a:prstDash val="solid"/>
            <a:tailEnd type="arrow" w="med" len="med"/>
          </a:ln>
        </p:spPr>
      </p:cxnSp>
      <p:cxnSp>
        <p:nvCxnSpPr>
          <p:cNvPr id="27" name="artifact-call-1">
            <a:extLst xmlns:a="http://schemas.openxmlformats.org/drawingml/2006/main">
              <a:ext uri="{FF2B5EF4-FFF2-40B4-BE49-F238E27FC236}">
                <a16:creationId xmlns:a16="http://schemas.microsoft.com/office/drawing/2014/main" id="{5DE0FC56-F161-41CE-9AED-574C5D2CF96C}"/>
              </a:ext>
            </a:extLst>
          </p:cNvPr>
          <p:cNvCxnSpPr/>
          <p:nvPr/>
        </p:nvCxnSpPr>
        <p:spPr>
          <a:xfrm xmlns:a="http://schemas.openxmlformats.org/drawingml/2006/main" flipH="0" flipV="0">
            <a:off x="10067925" y="5905500"/>
            <a:ext cx="1219200" cy="0"/>
          </a:xfrm>
          <a:prstGeom xmlns:a="http://schemas.openxmlformats.org/drawingml/2006/main" prst="straightConnector1">
            <a:avLst/>
          </a:prstGeom>
          <a:ln xmlns:a="http://schemas.openxmlformats.org/drawingml/2006/main" w="23813">
            <a:solidFill>
              <a:srgbClr val="64748B"/>
            </a:solidFill>
            <a:prstDash val="solid"/>
          </a:ln>
        </p:spPr>
      </p:cxnSp>
      <p:cxnSp>
        <p:nvCxnSpPr>
          <p:cNvPr id="28" name="artifact-call-2">
            <a:extLst xmlns:a="http://schemas.openxmlformats.org/drawingml/2006/main">
              <a:ext uri="{FF2B5EF4-FFF2-40B4-BE49-F238E27FC236}">
                <a16:creationId xmlns:a16="http://schemas.microsoft.com/office/drawing/2014/main" id="{A03EC112-97FA-4CEF-821F-88247A107421}"/>
              </a:ext>
            </a:extLst>
          </p:cNvPr>
          <p:cNvCxnSpPr/>
          <p:nvPr/>
        </p:nvCxnSpPr>
        <p:spPr>
          <a:xfrm xmlns:a="http://schemas.openxmlformats.org/drawingml/2006/main" flipH="0" flipV="0">
            <a:off x="11287125" y="5905500"/>
            <a:ext cx="0" cy="95250"/>
          </a:xfrm>
          <a:prstGeom xmlns:a="http://schemas.openxmlformats.org/drawingml/2006/main" prst="straightConnector1">
            <a:avLst/>
          </a:prstGeom>
          <a:ln xmlns:a="http://schemas.openxmlformats.org/drawingml/2006/main" w="23813">
            <a:solidFill>
              <a:srgbClr val="64748B"/>
            </a:solidFill>
            <a:prstDash val="solid"/>
          </a:ln>
        </p:spPr>
      </p:cxnSp>
      <p:cxnSp>
        <p:nvCxnSpPr>
          <p:cNvPr id="29" name="artifact-call-3">
            <a:extLst xmlns:a="http://schemas.openxmlformats.org/drawingml/2006/main">
              <a:ext uri="{FF2B5EF4-FFF2-40B4-BE49-F238E27FC236}">
                <a16:creationId xmlns:a16="http://schemas.microsoft.com/office/drawing/2014/main" id="{040C57D6-B5F4-4749-BFCC-DF91317EE3A2}"/>
              </a:ext>
            </a:extLst>
          </p:cNvPr>
          <p:cNvCxnSpPr/>
          <p:nvPr/>
        </p:nvCxnSpPr>
        <p:spPr>
          <a:xfrm xmlns:a="http://schemas.openxmlformats.org/drawingml/2006/main" flipH="0" flipV="0">
            <a:off x="11287125" y="6000750"/>
            <a:ext cx="428625" cy="0"/>
          </a:xfrm>
          <a:prstGeom xmlns:a="http://schemas.openxmlformats.org/drawingml/2006/main" prst="straightConnector1">
            <a:avLst/>
          </a:prstGeom>
          <a:ln xmlns:a="http://schemas.openxmlformats.org/drawingml/2006/main" w="23813">
            <a:solidFill>
              <a:srgbClr val="64748B"/>
            </a:solidFill>
            <a:prstDash val="solid"/>
            <a:tailEnd type="arrow" w="med" len="med"/>
          </a:ln>
        </p:spPr>
      </p:cxnSp>
      <p:sp>
        <p:nvSpPr>
          <p:cNvPr id="31" name="jdbc">
            <a:extLst xmlns:a="http://schemas.openxmlformats.org/drawingml/2006/main">
              <a:ext uri="{FF2B5EF4-FFF2-40B4-BE49-F238E27FC236}">
                <a16:creationId xmlns:a16="http://schemas.microsoft.com/office/drawing/2014/main" id="{D648908A-0674-4675-B1AC-1733C83FE85A}"/>
              </a:ext>
            </a:extLst>
          </p:cNvPr>
          <p:cNvSpPr>
            <a:spLocks xmlns:a="http://schemas.openxmlformats.org/drawingml/2006/main" noGrp="1"/>
          </p:cNvSpPr>
          <p:nvPr/>
        </p:nvSpPr>
        <p:spPr>
          <a:xfrm xmlns:a="http://schemas.openxmlformats.org/drawingml/2006/main">
            <a:off x="8286750" y="6496050"/>
            <a:ext cx="257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4748B"/>
                </a:solidFill>
                <a:latin typeface="Arial"/>
                <a:ea typeface="Arial"/>
                <a:cs typeface="Arial"/>
              </a:defRPr>
            </a:defPPr>
          </a:lstStyle>
          <a:p xmlns:a="http://schemas.openxmlformats.org/drawingml/2006/main">
            <a:pPr algn="l">
              <a:defRPr sz="1650" b="0">
                <a:solidFill>
                  <a:srgbClr val="64748B"/>
                </a:solidFill>
                <a:latin typeface="Arial"/>
                <a:ea typeface="Arial"/>
                <a:cs typeface="Arial"/>
              </a:defRPr>
            </a:pPr>
            <a:r>
              <a:rPr sz="1650" b="0">
                <a:solidFill>
                  <a:srgbClr val="64748B"/>
                </a:solidFill>
                <a:latin typeface="Arial"/>
                <a:ea typeface="Arial"/>
                <a:cs typeface="Arial"/>
              </a:rPr>
              <a:t>Transactions / JDBC</a:t>
            </a:r>
          </a:p>
        </p:txBody>
      </p:sp>
      <p:cxnSp>
        <p:nvCxnSpPr>
          <p:cNvPr id="32" name="telemetry-1">
            <a:extLst xmlns:a="http://schemas.openxmlformats.org/drawingml/2006/main">
              <a:ext uri="{FF2B5EF4-FFF2-40B4-BE49-F238E27FC236}">
                <a16:creationId xmlns:a16="http://schemas.microsoft.com/office/drawing/2014/main" id="{D58AF676-03FD-4E44-90DC-6ADD46A19B69}"/>
              </a:ext>
            </a:extLst>
          </p:cNvPr>
          <p:cNvCxnSpPr/>
          <p:nvPr/>
        </p:nvCxnSpPr>
        <p:spPr>
          <a:xfrm xmlns:a="http://schemas.openxmlformats.org/drawingml/2006/main" flipH="1" flipV="0">
            <a:off x="4286250" y="6000750"/>
            <a:ext cx="1209675" cy="0"/>
          </a:xfrm>
          <a:prstGeom xmlns:a="http://schemas.openxmlformats.org/drawingml/2006/main" prst="straightConnector1">
            <a:avLst/>
          </a:prstGeom>
          <a:ln xmlns:a="http://schemas.openxmlformats.org/drawingml/2006/main" w="23813">
            <a:solidFill>
              <a:srgbClr val="A07806"/>
            </a:solidFill>
            <a:prstDash val="dash"/>
          </a:ln>
        </p:spPr>
      </p:cxnSp>
      <p:cxnSp>
        <p:nvCxnSpPr>
          <p:cNvPr id="33" name="telemetry-2">
            <a:extLst xmlns:a="http://schemas.openxmlformats.org/drawingml/2006/main">
              <a:ext uri="{FF2B5EF4-FFF2-40B4-BE49-F238E27FC236}">
                <a16:creationId xmlns:a16="http://schemas.microsoft.com/office/drawing/2014/main" id="{B7766E2C-D407-4698-840C-DCAEFA6D0566}"/>
              </a:ext>
            </a:extLst>
          </p:cNvPr>
          <p:cNvCxnSpPr/>
          <p:nvPr/>
        </p:nvCxnSpPr>
        <p:spPr>
          <a:xfrm xmlns:a="http://schemas.openxmlformats.org/drawingml/2006/main" flipH="0" flipV="0">
            <a:off x="4286250" y="6000750"/>
            <a:ext cx="0" cy="1476375"/>
          </a:xfrm>
          <a:prstGeom xmlns:a="http://schemas.openxmlformats.org/drawingml/2006/main" prst="straightConnector1">
            <a:avLst/>
          </a:prstGeom>
          <a:ln xmlns:a="http://schemas.openxmlformats.org/drawingml/2006/main" w="23813">
            <a:solidFill>
              <a:srgbClr val="A07806"/>
            </a:solidFill>
            <a:prstDash val="dash"/>
          </a:ln>
        </p:spPr>
      </p:cxnSp>
      <p:cxnSp>
        <p:nvCxnSpPr>
          <p:cNvPr id="34" name="telemetry-3">
            <a:extLst xmlns:a="http://schemas.openxmlformats.org/drawingml/2006/main">
              <a:ext uri="{FF2B5EF4-FFF2-40B4-BE49-F238E27FC236}">
                <a16:creationId xmlns:a16="http://schemas.microsoft.com/office/drawing/2014/main" id="{5E74973D-0D88-47CB-B342-67E912AEB64E}"/>
              </a:ext>
            </a:extLst>
          </p:cNvPr>
          <p:cNvCxnSpPr/>
          <p:nvPr/>
        </p:nvCxnSpPr>
        <p:spPr>
          <a:xfrm xmlns:a="http://schemas.openxmlformats.org/drawingml/2006/main" flipH="1" flipV="0">
            <a:off x="3467100" y="7477125"/>
            <a:ext cx="819150" cy="0"/>
          </a:xfrm>
          <a:prstGeom xmlns:a="http://schemas.openxmlformats.org/drawingml/2006/main" prst="straightConnector1">
            <a:avLst/>
          </a:prstGeom>
          <a:ln xmlns:a="http://schemas.openxmlformats.org/drawingml/2006/main" w="23813">
            <a:solidFill>
              <a:srgbClr val="A07806"/>
            </a:solidFill>
            <a:prstDash val="dash"/>
            <a:tailEnd type="arrow" w="med" len="med"/>
          </a:ln>
        </p:spPr>
      </p:cxnSp>
      <p:sp>
        <p:nvSpPr>
          <p:cNvPr id="35" name="health">
            <a:extLst xmlns:a="http://schemas.openxmlformats.org/drawingml/2006/main">
              <a:ext uri="{FF2B5EF4-FFF2-40B4-BE49-F238E27FC236}">
                <a16:creationId xmlns:a16="http://schemas.microsoft.com/office/drawing/2014/main" id="{08C5076E-DF00-4439-A9A1-5426A55104D1}"/>
              </a:ext>
            </a:extLst>
          </p:cNvPr>
          <p:cNvSpPr>
            <a:spLocks xmlns:a="http://schemas.openxmlformats.org/drawingml/2006/main" noGrp="1"/>
          </p:cNvSpPr>
          <p:nvPr/>
        </p:nvSpPr>
        <p:spPr>
          <a:xfrm xmlns:a="http://schemas.openxmlformats.org/drawingml/2006/main">
            <a:off x="609600" y="8143875"/>
            <a:ext cx="12573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6677A"/>
                </a:solidFill>
                <a:latin typeface="Arial"/>
                <a:ea typeface="Arial"/>
                <a:cs typeface="Arial"/>
              </a:defRPr>
            </a:defPPr>
          </a:lstStyle>
          <a:p xmlns:a="http://schemas.openxmlformats.org/drawingml/2006/main">
            <a:pPr algn="l">
              <a:defRPr sz="1575" b="0">
                <a:solidFill>
                  <a:srgbClr val="56677A"/>
                </a:solidFill>
                <a:latin typeface="Arial"/>
                <a:ea typeface="Arial"/>
                <a:cs typeface="Arial"/>
              </a:defRPr>
            </a:pPr>
            <a:r>
              <a:rPr sz="1575" b="0">
                <a:solidFill>
                  <a:srgbClr val="56677A"/>
                </a:solidFill>
                <a:latin typeface="Arial"/>
                <a:ea typeface="Arial"/>
                <a:cs typeface="Arial"/>
              </a:rPr>
              <a:t>Managed runtime: health probes, ready-only routing, replica replacement and graceful rollout</a:t>
            </a:r>
          </a:p>
        </p:txBody>
      </p:sp>
    </p:spTree>
    <p:extLst>
      <p:ext uri="{BB962C8B-B14F-4D97-AF65-F5344CB8AC3E}">
        <p14:creationId xmlns:p14="http://schemas.microsoft.com/office/powerpoint/2010/main" val="13303702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F9CFA74C-B36D-4E3C-87C6-19635F98FEB7}"/>
              </a:ext>
            </a:extLst>
          </p:cNvPr>
          <p:cNvSpPr>
            <a:spLocks xmlns:a="http://schemas.openxmlformats.org/drawingml/2006/main" noGrp="1"/>
          </p:cNvSpPr>
          <p:nvPr/>
        </p:nvSpPr>
        <p:spPr>
          <a:xfrm xmlns:a="http://schemas.openxmlformats.org/drawingml/2006/main">
            <a:off x="609600" y="419100"/>
            <a:ext cx="14001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132B45"/>
                </a:solidFill>
                <a:latin typeface="Arial"/>
                <a:ea typeface="Arial"/>
                <a:cs typeface="Arial"/>
              </a:defRPr>
            </a:defPPr>
          </a:lstStyle>
          <a:p xmlns:a="http://schemas.openxmlformats.org/drawingml/2006/main">
            <a:pPr algn="l">
              <a:defRPr sz="3600" b="1">
                <a:solidFill>
                  <a:srgbClr val="132B45"/>
                </a:solidFill>
                <a:latin typeface="Arial"/>
                <a:ea typeface="Arial"/>
                <a:cs typeface="Arial"/>
              </a:defRPr>
            </a:pPr>
            <a:r>
              <a:rPr sz="3600" b="1">
                <a:solidFill>
                  <a:srgbClr val="132B45"/>
                </a:solidFill>
                <a:latin typeface="Arial"/>
                <a:ea typeface="Arial"/>
                <a:cs typeface="Arial"/>
              </a:rPr>
              <a:t>Delivery Milestones and Estimated Labor Cost</a:t>
            </a:r>
          </a:p>
        </p:txBody>
      </p:sp>
      <p:sp>
        <p:nvSpPr>
          <p:cNvPr id="2" name="page">
            <a:extLst xmlns:a="http://schemas.openxmlformats.org/drawingml/2006/main">
              <a:ext uri="{FF2B5EF4-FFF2-40B4-BE49-F238E27FC236}">
                <a16:creationId xmlns:a16="http://schemas.microsoft.com/office/drawing/2014/main" id="{C9FEFE5E-BEEC-4B69-BE5B-657E06E5DF03}"/>
              </a:ext>
            </a:extLst>
          </p:cNvPr>
          <p:cNvSpPr>
            <a:spLocks xmlns:a="http://schemas.openxmlformats.org/drawingml/2006/main" noGrp="1"/>
          </p:cNvSpPr>
          <p:nvPr/>
        </p:nvSpPr>
        <p:spPr>
          <a:xfrm xmlns:a="http://schemas.openxmlformats.org/drawingml/2006/main">
            <a:off x="13811250" y="8143875"/>
            <a:ext cx="8191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6677A"/>
                </a:solidFill>
                <a:latin typeface="Arial"/>
                <a:ea typeface="Arial"/>
                <a:cs typeface="Arial"/>
              </a:defRPr>
            </a:defPPr>
          </a:lstStyle>
          <a:p xmlns:a="http://schemas.openxmlformats.org/drawingml/2006/main">
            <a:pPr algn="r">
              <a:defRPr sz="1500" b="0">
                <a:solidFill>
                  <a:srgbClr val="56677A"/>
                </a:solidFill>
                <a:latin typeface="Arial"/>
                <a:ea typeface="Arial"/>
                <a:cs typeface="Arial"/>
              </a:defRPr>
            </a:pPr>
            <a:r>
              <a:rPr sz="1500" b="0">
                <a:solidFill>
                  <a:srgbClr val="56677A"/>
                </a:solidFill>
                <a:latin typeface="Arial"/>
                <a:ea typeface="Arial"/>
                <a:cs typeface="Arial"/>
              </a:rPr>
              <a:t>5 / 5</a:t>
            </a:r>
          </a:p>
        </p:txBody>
      </p:sp>
      <p:sp>
        <p:nvSpPr>
          <p:cNvPr id="3" name="window">
            <a:extLst xmlns:a="http://schemas.openxmlformats.org/drawingml/2006/main">
              <a:ext uri="{FF2B5EF4-FFF2-40B4-BE49-F238E27FC236}">
                <a16:creationId xmlns:a16="http://schemas.microsoft.com/office/drawing/2014/main" id="{74AAD78B-BA80-4B01-9C72-E6D59F5A3CD6}"/>
              </a:ext>
            </a:extLst>
          </p:cNvPr>
          <p:cNvSpPr>
            <a:spLocks xmlns:a="http://schemas.openxmlformats.org/drawingml/2006/main" noGrp="1"/>
          </p:cNvSpPr>
          <p:nvPr/>
        </p:nvSpPr>
        <p:spPr>
          <a:xfrm xmlns:a="http://schemas.openxmlformats.org/drawingml/2006/main">
            <a:off x="609600" y="1238250"/>
            <a:ext cx="1371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6677A"/>
                </a:solidFill>
                <a:latin typeface="Arial"/>
                <a:ea typeface="Arial"/>
                <a:cs typeface="Arial"/>
              </a:defRPr>
            </a:defPPr>
          </a:lstStyle>
          <a:p xmlns:a="http://schemas.openxmlformats.org/drawingml/2006/main">
            <a:pPr algn="l">
              <a:defRPr sz="2175" b="0">
                <a:solidFill>
                  <a:srgbClr val="56677A"/>
                </a:solidFill>
                <a:latin typeface="Arial"/>
                <a:ea typeface="Arial"/>
                <a:cs typeface="Arial"/>
              </a:defRPr>
            </a:pPr>
            <a:r>
              <a:rPr sz="2175" b="0">
                <a:solidFill>
                  <a:srgbClr val="56677A"/>
                </a:solidFill>
                <a:latin typeface="Arial"/>
                <a:ea typeface="Arial"/>
                <a:cs typeface="Arial"/>
              </a:rPr>
              <a:t>Delivery window: 2 Nov 2026 to 5 Mar 2027</a:t>
            </a:r>
          </a:p>
        </p:txBody>
      </p:sp>
      <p:graphicFrame>
        <p:nvGraphicFramePr>
          <p:cNvPr id="4" name="">
            <a:extLst xmlns:a="http://schemas.openxmlformats.org/drawingml/2006/main">
              <a:ext uri="{FF2B5EF4-FFF2-40B4-BE49-F238E27FC236}">
                <a16:creationId xmlns:a16="http://schemas.microsoft.com/office/drawing/2014/main" id="{1C79FE83-C887-4C95-AAC8-FF5313620895}"/>
              </a:ext>
            </a:extLst>
          </p:cNvPr>
          <p:cNvGraphicFramePr/>
          <p:nvPr/>
        </p:nvGraphicFramePr>
        <p:xfrm>
          <a:off xmlns:a="http://schemas.openxmlformats.org/drawingml/2006/main" x="609600" y="1981200"/>
          <a:ext xmlns:a="http://schemas.openxmlformats.org/drawingml/2006/main" cx="8286750" cy="5448300"/>
        </p:xfrm>
        <a:graphic xmlns:a="http://schemas.openxmlformats.org/drawingml/2006/main">
          <a:graphicData uri="http://schemas.openxmlformats.org/drawingml/2006/table">
            <a:tbl>
              <a:tblPr firstRow="1" bandRow="0"/>
              <a:tblGrid>
                <a:gridCol w="5524500"/>
                <a:gridCol w="2762250"/>
              </a:tblGrid>
              <a:tr h="419100">
                <a:tc>
                  <a:txBody>
                    <a:bodyPr/>
                    <a:lstStyle/>
                    <a:p>
                      <a:r>
                        <a:rPr sz="1725" b="1">
                          <a:solidFill>
                            <a:srgbClr val="FFFFFF"/>
                          </a:solidFill>
                          <a:latin typeface="Arial"/>
                          <a:ea typeface="Arial"/>
                          <a:cs typeface="Arial"/>
                        </a:rPr>
                        <a:t>Milestone</a:t>
                      </a:r>
                    </a:p>
                  </a:txBody>
                  <a:tcPr marL="114300" marR="114300" marT="28575" marB="28575" anchor="ctr">
                    <a:lnL w="6668">
                      <a:solidFill>
                        <a:srgbClr val="DFE5EC"/>
                      </a:solidFill>
                      <a:prstDash val="solid"/>
                    </a:lnL>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c>
                  <a:txBody>
                    <a:bodyPr/>
                    <a:lstStyle/>
                    <a:p>
                      <a:r>
                        <a:rPr sz="1725" b="1">
                          <a:solidFill>
                            <a:srgbClr val="FFFFFF"/>
                          </a:solidFill>
                          <a:latin typeface="Arial"/>
                          <a:ea typeface="Arial"/>
                          <a:cs typeface="Arial"/>
                        </a:rPr>
                        <a:t>Planned date</a:t>
                      </a:r>
                    </a:p>
                  </a:txBody>
                  <a:tcPr marL="114300" marR="114300" marT="28575" marB="28575" anchor="ctr">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r>
              <a:tr h="419100">
                <a:tc>
                  <a:txBody>
                    <a:bodyPr/>
                    <a:lstStyle/>
                    <a:p>
                      <a:r>
                        <a:rPr sz="1725">
                          <a:solidFill>
                            <a:srgbClr val="132B45"/>
                          </a:solidFill>
                          <a:latin typeface="Arial"/>
                          <a:ea typeface="Arial"/>
                          <a:cs typeface="Arial"/>
                        </a:rPr>
                        <a:t>Project kickoff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02 Nov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FSD and UX signoff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13 Nov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CI/CD and test environment ready</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20 Nov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Java features and integration complete</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04 Dec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SIT start</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07 Dec 2026</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SIT signoff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29 Jan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UAT environment and smoke complete</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02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AM UAT start</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15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UAT signoff</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24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Release Go / No-Go</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25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Production rollout</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26 Feb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19100">
                <a:tc>
                  <a:txBody>
                    <a:bodyPr/>
                    <a:lstStyle/>
                    <a:p>
                      <a:r>
                        <a:rPr sz="1725">
                          <a:solidFill>
                            <a:srgbClr val="132B45"/>
                          </a:solidFill>
                          <a:latin typeface="Arial"/>
                          <a:ea typeface="Arial"/>
                          <a:cs typeface="Arial"/>
                        </a:rPr>
                        <a:t>Hypercare and handover complete</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05 Mar 2027</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bl>
          </a:graphicData>
        </a:graphic>
      </p:graphicFrame>
      <p:sp>
        <p:nvSpPr>
          <p:cNvPr id="5" name="total-cost">
            <a:extLst xmlns:a="http://schemas.openxmlformats.org/drawingml/2006/main">
              <a:ext uri="{FF2B5EF4-FFF2-40B4-BE49-F238E27FC236}">
                <a16:creationId xmlns:a16="http://schemas.microsoft.com/office/drawing/2014/main" id="{6A2B41AD-B5B2-495B-96C1-62CE72AD723A}"/>
              </a:ext>
            </a:extLst>
          </p:cNvPr>
          <p:cNvSpPr>
            <a:spLocks xmlns:a="http://schemas.openxmlformats.org/drawingml/2006/main" noGrp="1"/>
          </p:cNvSpPr>
          <p:nvPr/>
        </p:nvSpPr>
        <p:spPr>
          <a:xfrm xmlns:a="http://schemas.openxmlformats.org/drawingml/2006/main">
            <a:off x="9620250" y="1990725"/>
            <a:ext cx="4762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2563EB"/>
                </a:solidFill>
                <a:latin typeface="Arial"/>
                <a:ea typeface="Arial"/>
                <a:cs typeface="Arial"/>
              </a:defRPr>
            </a:defPPr>
          </a:lstStyle>
          <a:p xmlns:a="http://schemas.openxmlformats.org/drawingml/2006/main">
            <a:pPr algn="l">
              <a:defRPr sz="4350" b="1">
                <a:solidFill>
                  <a:srgbClr val="2563EB"/>
                </a:solidFill>
                <a:latin typeface="Arial"/>
                <a:ea typeface="Arial"/>
                <a:cs typeface="Arial"/>
              </a:defRPr>
            </a:pPr>
            <a:r>
              <a:rPr sz="4350" b="1">
                <a:solidFill>
                  <a:srgbClr val="2563EB"/>
                </a:solidFill>
                <a:latin typeface="Arial"/>
                <a:ea typeface="Arial"/>
                <a:cs typeface="Arial"/>
              </a:rPr>
              <a:t>$136,584</a:t>
            </a:r>
          </a:p>
        </p:txBody>
      </p:sp>
      <p:sp>
        <p:nvSpPr>
          <p:cNvPr id="6" name="basis">
            <a:extLst xmlns:a="http://schemas.openxmlformats.org/drawingml/2006/main">
              <a:ext uri="{FF2B5EF4-FFF2-40B4-BE49-F238E27FC236}">
                <a16:creationId xmlns:a16="http://schemas.microsoft.com/office/drawing/2014/main" id="{E608CE35-48A6-417A-9486-A3E537EE0FC9}"/>
              </a:ext>
            </a:extLst>
          </p:cNvPr>
          <p:cNvSpPr>
            <a:spLocks xmlns:a="http://schemas.openxmlformats.org/drawingml/2006/main" noGrp="1"/>
          </p:cNvSpPr>
          <p:nvPr/>
        </p:nvSpPr>
        <p:spPr>
          <a:xfrm xmlns:a="http://schemas.openxmlformats.org/drawingml/2006/main">
            <a:off x="9620250" y="2819400"/>
            <a:ext cx="4953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6677A"/>
                </a:solidFill>
                <a:latin typeface="Arial"/>
                <a:ea typeface="Arial"/>
                <a:cs typeface="Arial"/>
              </a:defRPr>
            </a:defPPr>
          </a:lstStyle>
          <a:p xmlns:a="http://schemas.openxmlformats.org/drawingml/2006/main">
            <a:pPr algn="l">
              <a:defRPr sz="1875" b="0">
                <a:solidFill>
                  <a:srgbClr val="56677A"/>
                </a:solidFill>
                <a:latin typeface="Arial"/>
                <a:ea typeface="Arial"/>
                <a:cs typeface="Arial"/>
              </a:defRPr>
            </a:pPr>
            <a:r>
              <a:rPr sz="1875" b="0">
                <a:solidFill>
                  <a:srgbClr val="56677A"/>
                </a:solidFill>
                <a:latin typeface="Arial"/>
                <a:ea typeface="Arial"/>
                <a:cs typeface="Arial"/>
              </a:rPr>
              <a:t>379.4 scheduled person-days at USD 360/day</a:t>
            </a:r>
          </a:p>
        </p:txBody>
      </p:sp>
      <p:graphicFrame>
        <p:nvGraphicFramePr>
          <p:cNvPr id="7" name="">
            <a:extLst xmlns:a="http://schemas.openxmlformats.org/drawingml/2006/main">
              <a:ext uri="{FF2B5EF4-FFF2-40B4-BE49-F238E27FC236}">
                <a16:creationId xmlns:a16="http://schemas.microsoft.com/office/drawing/2014/main" id="{86B4C867-A682-402B-A1E0-84A88995B95E}"/>
              </a:ext>
            </a:extLst>
          </p:cNvPr>
          <p:cNvGraphicFramePr/>
          <p:nvPr/>
        </p:nvGraphicFramePr>
        <p:xfrm>
          <a:off xmlns:a="http://schemas.openxmlformats.org/drawingml/2006/main" x="9620250" y="3686175"/>
          <a:ext xmlns:a="http://schemas.openxmlformats.org/drawingml/2006/main" cx="5000625" cy="3600450"/>
        </p:xfrm>
        <a:graphic xmlns:a="http://schemas.openxmlformats.org/drawingml/2006/main">
          <a:graphicData uri="http://schemas.openxmlformats.org/drawingml/2006/table">
            <a:tbl>
              <a:tblPr firstRow="1" bandRow="0"/>
              <a:tblGrid>
                <a:gridCol w="2047875"/>
                <a:gridCol w="1000125"/>
                <a:gridCol w="1952625"/>
              </a:tblGrid>
              <a:tr h="400050">
                <a:tc>
                  <a:txBody>
                    <a:bodyPr/>
                    <a:lstStyle/>
                    <a:p>
                      <a:r>
                        <a:rPr sz="1725" b="1">
                          <a:solidFill>
                            <a:srgbClr val="FFFFFF"/>
                          </a:solidFill>
                          <a:latin typeface="Arial"/>
                          <a:ea typeface="Arial"/>
                          <a:cs typeface="Arial"/>
                        </a:rPr>
                        <a:t>Resource</a:t>
                      </a:r>
                    </a:p>
                  </a:txBody>
                  <a:tcPr marL="114300" marR="114300" marT="28575" marB="28575" anchor="ctr">
                    <a:lnL w="6668">
                      <a:solidFill>
                        <a:srgbClr val="DFE5EC"/>
                      </a:solidFill>
                      <a:prstDash val="solid"/>
                    </a:lnL>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c>
                  <a:txBody>
                    <a:bodyPr/>
                    <a:lstStyle/>
                    <a:p>
                      <a:r>
                        <a:rPr sz="1725" b="1">
                          <a:solidFill>
                            <a:srgbClr val="FFFFFF"/>
                          </a:solidFill>
                          <a:latin typeface="Arial"/>
                          <a:ea typeface="Arial"/>
                          <a:cs typeface="Arial"/>
                        </a:rPr>
                        <a:t>Days</a:t>
                      </a:r>
                    </a:p>
                  </a:txBody>
                  <a:tcPr marL="114300" marR="114300" marT="28575" marB="28575" anchor="ctr">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c>
                  <a:txBody>
                    <a:bodyPr/>
                    <a:lstStyle/>
                    <a:p>
                      <a:r>
                        <a:rPr sz="1725" b="1">
                          <a:solidFill>
                            <a:srgbClr val="FFFFFF"/>
                          </a:solidFill>
                          <a:latin typeface="Arial"/>
                          <a:ea typeface="Arial"/>
                          <a:cs typeface="Arial"/>
                        </a:rPr>
                        <a:t>Cost (USD)</a:t>
                      </a:r>
                    </a:p>
                  </a:txBody>
                  <a:tcPr marL="114300" marR="114300" marT="28575" marB="28575" anchor="ctr">
                    <a:lnR w="6668">
                      <a:solidFill>
                        <a:srgbClr val="DFE5EC"/>
                      </a:solidFill>
                      <a:prstDash val="solid"/>
                    </a:lnR>
                    <a:lnT w="6668">
                      <a:solidFill>
                        <a:srgbClr val="DFE5EC"/>
                      </a:solidFill>
                      <a:prstDash val="solid"/>
                    </a:lnT>
                    <a:lnB w="6668">
                      <a:solidFill>
                        <a:srgbClr val="DFE5EC"/>
                      </a:solidFill>
                      <a:prstDash val="solid"/>
                    </a:lnB>
                    <a:solidFill>
                      <a:srgbClr val="132B45"/>
                    </a:solidFill>
                  </a:tcPr>
                </a:tc>
              </a:tr>
              <a:tr h="400050">
                <a:tc>
                  <a:txBody>
                    <a:bodyPr/>
                    <a:lstStyle/>
                    <a:p>
                      <a:r>
                        <a:rPr sz="1725">
                          <a:solidFill>
                            <a:srgbClr val="132B45"/>
                          </a:solidFill>
                          <a:latin typeface="Arial"/>
                          <a:ea typeface="Arial"/>
                          <a:cs typeface="Arial"/>
                        </a:rPr>
                        <a:t>Dev 1</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54.5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$19,620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Dev 2</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55.5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$19,980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DS</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61.4</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$22,104</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Tester 1</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58.5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$21,060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Tester 2</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58.5</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$21,060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BA</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49.0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$17,640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a:solidFill>
                            <a:srgbClr val="132B45"/>
                          </a:solidFill>
                          <a:latin typeface="Arial"/>
                          <a:ea typeface="Arial"/>
                          <a:cs typeface="Arial"/>
                        </a:rPr>
                        <a:t>UI/UX</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42.0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c>
                  <a:txBody>
                    <a:bodyPr/>
                    <a:lstStyle/>
                    <a:p>
                      <a:r>
                        <a:rPr sz="1725">
                          <a:solidFill>
                            <a:srgbClr val="132B45"/>
                          </a:solidFill>
                          <a:latin typeface="Arial"/>
                          <a:ea typeface="Arial"/>
                          <a:cs typeface="Arial"/>
                        </a:rPr>
                        <a:t>$15,120</a:t>
                      </a:r>
                    </a:p>
                  </a:txBody>
                  <a:tcPr marL="114300" marR="114300" marT="28575" marB="28575" anchor="ctr">
                    <a:lnR w="6668">
                      <a:solidFill>
                        <a:srgbClr val="DFE5EC"/>
                      </a:solidFill>
                      <a:prstDash val="solid"/>
                    </a:lnR>
                    <a:lnB w="6668">
                      <a:solidFill>
                        <a:srgbClr val="DFE5EC"/>
                      </a:solidFill>
                      <a:prstDash val="solid"/>
                    </a:lnB>
                    <a:solidFill>
                      <a:srgbClr val="FFFFFF"/>
                    </a:solidFill>
                  </a:tcPr>
                </a:tc>
              </a:tr>
              <a:tr h="400050">
                <a:tc>
                  <a:txBody>
                    <a:bodyPr/>
                    <a:lstStyle/>
                    <a:p>
                      <a:r>
                        <a:rPr sz="1725" b="1">
                          <a:solidFill>
                            <a:srgbClr val="132B45"/>
                          </a:solidFill>
                          <a:latin typeface="Arial"/>
                          <a:ea typeface="Arial"/>
                          <a:cs typeface="Arial"/>
                        </a:rPr>
                        <a:t>TOTAL</a:t>
                      </a:r>
                    </a:p>
                  </a:txBody>
                  <a:tcPr marL="114300" marR="114300" marT="28575" marB="28575" anchor="ctr">
                    <a:lnL w="6668">
                      <a:solidFill>
                        <a:srgbClr val="DFE5EC"/>
                      </a:solidFill>
                      <a:prstDash val="solid"/>
                    </a:lnL>
                    <a:lnR w="6668">
                      <a:solidFill>
                        <a:srgbClr val="DFE5EC"/>
                      </a:solidFill>
                      <a:prstDash val="solid"/>
                    </a:lnR>
                    <a:lnB w="6668">
                      <a:solidFill>
                        <a:srgbClr val="DFE5EC"/>
                      </a:solidFill>
                      <a:prstDash val="solid"/>
                    </a:lnB>
                    <a:solidFill>
                      <a:srgbClr val="DBEAFE"/>
                    </a:solidFill>
                  </a:tcPr>
                </a:tc>
                <a:tc>
                  <a:txBody>
                    <a:bodyPr/>
                    <a:lstStyle/>
                    <a:p>
                      <a:r>
                        <a:rPr sz="1725" b="1">
                          <a:solidFill>
                            <a:srgbClr val="132B45"/>
                          </a:solidFill>
                          <a:latin typeface="Arial"/>
                          <a:ea typeface="Arial"/>
                          <a:cs typeface="Arial"/>
                        </a:rPr>
                        <a:t>379.4</a:t>
                      </a:r>
                    </a:p>
                  </a:txBody>
                  <a:tcPr marL="114300" marR="114300" marT="28575" marB="28575" anchor="ctr">
                    <a:lnR w="6668">
                      <a:solidFill>
                        <a:srgbClr val="DFE5EC"/>
                      </a:solidFill>
                      <a:prstDash val="solid"/>
                    </a:lnR>
                    <a:lnB w="6668">
                      <a:solidFill>
                        <a:srgbClr val="DFE5EC"/>
                      </a:solidFill>
                      <a:prstDash val="solid"/>
                    </a:lnB>
                    <a:solidFill>
                      <a:srgbClr val="DBEAFE"/>
                    </a:solidFill>
                  </a:tcPr>
                </a:tc>
                <a:tc>
                  <a:txBody>
                    <a:bodyPr/>
                    <a:lstStyle/>
                    <a:p>
                      <a:r>
                        <a:rPr sz="1725" b="1">
                          <a:solidFill>
                            <a:srgbClr val="132B45"/>
                          </a:solidFill>
                          <a:latin typeface="Arial"/>
                          <a:ea typeface="Arial"/>
                          <a:cs typeface="Arial"/>
                        </a:rPr>
                        <a:t>$136,584</a:t>
                      </a:r>
                    </a:p>
                  </a:txBody>
                  <a:tcPr marL="114300" marR="114300" marT="28575" marB="28575" anchor="ctr">
                    <a:lnR w="6668">
                      <a:solidFill>
                        <a:srgbClr val="DFE5EC"/>
                      </a:solidFill>
                      <a:prstDash val="solid"/>
                    </a:lnR>
                    <a:lnB w="6668">
                      <a:solidFill>
                        <a:srgbClr val="DFE5EC"/>
                      </a:solidFill>
                      <a:prstDash val="solid"/>
                    </a:lnB>
                    <a:solidFill>
                      <a:srgbClr val="DBEAFE"/>
                    </a:solidFill>
                  </a:tcPr>
                </a:tc>
              </a:tr>
            </a:tbl>
          </a:graphicData>
        </a:graphic>
      </p:graphicFrame>
      <p:sp>
        <p:nvSpPr>
          <p:cNvPr id="8" name="leave">
            <a:extLst xmlns:a="http://schemas.openxmlformats.org/drawingml/2006/main">
              <a:ext uri="{FF2B5EF4-FFF2-40B4-BE49-F238E27FC236}">
                <a16:creationId xmlns:a16="http://schemas.microsoft.com/office/drawing/2014/main" id="{F30D65FC-B0F9-401F-A34E-361AB90DD000}"/>
              </a:ext>
            </a:extLst>
          </p:cNvPr>
          <p:cNvSpPr>
            <a:spLocks xmlns:a="http://schemas.openxmlformats.org/drawingml/2006/main" noGrp="1"/>
          </p:cNvSpPr>
          <p:nvPr/>
        </p:nvSpPr>
        <p:spPr>
          <a:xfrm xmlns:a="http://schemas.openxmlformats.org/drawingml/2006/main">
            <a:off x="609600" y="7629525"/>
            <a:ext cx="1400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132B45"/>
                </a:solidFill>
                <a:latin typeface="Arial"/>
                <a:ea typeface="Arial"/>
                <a:cs typeface="Arial"/>
              </a:defRPr>
            </a:defPPr>
          </a:lstStyle>
          <a:p xmlns:a="http://schemas.openxmlformats.org/drawingml/2006/main">
            <a:pPr algn="l">
              <a:defRPr sz="1650" b="0">
                <a:solidFill>
                  <a:srgbClr val="132B45"/>
                </a:solidFill>
                <a:latin typeface="Arial"/>
                <a:ea typeface="Arial"/>
                <a:cs typeface="Arial"/>
              </a:defRPr>
            </a:pPr>
            <a:r>
              <a:rPr sz="1650" b="0">
                <a:solidFill>
                  <a:srgbClr val="132B45"/>
                </a:solidFill>
                <a:latin typeface="Arial"/>
                <a:ea typeface="Arial"/>
                <a:cs typeface="Arial"/>
              </a:rPr>
              <a:t>Feb 3-12 leave excluded. UAT has 8 workdays. Production depends on Feb 24 signoff and Feb 25 Go decision.</a:t>
            </a:r>
          </a:p>
        </p:txBody>
      </p:sp>
      <p:sp>
        <p:nvSpPr>
          <p:cNvPr id="9" name="cost-exclusion">
            <a:extLst xmlns:a="http://schemas.openxmlformats.org/drawingml/2006/main">
              <a:ext uri="{FF2B5EF4-FFF2-40B4-BE49-F238E27FC236}">
                <a16:creationId xmlns:a16="http://schemas.microsoft.com/office/drawing/2014/main" id="{2219B9AE-24B3-46C3-844B-2CC6D4847D47}"/>
              </a:ext>
            </a:extLst>
          </p:cNvPr>
          <p:cNvSpPr>
            <a:spLocks xmlns:a="http://schemas.openxmlformats.org/drawingml/2006/main" noGrp="1"/>
          </p:cNvSpPr>
          <p:nvPr/>
        </p:nvSpPr>
        <p:spPr>
          <a:xfrm xmlns:a="http://schemas.openxmlformats.org/drawingml/2006/main">
            <a:off x="609600" y="8010525"/>
            <a:ext cx="1295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0">
                <a:solidFill>
                  <a:srgbClr val="56677A"/>
                </a:solidFill>
                <a:latin typeface="Arial"/>
                <a:ea typeface="Arial"/>
                <a:cs typeface="Arial"/>
              </a:defRPr>
            </a:defPPr>
          </a:lstStyle>
          <a:p xmlns:a="http://schemas.openxmlformats.org/drawingml/2006/main">
            <a:pPr algn="l">
              <a:defRPr sz="1575" b="0">
                <a:solidFill>
                  <a:srgbClr val="56677A"/>
                </a:solidFill>
                <a:latin typeface="Arial"/>
                <a:ea typeface="Arial"/>
                <a:cs typeface="Arial"/>
              </a:defRPr>
            </a:pPr>
            <a:r>
              <a:rPr sz="1575" b="0">
                <a:solidFill>
                  <a:srgbClr val="56677A"/>
                </a:solidFill>
                <a:latin typeface="Arial"/>
                <a:ea typeface="Arial"/>
                <a:cs typeface="Arial"/>
              </a:rPr>
              <a:t>Labor estimate excludes Azure, model consumption, external IT/AM time and overhead. Friday rollout requires staffed on-call coverage.</a:t>
            </a:r>
          </a:p>
        </p:txBody>
      </p:sp>
    </p:spTree>
    <p:extLst>
      <p:ext uri="{BB962C8B-B14F-4D97-AF65-F5344CB8AC3E}">
        <p14:creationId xmlns:p14="http://schemas.microsoft.com/office/powerpoint/2010/main" val="207419194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2026-10-21T09:38:24.6610000Z</dcterms:created>
  <dcterms:modified xsi:type="dcterms:W3CDTF">2026-10-21T09:38:24.6610000Z</dcterms:modified>
</coreProperties>
</file>