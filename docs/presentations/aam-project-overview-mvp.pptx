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74e800caf7f4433" /><Relationship Type="http://schemas.openxmlformats.org/officeDocument/2006/relationships/extended-properties" Target="/docProps/app.xml" Id="R10724e2ac69b4da4" /><Relationship Type="http://schemas.openxmlformats.org/officeDocument/2006/relationships/officeDocument" Target="/ppt/presentation.xml" Id="Rf4b675cdc16a44fa" /></Relationships>
</file>

<file path=ppt/presentation.xml><?xml version="1.0" encoding="utf-8"?>
<p:presentation xmlns:p="http://schemas.openxmlformats.org/presentationml/2006/main">
  <p:sldMasterIdLst>
    <p:sldMasterId xmlns:r="http://schemas.openxmlformats.org/officeDocument/2006/relationships" id="2147483648" r:id="Ra4ecc726ec0b43b3"/>
  </p:sldMasterIdLst>
  <p:notesMasterIdLst>
    <p:notesMasterId xmlns:r="http://schemas.openxmlformats.org/officeDocument/2006/relationships" r:id="R302ef0c27beb4116"/>
  </p:notesMasterIdLst>
  <p:sldIdLst>
    <p:sldId xmlns:r="http://schemas.openxmlformats.org/officeDocument/2006/relationships" id="256" r:id="R3cd6e4c664c041e7"/>
    <p:sldId xmlns:r="http://schemas.openxmlformats.org/officeDocument/2006/relationships" id="257" r:id="R45aaed328a7d4b7b"/>
    <p:sldId xmlns:r="http://schemas.openxmlformats.org/officeDocument/2006/relationships" id="258" r:id="R2643e5278efa48b7"/>
    <p:sldId xmlns:r="http://schemas.openxmlformats.org/officeDocument/2006/relationships" id="259" r:id="R31907abc348345c0"/>
    <p:sldId xmlns:r="http://schemas.openxmlformats.org/officeDocument/2006/relationships" id="260" r:id="Re883fd7849a94715"/>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f3b470831f840ce" /><Relationship Type="http://schemas.openxmlformats.org/officeDocument/2006/relationships/slideMaster" Target="/ppt/slideMasters/slideMaster1.xml" Id="Ra4ecc726ec0b43b3" /><Relationship Type="http://schemas.openxmlformats.org/officeDocument/2006/relationships/notesMaster" Target="/ppt/notesMasters/notesMaster1.xml" Id="R302ef0c27beb4116" /><Relationship Type="http://schemas.openxmlformats.org/officeDocument/2006/relationships/presProps" Target="/ppt/presProps.xml" Id="R2f64dc4852654188" /><Relationship Type="http://schemas.openxmlformats.org/officeDocument/2006/relationships/tableStyles" Target="/ppt/tableStyles.xml" Id="R919f9837c7c946cf" /><Relationship Type="http://schemas.openxmlformats.org/officeDocument/2006/relationships/slide" Target="/ppt/slides/slide1.xml" Id="R3cd6e4c664c041e7" /><Relationship Type="http://schemas.openxmlformats.org/officeDocument/2006/relationships/slide" Target="/ppt/slides/slide2.xml" Id="R45aaed328a7d4b7b" /><Relationship Type="http://schemas.openxmlformats.org/officeDocument/2006/relationships/slide" Target="/ppt/slides/slide3.xml" Id="R2643e5278efa48b7" /><Relationship Type="http://schemas.openxmlformats.org/officeDocument/2006/relationships/slide" Target="/ppt/slides/slide4.xml" Id="R31907abc348345c0" /><Relationship Type="http://schemas.openxmlformats.org/officeDocument/2006/relationships/slide" Target="/ppt/slides/slide5.xml" Id="Re883fd7849a9471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eee55767a1e422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6981a3564664c07" /><Relationship Type="http://schemas.openxmlformats.org/officeDocument/2006/relationships/notesMaster" Target="/ppt/notesMasters/notesMaster1.xml" Id="Rab520c4765d24e54" /></Relationships>
</file>

<file path=ppt/notesSlides/_rels/notesSlide2.xml.rels>&#65279;<?xml version="1.0" encoding="utf-8"?><Relationships xmlns="http://schemas.openxmlformats.org/package/2006/relationships"><Relationship Type="http://schemas.openxmlformats.org/officeDocument/2006/relationships/slide" Target="/ppt/slides/slide2.xml" Id="Rd7e93a863cdc4076" /><Relationship Type="http://schemas.openxmlformats.org/officeDocument/2006/relationships/notesMaster" Target="/ppt/notesMasters/notesMaster1.xml" Id="R790f369d21294180" /></Relationships>
</file>

<file path=ppt/notesSlides/_rels/notesSlide3.xml.rels>&#65279;<?xml version="1.0" encoding="utf-8"?><Relationships xmlns="http://schemas.openxmlformats.org/package/2006/relationships"><Relationship Type="http://schemas.openxmlformats.org/officeDocument/2006/relationships/slide" Target="/ppt/slides/slide3.xml" Id="R028f16068cb64166" /><Relationship Type="http://schemas.openxmlformats.org/officeDocument/2006/relationships/notesMaster" Target="/ppt/notesMasters/notesMaster1.xml" Id="Rf4fe1bf330844488" /></Relationships>
</file>

<file path=ppt/notesSlides/_rels/notesSlide4.xml.rels>&#65279;<?xml version="1.0" encoding="utf-8"?><Relationships xmlns="http://schemas.openxmlformats.org/package/2006/relationships"><Relationship Type="http://schemas.openxmlformats.org/officeDocument/2006/relationships/slide" Target="/ppt/slides/slide4.xml" Id="R2f82637eca7f4504" /><Relationship Type="http://schemas.openxmlformats.org/officeDocument/2006/relationships/notesMaster" Target="/ppt/notesMasters/notesMaster1.xml" Id="R8f9d2bcd380d4d1b" /></Relationships>
</file>

<file path=ppt/notesSlides/_rels/notesSlide5.xml.rels>&#65279;<?xml version="1.0" encoding="utf-8"?><Relationships xmlns="http://schemas.openxmlformats.org/package/2006/relationships"><Relationship Type="http://schemas.openxmlformats.org/officeDocument/2006/relationships/slide" Target="/ppt/slides/slide5.xml" Id="Rb9ce2885ecf34cb2" /><Relationship Type="http://schemas.openxmlformats.org/officeDocument/2006/relationships/notesMaster" Target="/ppt/notesMasters/notesMaster1.xml" Id="Racfe96770a2f4e4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Background and scope: Aaron's project brief and accepted RBAC decision in this conversation. AAM organizes email-derived customer work into reviewed Cases and Open Items. Fixed MVP roles: Local AM, Regional AM, Group Director and AAM Admin, with business-group/region/customer data scopes. Okta owns role-group memberships. Java enforces action permissions AND applicable resource scopes. AAM Admin is an application role, not an Okta admin role, and does not automatically grant all mailbox access. Director can define authorized Playbooks and view scoped overall Case status. Detailed permissions require FSD signoff. No quantified productivity benefit has been assumed.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https://github.com/realAaronWu/aam/blob/4266cc34b7c7639256ebb993810caeea34608a82/docs/architecture/diagrams/aam-java-services-ha-architecture.drawio and https://github.com/realAaronWu/aam/blob/4266cc34b7c7639256ebb993810caeea34608a82/docs/planning/AAM_Delivery_Plan_FSD_SIT_UAT_to_2027-03-05_EN.xlsx . One backend deployment has identical replicas that handle HTTP and async work. Recovery can repeat AI computation while fenced database commits and business idempotency prevent duplicate effects. Graph send outcomes can be uncertain and require reconciliation, not blind retries. These are design controls, not an implemented production qualification.</a:t>
            </a:r>
          </a:p>
          <a:p xmlns:a="http://schemas.openxmlformats.org/drawingml/2006/main">
            <a:r>
              <a:t/>
            </a:r>
          </a:p>
          <a:p xmlns:a="http://schemas.openxmlformats.org/drawingml/2006/main">
            <a:r>
              <a:t>RBAC addition approved by Aaron: MVP has fixed Local AM, Regional AM, Group Director and AAM Admin roles. Okta is authoritative for role-group membership. Java maps these groups to action permissions and enforces them together with applicable business-group, region and customer scopes. PostgreSQL owns business scope bindings and audit, not a second editable role-membership authority. Default deny applies. Local AM access follows assigned customers; Regional AM access follows authorized regions; Directors can define authorized Playbooks and see authorized group-wide Case status. AAM Admin can manage Playbooks/configuration without automatic unrestricted access to raw mail. Dashboard summaries, list/detail/search/export and AI context must respect scope. Java rechecks current authorization for user-initiated jobs and before sensitive effects; ingestion uses explicit mailbox/service grants. AM approval before sending remains required. Entra/Graph mailbox permissions remain an independent limit. Scope control is cross-cutting, not another business step or service. Confirm Okta authorization-server licensing and session/token integration during implementation. Sources for capability boundaries: https://developer.okta.com/docs/guides/customize-tokens-groups-claim/ , https://developer.okta.com/docs/concepts/auth-servers/ , https://docs.spring.io/spring-security/reference/servlet/oauth2/resource-server/jwt.html . The referenced GitHub diagrams are the baseline before this accepted RBAC addition.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https://github.com/realAaronWu/aam/blob/4266cc34b7c7639256ebb993810caeea34608a82/docs/architecture/diagrams/aam-logical-component-flow.drawio . Reflowed to a widescreen, editable PowerPoint component diagram. Preserves numbered core path 01-06, reply branch 04.1-04.3 and Playbook management 07-08. Green arrows show the business path, purple supplies Playbook rules, orange starts AI draft generation, blue represents human review and cyan sends through Graph. AI also supports intent, summaries and Playbook authoring. Progress updates change Case/Open Item state. The original draw.io remains the detailed source.</a:t>
            </a:r>
          </a:p>
          <a:p xmlns:a="http://schemas.openxmlformats.org/drawingml/2006/main">
            <a:r>
              <a:t/>
            </a:r>
          </a:p>
          <a:p xmlns:a="http://schemas.openxmlformats.org/drawingml/2006/main">
            <a:r>
              <a:t>RBAC addition approved by Aaron: MVP has fixed Local AM, Regional AM, Group Director and AAM Admin roles. Okta is authoritative for role-group membership. Java maps these groups to action permissions and enforces them together with applicable business-group, region and customer scopes. PostgreSQL owns business scope bindings and audit, not a second editable role-membership authority. Default deny applies. Local AM access follows assigned customers; Regional AM access follows authorized regions; Directors can define authorized Playbooks and see authorized group-wide Case status. AAM Admin can manage Playbooks/configuration without automatic unrestricted access to raw mail. Dashboard summaries, list/detail/search/export and AI context must respect scope. Java rechecks current authorization for user-initiated jobs and before sensitive effects; ingestion uses explicit mailbox/service grants. AM approval before sending remains required. Entra/Graph mailbox permissions remain an independent limit. Scope control is cross-cutting, not another business step or service. Confirm Okta authorization-server licensing and session/token integration during implementation. Sources for capability boundaries: https://developer.okta.com/docs/guides/customize-tokens-groups-claim/ , https://developer.okta.com/docs/concepts/auth-servers/ , https://docs.spring.io/spring-security/reference/servlet/oauth2/resource-server/jwt.html . The referenced GitHub diagrams are the baseline before this accepted RBAC addition.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https://github.com/realAaronWu/aam/blob/4266cc34b7c7639256ebb993810caeea34608a82/docs/architecture/diagrams/aam-java-services-ha-architecture.drawio . Widescreen reflow preserves the current single-Java-backend architecture and its identity, mail, AI, storage and observability integrations. AM is a user role, not a service. Portal/BFF and Java backend are separate deployments. Every Java replica runs HTTP and bounded async execution; logical modules are not separate microservices. PostgreSQL uses a primary/standby and one write endpoint. Durable job claims, lease renewal, fencing, request idempotency and unique business keys protect recovery. Database HA protection depends on the selected replication/failover configuration. Azure Blob remains in the current source diagram for file artifacts. Okta and Entra arrows describe integration dependencies, not the full OAuth redirect sequence. GitHub Actions is delivery tooling described on slide 2, not a runtime request dependency.</a:t>
            </a:r>
          </a:p>
          <a:p xmlns:a="http://schemas.openxmlformats.org/drawingml/2006/main">
            <a:r>
              <a:t/>
            </a:r>
          </a:p>
          <a:p xmlns:a="http://schemas.openxmlformats.org/drawingml/2006/main">
            <a:r>
              <a:t>RBAC addition approved by Aaron: MVP has fixed Local AM, Regional AM, Group Director and AAM Admin roles. Okta is authoritative for role-group membership. Java maps these groups to action permissions and enforces them together with applicable business-group, region and customer scopes. PostgreSQL owns business scope bindings and audit, not a second editable role-membership authority. Default deny applies. Local AM access follows assigned customers; Regional AM access follows authorized regions; Directors can define authorized Playbooks and see authorized group-wide Case status. AAM Admin can manage Playbooks/configuration without automatic unrestricted access to raw mail. Dashboard summaries, list/detail/search/export and AI context must respect scope. Java rechecks current authorization for user-initiated jobs and before sensitive effects; ingestion uses explicit mailbox/service grants. AM approval before sending remains required. Entra/Graph mailbox permissions remain an independent limit. Scope control is cross-cutting, not another business step or service. Confirm Okta authorization-server licensing and session/token integration during implementation. Sources for capability boundaries: https://developer.okta.com/docs/guides/customize-tokens-groups-claim/ , https://developer.okta.com/docs/concepts/auth-servers/ , https://docs.spring.io/spring-security/reference/servlet/oauth2/resource-server/jwt.html . The referenced GitHub diagrams are the baseline before this accepted RBAC addition.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updated AAM_Delivery_Plan_UAT_PM_Budget_EN.xlsx, SHA-256 4f753f4e8f27124e0dc6d1a3ef25341f4f5fa4cc54e23b5adb8b96bfb0b8db09. Eight resources include PM at 0.5 person-day for each of 82 working days, totaling41 PM days and USD14760. Labor420.4 days x USD360 = USD151344. Pen test is a separate USD15000 fixed fee, assigned before Jan31 per user instruction, for total USD166344. Through Jan31 total USD138300; from Feb1 through Mar5 USD28044. Potential users participate Jan18-Feb24, 20 effective workdays excluding Feb3-12 leave. PM/BA book users Jan4-8 and train/access-check Jan11-15. SIT signoff and UAT readiness Jan15, initial candidate freeze Jan8 and independent evaluation Jan11-15; engineering QA continues during UAT. Pen test report Jan29 and retest Feb19, with retest assumed included in fee and execution in an isolated approved environment. User participation time is required but unestimated/unpriced. UAT signoff Feb24, Go/No-GoFeb25, productionFeb26, handoverMar5. Friday rollout needs staffed rollback/on-call. Budget/milestones remain planned estimates and pending approvals.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0b75e7643c3461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e7dd221b312448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1f079c7982c49d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0dc7fc95ed449c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0b2a27f27d5476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f54a11bb52f4b6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42A0E33-88EC-4931-B865-7AB0A188E6D6}"/>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21E137D-AC8B-4243-95AF-C4163E2C24D8}"/>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10DEDD5-7B05-4B16-BD09-3D04C42CE113}"/>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FC6AB72-A31D-48E8-86BF-5289082E9BE9}"/>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514B793-1840-4CBF-9AEA-3278DC32F0F6}"/>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CE05BBB-FC23-4C0C-9956-BF8B558791F4}"/>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76E49AF-E532-4E7A-A16D-B9A77CDA43E1}"/>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CBDEB7D-7F07-448A-825C-D0FBA1DE6B5D}"/>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FE3246C-CACB-4C35-8A51-7E8E6C151E45}"/>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08C163B-0F93-4E3F-87BC-3C72474A5405}"/>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6383ab71e9f42f7" /><Relationship Type="http://schemas.openxmlformats.org/officeDocument/2006/relationships/slideLayout" Target="/ppt/slideLayouts/slideLayout1.xml" Id="R22a8934d43e64177" /><Relationship Type="http://schemas.openxmlformats.org/officeDocument/2006/relationships/slideLayout" Target="/ppt/slideLayouts/slideLayout2.xml" Id="R1f82b8719d9d40c2" /><Relationship Type="http://schemas.openxmlformats.org/officeDocument/2006/relationships/slideLayout" Target="/ppt/slideLayouts/slideLayout3.xml" Id="Rfb09f9968a8b48f7" /><Relationship Type="http://schemas.openxmlformats.org/officeDocument/2006/relationships/slideLayout" Target="/ppt/slideLayouts/slideLayout4.xml" Id="Ra61a374418bc4590" /><Relationship Type="http://schemas.openxmlformats.org/officeDocument/2006/relationships/slideLayout" Target="/ppt/slideLayouts/slideLayout5.xml" Id="R3b19e4e34aa24297" /><Relationship Type="http://schemas.openxmlformats.org/officeDocument/2006/relationships/slideLayout" Target="/ppt/slideLayouts/slideLayout6.xml" Id="Rbcbf36a851454f6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2a8934d43e64177"/>
    <p:sldLayoutId xmlns:r="http://schemas.openxmlformats.org/officeDocument/2006/relationships" id="2147483650" r:id="R1f82b8719d9d40c2"/>
    <p:sldLayoutId xmlns:r="http://schemas.openxmlformats.org/officeDocument/2006/relationships" id="2147483651" r:id="Rfb09f9968a8b48f7"/>
    <p:sldLayoutId xmlns:r="http://schemas.openxmlformats.org/officeDocument/2006/relationships" id="2147483652" r:id="Ra61a374418bc4590"/>
    <p:sldLayoutId xmlns:r="http://schemas.openxmlformats.org/officeDocument/2006/relationships" id="2147483653" r:id="R3b19e4e34aa24297"/>
    <p:sldLayoutId xmlns:r="http://schemas.openxmlformats.org/officeDocument/2006/relationships" id="2147483654" r:id="Rbcbf36a851454f6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7c98729346d432c" /><Relationship Type="http://schemas.openxmlformats.org/officeDocument/2006/relationships/notesSlide" Target="/ppt/notesSlides/notesSlide1.xml" Id="Rc7fa7f39fdc6477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12fd53d862845e8" /><Relationship Type="http://schemas.openxmlformats.org/officeDocument/2006/relationships/notesSlide" Target="/ppt/notesSlides/notesSlide2.xml" Id="R5adf2e58efd0457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f33a2b7d47d458b" /><Relationship Type="http://schemas.openxmlformats.org/officeDocument/2006/relationships/notesSlide" Target="/ppt/notesSlides/notesSlide3.xml" Id="R1b68e3b97e894b4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28cde8a89e9443a" /><Relationship Type="http://schemas.openxmlformats.org/officeDocument/2006/relationships/notesSlide" Target="/ppt/notesSlides/notesSlide4.xml" Id="Rc05ce711c8d44f9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7671adb04e14289" /><Relationship Type="http://schemas.openxmlformats.org/officeDocument/2006/relationships/notesSlide" Target="/ppt/notesSlides/notesSlide5.xml" Id="Ra6301703358a49e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title">
            <a:extLst xmlns:a="http://schemas.openxmlformats.org/drawingml/2006/main">
              <a:ext uri="{FF2B5EF4-FFF2-40B4-BE49-F238E27FC236}">
                <a16:creationId xmlns:a16="http://schemas.microsoft.com/office/drawing/2014/main" id="{FCAA758C-E9F7-4ACE-B19B-EF216F0FA6D1}"/>
              </a:ext>
            </a:extLst>
          </p:cNvPr>
          <p:cNvSpPr>
            <a:spLocks xmlns:a="http://schemas.openxmlformats.org/drawingml/2006/main" noGrp="1"/>
          </p:cNvSpPr>
          <p:nvPr/>
        </p:nvSpPr>
        <p:spPr>
          <a:xfrm xmlns:a="http://schemas.openxmlformats.org/drawingml/2006/main">
            <a:off x="609600" y="419100"/>
            <a:ext cx="1400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132B45"/>
                </a:solidFill>
                <a:latin typeface="Arial"/>
                <a:ea typeface="Arial"/>
                <a:cs typeface="Arial"/>
              </a:defRPr>
            </a:defPPr>
          </a:lstStyle>
          <a:p xmlns:a="http://schemas.openxmlformats.org/drawingml/2006/main">
            <a:pPr algn="l">
              <a:defRPr sz="3600" b="1">
                <a:solidFill>
                  <a:srgbClr val="132B45"/>
                </a:solidFill>
                <a:latin typeface="Arial"/>
                <a:ea typeface="Arial"/>
                <a:cs typeface="Arial"/>
              </a:defRPr>
            </a:pPr>
            <a:r>
              <a:rPr sz="3600" b="1">
                <a:solidFill>
                  <a:srgbClr val="132B45"/>
                </a:solidFill>
                <a:latin typeface="Arial"/>
                <a:ea typeface="Arial"/>
                <a:cs typeface="Arial"/>
              </a:rPr>
              <a:t>AAM Background and MVP Scope</a:t>
            </a:r>
          </a:p>
        </p:txBody>
      </p:sp>
      <p:sp>
        <p:nvSpPr>
          <p:cNvPr id="2" name="page">
            <a:extLst xmlns:a="http://schemas.openxmlformats.org/drawingml/2006/main">
              <a:ext uri="{FF2B5EF4-FFF2-40B4-BE49-F238E27FC236}">
                <a16:creationId xmlns:a16="http://schemas.microsoft.com/office/drawing/2014/main" id="{49CE9954-7A0C-45E9-B528-FE7306F4360F}"/>
              </a:ext>
            </a:extLst>
          </p:cNvPr>
          <p:cNvSpPr>
            <a:spLocks xmlns:a="http://schemas.openxmlformats.org/drawingml/2006/main" noGrp="1"/>
          </p:cNvSpPr>
          <p:nvPr/>
        </p:nvSpPr>
        <p:spPr>
          <a:xfrm xmlns:a="http://schemas.openxmlformats.org/drawingml/2006/main">
            <a:off x="13811250" y="8143875"/>
            <a:ext cx="819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6677A"/>
                </a:solidFill>
                <a:latin typeface="Arial"/>
                <a:ea typeface="Arial"/>
                <a:cs typeface="Arial"/>
              </a:defRPr>
            </a:defPPr>
          </a:lstStyle>
          <a:p xmlns:a="http://schemas.openxmlformats.org/drawingml/2006/main">
            <a:pPr algn="r">
              <a:defRPr sz="1500" b="0">
                <a:solidFill>
                  <a:srgbClr val="56677A"/>
                </a:solidFill>
                <a:latin typeface="Arial"/>
                <a:ea typeface="Arial"/>
                <a:cs typeface="Arial"/>
              </a:defRPr>
            </a:pPr>
            <a:r>
              <a:rPr sz="1500" b="0">
                <a:solidFill>
                  <a:srgbClr val="56677A"/>
                </a:solidFill>
                <a:latin typeface="Arial"/>
                <a:ea typeface="Arial"/>
                <a:cs typeface="Arial"/>
              </a:rPr>
              <a:t>1 / 5</a:t>
            </a:r>
          </a:p>
        </p:txBody>
      </p:sp>
      <p:sp>
        <p:nvSpPr>
          <p:cNvPr id="3" name="intro">
            <a:extLst xmlns:a="http://schemas.openxmlformats.org/drawingml/2006/main">
              <a:ext uri="{FF2B5EF4-FFF2-40B4-BE49-F238E27FC236}">
                <a16:creationId xmlns:a16="http://schemas.microsoft.com/office/drawing/2014/main" id="{A31135E6-6ACC-466E-A8B0-75E1EB2D2FFE}"/>
              </a:ext>
            </a:extLst>
          </p:cNvPr>
          <p:cNvSpPr>
            <a:spLocks xmlns:a="http://schemas.openxmlformats.org/drawingml/2006/main" noGrp="1"/>
          </p:cNvSpPr>
          <p:nvPr/>
        </p:nvSpPr>
        <p:spPr>
          <a:xfrm xmlns:a="http://schemas.openxmlformats.org/drawingml/2006/main">
            <a:off x="609600" y="1238250"/>
            <a:ext cx="1371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32B45"/>
                </a:solidFill>
                <a:latin typeface="Arial"/>
                <a:ea typeface="Arial"/>
                <a:cs typeface="Arial"/>
              </a:defRPr>
            </a:defPPr>
          </a:lstStyle>
          <a:p xmlns:a="http://schemas.openxmlformats.org/drawingml/2006/main">
            <a:pPr algn="l">
              <a:defRPr sz="2325" b="0">
                <a:solidFill>
                  <a:srgbClr val="132B45"/>
                </a:solidFill>
                <a:latin typeface="Arial"/>
                <a:ea typeface="Arial"/>
                <a:cs typeface="Arial"/>
              </a:defRPr>
            </a:pPr>
            <a:r>
              <a:rPr sz="2325" b="0">
                <a:solidFill>
                  <a:srgbClr val="132B45"/>
                </a:solidFill>
                <a:latin typeface="Arial"/>
                <a:ea typeface="Arial"/>
                <a:cs typeface="Arial"/>
              </a:rPr>
              <a:t>Account managers need a clear view of customer work that currently sits across email threads.</a:t>
            </a:r>
          </a:p>
        </p:txBody>
      </p:sp>
      <p:sp>
        <p:nvSpPr>
          <p:cNvPr id="4" name="today">
            <a:extLst xmlns:a="http://schemas.openxmlformats.org/drawingml/2006/main">
              <a:ext uri="{FF2B5EF4-FFF2-40B4-BE49-F238E27FC236}">
                <a16:creationId xmlns:a16="http://schemas.microsoft.com/office/drawing/2014/main" id="{B7AD7E18-EC8E-444A-9C7A-2D325F35D57F}"/>
              </a:ext>
            </a:extLst>
          </p:cNvPr>
          <p:cNvSpPr>
            <a:spLocks xmlns:a="http://schemas.openxmlformats.org/drawingml/2006/main" noGrp="1"/>
          </p:cNvSpPr>
          <p:nvPr/>
        </p:nvSpPr>
        <p:spPr>
          <a:xfrm xmlns:a="http://schemas.openxmlformats.org/drawingml/2006/main">
            <a:off x="609600" y="2324100"/>
            <a:ext cx="581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56677A"/>
                </a:solidFill>
                <a:latin typeface="Arial"/>
                <a:ea typeface="Arial"/>
                <a:cs typeface="Arial"/>
              </a:defRPr>
            </a:defPPr>
          </a:lstStyle>
          <a:p xmlns:a="http://schemas.openxmlformats.org/drawingml/2006/main">
            <a:pPr algn="l">
              <a:defRPr sz="2400" b="1">
                <a:solidFill>
                  <a:srgbClr val="56677A"/>
                </a:solidFill>
                <a:latin typeface="Arial"/>
                <a:ea typeface="Arial"/>
                <a:cs typeface="Arial"/>
              </a:defRPr>
            </a:pPr>
            <a:r>
              <a:rPr sz="2400" b="1">
                <a:solidFill>
                  <a:srgbClr val="56677A"/>
                </a:solidFill>
                <a:latin typeface="Arial"/>
                <a:ea typeface="Arial"/>
                <a:cs typeface="Arial"/>
              </a:rPr>
              <a:t>Current pain points</a:t>
            </a:r>
          </a:p>
        </p:txBody>
      </p:sp>
      <p:sp>
        <p:nvSpPr>
          <p:cNvPr id="5" name="pain-title-0">
            <a:extLst xmlns:a="http://schemas.openxmlformats.org/drawingml/2006/main">
              <a:ext uri="{FF2B5EF4-FFF2-40B4-BE49-F238E27FC236}">
                <a16:creationId xmlns:a16="http://schemas.microsoft.com/office/drawing/2014/main" id="{25BBE2BF-6695-4202-928A-CA89677851A7}"/>
              </a:ext>
            </a:extLst>
          </p:cNvPr>
          <p:cNvSpPr>
            <a:spLocks xmlns:a="http://schemas.openxmlformats.org/drawingml/2006/main" noGrp="1"/>
          </p:cNvSpPr>
          <p:nvPr/>
        </p:nvSpPr>
        <p:spPr>
          <a:xfrm xmlns:a="http://schemas.openxmlformats.org/drawingml/2006/main">
            <a:off x="609600" y="3000375"/>
            <a:ext cx="590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32B45"/>
                </a:solidFill>
                <a:latin typeface="Arial"/>
                <a:ea typeface="Arial"/>
                <a:cs typeface="Arial"/>
              </a:defRPr>
            </a:defPPr>
          </a:lstStyle>
          <a:p xmlns:a="http://schemas.openxmlformats.org/drawingml/2006/main">
            <a:pPr algn="l">
              <a:defRPr sz="2100" b="1">
                <a:solidFill>
                  <a:srgbClr val="132B45"/>
                </a:solidFill>
                <a:latin typeface="Arial"/>
                <a:ea typeface="Arial"/>
                <a:cs typeface="Arial"/>
              </a:defRPr>
            </a:pPr>
            <a:r>
              <a:rPr sz="2100" b="1">
                <a:solidFill>
                  <a:srgbClr val="132B45"/>
                </a:solidFill>
                <a:latin typeface="Arial"/>
                <a:ea typeface="Arial"/>
                <a:cs typeface="Arial"/>
              </a:rPr>
              <a:t>Email overload</a:t>
            </a:r>
          </a:p>
        </p:txBody>
      </p:sp>
      <p:sp>
        <p:nvSpPr>
          <p:cNvPr id="6" name="pain-body-0">
            <a:extLst xmlns:a="http://schemas.openxmlformats.org/drawingml/2006/main">
              <a:ext uri="{FF2B5EF4-FFF2-40B4-BE49-F238E27FC236}">
                <a16:creationId xmlns:a16="http://schemas.microsoft.com/office/drawing/2014/main" id="{69248EFE-B59E-4126-A1BB-8EFF5E7361DB}"/>
              </a:ext>
            </a:extLst>
          </p:cNvPr>
          <p:cNvSpPr>
            <a:spLocks xmlns:a="http://schemas.openxmlformats.org/drawingml/2006/main" noGrp="1"/>
          </p:cNvSpPr>
          <p:nvPr/>
        </p:nvSpPr>
        <p:spPr>
          <a:xfrm xmlns:a="http://schemas.openxmlformats.org/drawingml/2006/main">
            <a:off x="609600" y="3419475"/>
            <a:ext cx="5905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6677A"/>
                </a:solidFill>
                <a:latin typeface="Arial"/>
                <a:ea typeface="Arial"/>
                <a:cs typeface="Arial"/>
              </a:defRPr>
            </a:defPPr>
          </a:lstStyle>
          <a:p xmlns:a="http://schemas.openxmlformats.org/drawingml/2006/main">
            <a:pPr algn="l">
              <a:defRPr sz="1950" b="0">
                <a:solidFill>
                  <a:srgbClr val="56677A"/>
                </a:solidFill>
                <a:latin typeface="Arial"/>
                <a:ea typeface="Arial"/>
                <a:cs typeface="Arial"/>
              </a:defRPr>
            </a:pPr>
            <a:r>
              <a:rPr sz="1950" b="0">
                <a:solidFill>
                  <a:srgbClr val="56677A"/>
                </a:solidFill>
                <a:latin typeface="Arial"/>
                <a:ea typeface="Arial"/>
                <a:cs typeface="Arial"/>
              </a:rPr>
              <a:t>Customer requests and updates spread across personal and shared inboxes.</a:t>
            </a:r>
          </a:p>
        </p:txBody>
      </p:sp>
      <p:sp>
        <p:nvSpPr>
          <p:cNvPr id="7" name="pain-title-1">
            <a:extLst xmlns:a="http://schemas.openxmlformats.org/drawingml/2006/main">
              <a:ext uri="{FF2B5EF4-FFF2-40B4-BE49-F238E27FC236}">
                <a16:creationId xmlns:a16="http://schemas.microsoft.com/office/drawing/2014/main" id="{D33AF044-AB37-4A9C-B520-2546B3022C58}"/>
              </a:ext>
            </a:extLst>
          </p:cNvPr>
          <p:cNvSpPr>
            <a:spLocks xmlns:a="http://schemas.openxmlformats.org/drawingml/2006/main" noGrp="1"/>
          </p:cNvSpPr>
          <p:nvPr/>
        </p:nvSpPr>
        <p:spPr>
          <a:xfrm xmlns:a="http://schemas.openxmlformats.org/drawingml/2006/main">
            <a:off x="609600" y="4286250"/>
            <a:ext cx="590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32B45"/>
                </a:solidFill>
                <a:latin typeface="Arial"/>
                <a:ea typeface="Arial"/>
                <a:cs typeface="Arial"/>
              </a:defRPr>
            </a:defPPr>
          </a:lstStyle>
          <a:p xmlns:a="http://schemas.openxmlformats.org/drawingml/2006/main">
            <a:pPr algn="l">
              <a:defRPr sz="2100" b="1">
                <a:solidFill>
                  <a:srgbClr val="132B45"/>
                </a:solidFill>
                <a:latin typeface="Arial"/>
                <a:ea typeface="Arial"/>
                <a:cs typeface="Arial"/>
              </a:defRPr>
            </a:pPr>
            <a:r>
              <a:rPr sz="2100" b="1">
                <a:solidFill>
                  <a:srgbClr val="132B45"/>
                </a:solidFill>
                <a:latin typeface="Arial"/>
                <a:ea typeface="Arial"/>
                <a:cs typeface="Arial"/>
              </a:rPr>
              <a:t>Unclear ownership and stage</a:t>
            </a:r>
          </a:p>
        </p:txBody>
      </p:sp>
      <p:sp>
        <p:nvSpPr>
          <p:cNvPr id="8" name="pain-body-1">
            <a:extLst xmlns:a="http://schemas.openxmlformats.org/drawingml/2006/main">
              <a:ext uri="{FF2B5EF4-FFF2-40B4-BE49-F238E27FC236}">
                <a16:creationId xmlns:a16="http://schemas.microsoft.com/office/drawing/2014/main" id="{AB428486-1379-44BD-B872-8C7C2CA2745B}"/>
              </a:ext>
            </a:extLst>
          </p:cNvPr>
          <p:cNvSpPr>
            <a:spLocks xmlns:a="http://schemas.openxmlformats.org/drawingml/2006/main" noGrp="1"/>
          </p:cNvSpPr>
          <p:nvPr/>
        </p:nvSpPr>
        <p:spPr>
          <a:xfrm xmlns:a="http://schemas.openxmlformats.org/drawingml/2006/main">
            <a:off x="609600" y="4705350"/>
            <a:ext cx="5905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6677A"/>
                </a:solidFill>
                <a:latin typeface="Arial"/>
                <a:ea typeface="Arial"/>
                <a:cs typeface="Arial"/>
              </a:defRPr>
            </a:defPPr>
          </a:lstStyle>
          <a:p xmlns:a="http://schemas.openxmlformats.org/drawingml/2006/main">
            <a:pPr algn="l">
              <a:defRPr sz="1950" b="0">
                <a:solidFill>
                  <a:srgbClr val="56677A"/>
                </a:solidFill>
                <a:latin typeface="Arial"/>
                <a:ea typeface="Arial"/>
                <a:cs typeface="Arial"/>
              </a:defRPr>
            </a:pPr>
            <a:r>
              <a:rPr sz="1950" b="0">
                <a:solidFill>
                  <a:srgbClr val="56677A"/>
                </a:solidFill>
                <a:latin typeface="Arial"/>
                <a:ea typeface="Arial"/>
                <a:cs typeface="Arial"/>
              </a:rPr>
              <a:t>AMs cannot easily see who owns each customer request or how far it has progressed.</a:t>
            </a:r>
          </a:p>
        </p:txBody>
      </p:sp>
      <p:sp>
        <p:nvSpPr>
          <p:cNvPr id="9" name="pain-title-2">
            <a:extLst xmlns:a="http://schemas.openxmlformats.org/drawingml/2006/main">
              <a:ext uri="{FF2B5EF4-FFF2-40B4-BE49-F238E27FC236}">
                <a16:creationId xmlns:a16="http://schemas.microsoft.com/office/drawing/2014/main" id="{6EAD29C0-40B0-45F8-B97F-BD620787EA28}"/>
              </a:ext>
            </a:extLst>
          </p:cNvPr>
          <p:cNvSpPr>
            <a:spLocks xmlns:a="http://schemas.openxmlformats.org/drawingml/2006/main" noGrp="1"/>
          </p:cNvSpPr>
          <p:nvPr/>
        </p:nvSpPr>
        <p:spPr>
          <a:xfrm xmlns:a="http://schemas.openxmlformats.org/drawingml/2006/main">
            <a:off x="609600" y="5572125"/>
            <a:ext cx="590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32B45"/>
                </a:solidFill>
                <a:latin typeface="Arial"/>
                <a:ea typeface="Arial"/>
                <a:cs typeface="Arial"/>
              </a:defRPr>
            </a:defPPr>
          </a:lstStyle>
          <a:p xmlns:a="http://schemas.openxmlformats.org/drawingml/2006/main">
            <a:pPr algn="l">
              <a:defRPr sz="2100" b="1">
                <a:solidFill>
                  <a:srgbClr val="132B45"/>
                </a:solidFill>
                <a:latin typeface="Arial"/>
                <a:ea typeface="Arial"/>
                <a:cs typeface="Arial"/>
              </a:defRPr>
            </a:pPr>
            <a:r>
              <a:rPr sz="2100" b="1">
                <a:solidFill>
                  <a:srgbClr val="132B45"/>
                </a:solidFill>
                <a:latin typeface="Arial"/>
                <a:ea typeface="Arial"/>
                <a:cs typeface="Arial"/>
              </a:rPr>
              <a:t>Manual follow-up</a:t>
            </a:r>
          </a:p>
        </p:txBody>
      </p:sp>
      <p:sp>
        <p:nvSpPr>
          <p:cNvPr id="10" name="pain-body-2">
            <a:extLst xmlns:a="http://schemas.openxmlformats.org/drawingml/2006/main">
              <a:ext uri="{FF2B5EF4-FFF2-40B4-BE49-F238E27FC236}">
                <a16:creationId xmlns:a16="http://schemas.microsoft.com/office/drawing/2014/main" id="{18F28727-6F60-4727-B4EA-68E763CC8103}"/>
              </a:ext>
            </a:extLst>
          </p:cNvPr>
          <p:cNvSpPr>
            <a:spLocks xmlns:a="http://schemas.openxmlformats.org/drawingml/2006/main" noGrp="1"/>
          </p:cNvSpPr>
          <p:nvPr/>
        </p:nvSpPr>
        <p:spPr>
          <a:xfrm xmlns:a="http://schemas.openxmlformats.org/drawingml/2006/main">
            <a:off x="609600" y="5991225"/>
            <a:ext cx="5905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6677A"/>
                </a:solidFill>
                <a:latin typeface="Arial"/>
                <a:ea typeface="Arial"/>
                <a:cs typeface="Arial"/>
              </a:defRPr>
            </a:defPPr>
          </a:lstStyle>
          <a:p xmlns:a="http://schemas.openxmlformats.org/drawingml/2006/main">
            <a:pPr algn="l">
              <a:defRPr sz="1950" b="0">
                <a:solidFill>
                  <a:srgbClr val="56677A"/>
                </a:solidFill>
                <a:latin typeface="Arial"/>
                <a:ea typeface="Arial"/>
                <a:cs typeface="Arial"/>
              </a:defRPr>
            </a:pPr>
            <a:r>
              <a:rPr sz="1950" b="0">
                <a:solidFill>
                  <a:srgbClr val="56677A"/>
                </a:solidFill>
                <a:latin typeface="Arial"/>
                <a:ea typeface="Arial"/>
                <a:cs typeface="Arial"/>
              </a:rPr>
              <a:t>AMs reconstruct open items, next actions and reply context by reading long threads.</a:t>
            </a:r>
          </a:p>
        </p:txBody>
      </p:sp>
      <p:sp>
        <p:nvSpPr>
          <p:cNvPr id="11" name="mvp">
            <a:extLst xmlns:a="http://schemas.openxmlformats.org/drawingml/2006/main">
              <a:ext uri="{FF2B5EF4-FFF2-40B4-BE49-F238E27FC236}">
                <a16:creationId xmlns:a16="http://schemas.microsoft.com/office/drawing/2014/main" id="{D160CEA7-AEFA-438E-8BEE-71207E86E23C}"/>
              </a:ext>
            </a:extLst>
          </p:cNvPr>
          <p:cNvSpPr>
            <a:spLocks xmlns:a="http://schemas.openxmlformats.org/drawingml/2006/main" noGrp="1"/>
          </p:cNvSpPr>
          <p:nvPr/>
        </p:nvSpPr>
        <p:spPr>
          <a:xfrm xmlns:a="http://schemas.openxmlformats.org/drawingml/2006/main">
            <a:off x="7381875" y="2324100"/>
            <a:ext cx="723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2563EB"/>
                </a:solidFill>
                <a:latin typeface="Arial"/>
                <a:ea typeface="Arial"/>
                <a:cs typeface="Arial"/>
              </a:defRPr>
            </a:defPPr>
          </a:lstStyle>
          <a:p xmlns:a="http://schemas.openxmlformats.org/drawingml/2006/main">
            <a:pPr algn="l">
              <a:defRPr sz="2400" b="1">
                <a:solidFill>
                  <a:srgbClr val="2563EB"/>
                </a:solidFill>
                <a:latin typeface="Arial"/>
                <a:ea typeface="Arial"/>
                <a:cs typeface="Arial"/>
              </a:defRPr>
            </a:pPr>
            <a:r>
              <a:rPr sz="2400" b="1">
                <a:solidFill>
                  <a:srgbClr val="2563EB"/>
                </a:solidFill>
                <a:latin typeface="Arial"/>
                <a:ea typeface="Arial"/>
                <a:cs typeface="Arial"/>
              </a:rPr>
              <a:t>MVP: one portal with role-based access</a:t>
            </a:r>
          </a:p>
        </p:txBody>
      </p:sp>
      <p:sp>
        <p:nvSpPr>
          <p:cNvPr id="12" name="scope-title-0">
            <a:extLst xmlns:a="http://schemas.openxmlformats.org/drawingml/2006/main">
              <a:ext uri="{FF2B5EF4-FFF2-40B4-BE49-F238E27FC236}">
                <a16:creationId xmlns:a16="http://schemas.microsoft.com/office/drawing/2014/main" id="{2FF348A5-C042-46E7-8830-1B14AFCB3408}"/>
              </a:ext>
            </a:extLst>
          </p:cNvPr>
          <p:cNvSpPr>
            <a:spLocks xmlns:a="http://schemas.openxmlformats.org/drawingml/2006/main" noGrp="1"/>
          </p:cNvSpPr>
          <p:nvPr/>
        </p:nvSpPr>
        <p:spPr>
          <a:xfrm xmlns:a="http://schemas.openxmlformats.org/drawingml/2006/main">
            <a:off x="7381875" y="3048000"/>
            <a:ext cx="714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32B45"/>
                </a:solidFill>
                <a:latin typeface="Arial"/>
                <a:ea typeface="Arial"/>
                <a:cs typeface="Arial"/>
              </a:defRPr>
            </a:defPPr>
          </a:lstStyle>
          <a:p xmlns:a="http://schemas.openxmlformats.org/drawingml/2006/main">
            <a:pPr algn="l">
              <a:defRPr sz="1950" b="1">
                <a:solidFill>
                  <a:srgbClr val="132B45"/>
                </a:solidFill>
                <a:latin typeface="Arial"/>
                <a:ea typeface="Arial"/>
                <a:cs typeface="Arial"/>
              </a:defRPr>
            </a:pPr>
            <a:r>
              <a:rPr sz="1950" b="1">
                <a:solidFill>
                  <a:srgbClr val="132B45"/>
                </a:solidFill>
                <a:latin typeface="Arial"/>
                <a:ea typeface="Arial"/>
                <a:cs typeface="Arial"/>
              </a:rPr>
              <a:t>Mail visibility and triage</a:t>
            </a:r>
          </a:p>
        </p:txBody>
      </p:sp>
      <p:sp>
        <p:nvSpPr>
          <p:cNvPr id="13" name="scope-body-0">
            <a:extLst xmlns:a="http://schemas.openxmlformats.org/drawingml/2006/main">
              <a:ext uri="{FF2B5EF4-FFF2-40B4-BE49-F238E27FC236}">
                <a16:creationId xmlns:a16="http://schemas.microsoft.com/office/drawing/2014/main" id="{2E401280-011E-4E31-A0DB-D6BB65A3351D}"/>
              </a:ext>
            </a:extLst>
          </p:cNvPr>
          <p:cNvSpPr>
            <a:spLocks xmlns:a="http://schemas.openxmlformats.org/drawingml/2006/main" noGrp="1"/>
          </p:cNvSpPr>
          <p:nvPr/>
        </p:nvSpPr>
        <p:spPr>
          <a:xfrm xmlns:a="http://schemas.openxmlformats.org/drawingml/2006/main">
            <a:off x="7381875" y="3381375"/>
            <a:ext cx="714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6677A"/>
                </a:solidFill>
                <a:latin typeface="Arial"/>
                <a:ea typeface="Arial"/>
                <a:cs typeface="Arial"/>
              </a:defRPr>
            </a:defPPr>
          </a:lstStyle>
          <a:p xmlns:a="http://schemas.openxmlformats.org/drawingml/2006/main">
            <a:pPr algn="l">
              <a:defRPr sz="1800" b="0">
                <a:solidFill>
                  <a:srgbClr val="56677A"/>
                </a:solidFill>
                <a:latin typeface="Arial"/>
                <a:ea typeface="Arial"/>
                <a:cs typeface="Arial"/>
              </a:defRPr>
            </a:pPr>
            <a:r>
              <a:rPr sz="1800" b="0">
                <a:solidFill>
                  <a:srgbClr val="56677A"/>
                </a:solidFill>
                <a:latin typeface="Arial"/>
                <a:ea typeface="Arial"/>
                <a:cs typeface="Arial"/>
              </a:rPr>
              <a:t>Identify customer and intent. Suggest a new Case or a link to an existing Case.</a:t>
            </a:r>
          </a:p>
        </p:txBody>
      </p:sp>
      <p:sp>
        <p:nvSpPr>
          <p:cNvPr id="14" name="scope-title-1">
            <a:extLst xmlns:a="http://schemas.openxmlformats.org/drawingml/2006/main">
              <a:ext uri="{FF2B5EF4-FFF2-40B4-BE49-F238E27FC236}">
                <a16:creationId xmlns:a16="http://schemas.microsoft.com/office/drawing/2014/main" id="{ADA7F98B-B691-4F87-B929-EEB87F8C6AC7}"/>
              </a:ext>
            </a:extLst>
          </p:cNvPr>
          <p:cNvSpPr>
            <a:spLocks xmlns:a="http://schemas.openxmlformats.org/drawingml/2006/main" noGrp="1"/>
          </p:cNvSpPr>
          <p:nvPr/>
        </p:nvSpPr>
        <p:spPr>
          <a:xfrm xmlns:a="http://schemas.openxmlformats.org/drawingml/2006/main">
            <a:off x="7381875" y="3914775"/>
            <a:ext cx="714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32B45"/>
                </a:solidFill>
                <a:latin typeface="Arial"/>
                <a:ea typeface="Arial"/>
                <a:cs typeface="Arial"/>
              </a:defRPr>
            </a:defPPr>
          </a:lstStyle>
          <a:p xmlns:a="http://schemas.openxmlformats.org/drawingml/2006/main">
            <a:pPr algn="l">
              <a:defRPr sz="1950" b="1">
                <a:solidFill>
                  <a:srgbClr val="132B45"/>
                </a:solidFill>
                <a:latin typeface="Arial"/>
                <a:ea typeface="Arial"/>
                <a:cs typeface="Arial"/>
              </a:defRPr>
            </a:pPr>
            <a:r>
              <a:rPr sz="1950" b="1">
                <a:solidFill>
                  <a:srgbClr val="132B45"/>
                </a:solidFill>
                <a:latin typeface="Arial"/>
                <a:ea typeface="Arial"/>
                <a:cs typeface="Arial"/>
              </a:rPr>
              <a:t>Customer and Case workspace</a:t>
            </a:r>
          </a:p>
        </p:txBody>
      </p:sp>
      <p:sp>
        <p:nvSpPr>
          <p:cNvPr id="15" name="scope-body-1">
            <a:extLst xmlns:a="http://schemas.openxmlformats.org/drawingml/2006/main">
              <a:ext uri="{FF2B5EF4-FFF2-40B4-BE49-F238E27FC236}">
                <a16:creationId xmlns:a16="http://schemas.microsoft.com/office/drawing/2014/main" id="{DD3650DA-03CF-48EB-B375-7479A73A538C}"/>
              </a:ext>
            </a:extLst>
          </p:cNvPr>
          <p:cNvSpPr>
            <a:spLocks xmlns:a="http://schemas.openxmlformats.org/drawingml/2006/main" noGrp="1"/>
          </p:cNvSpPr>
          <p:nvPr/>
        </p:nvSpPr>
        <p:spPr>
          <a:xfrm xmlns:a="http://schemas.openxmlformats.org/drawingml/2006/main">
            <a:off x="7381875" y="4248150"/>
            <a:ext cx="714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6677A"/>
                </a:solidFill>
                <a:latin typeface="Arial"/>
                <a:ea typeface="Arial"/>
                <a:cs typeface="Arial"/>
              </a:defRPr>
            </a:defPPr>
          </a:lstStyle>
          <a:p xmlns:a="http://schemas.openxmlformats.org/drawingml/2006/main">
            <a:pPr algn="l">
              <a:defRPr sz="1800" b="0">
                <a:solidFill>
                  <a:srgbClr val="56677A"/>
                </a:solidFill>
                <a:latin typeface="Arial"/>
                <a:ea typeface="Arial"/>
                <a:cs typeface="Arial"/>
              </a:defRPr>
            </a:pPr>
            <a:r>
              <a:rPr sz="1800" b="0">
                <a:solidFill>
                  <a:srgbClr val="56677A"/>
                </a:solidFill>
                <a:latin typeface="Arial"/>
                <a:ea typeface="Arial"/>
                <a:cs typeface="Arial"/>
              </a:rPr>
              <a:t>Show owners, current stage, progress, open items and next actions.</a:t>
            </a:r>
          </a:p>
        </p:txBody>
      </p:sp>
      <p:sp>
        <p:nvSpPr>
          <p:cNvPr id="16" name="scope-title-2">
            <a:extLst xmlns:a="http://schemas.openxmlformats.org/drawingml/2006/main">
              <a:ext uri="{FF2B5EF4-FFF2-40B4-BE49-F238E27FC236}">
                <a16:creationId xmlns:a16="http://schemas.microsoft.com/office/drawing/2014/main" id="{FC9FB5A0-3EBD-4A0D-8805-DA3443DCBD1B}"/>
              </a:ext>
            </a:extLst>
          </p:cNvPr>
          <p:cNvSpPr>
            <a:spLocks xmlns:a="http://schemas.openxmlformats.org/drawingml/2006/main" noGrp="1"/>
          </p:cNvSpPr>
          <p:nvPr/>
        </p:nvSpPr>
        <p:spPr>
          <a:xfrm xmlns:a="http://schemas.openxmlformats.org/drawingml/2006/main">
            <a:off x="7381875" y="4781550"/>
            <a:ext cx="714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32B45"/>
                </a:solidFill>
                <a:latin typeface="Arial"/>
                <a:ea typeface="Arial"/>
                <a:cs typeface="Arial"/>
              </a:defRPr>
            </a:defPPr>
          </a:lstStyle>
          <a:p xmlns:a="http://schemas.openxmlformats.org/drawingml/2006/main">
            <a:pPr algn="l">
              <a:defRPr sz="1950" b="1">
                <a:solidFill>
                  <a:srgbClr val="132B45"/>
                </a:solidFill>
                <a:latin typeface="Arial"/>
                <a:ea typeface="Arial"/>
                <a:cs typeface="Arial"/>
              </a:defRPr>
            </a:pPr>
            <a:r>
              <a:rPr sz="1950" b="1">
                <a:solidFill>
                  <a:srgbClr val="132B45"/>
                </a:solidFill>
                <a:latin typeface="Arial"/>
                <a:ea typeface="Arial"/>
                <a:cs typeface="Arial"/>
              </a:rPr>
              <a:t>AI summaries and email drafts</a:t>
            </a:r>
          </a:p>
        </p:txBody>
      </p:sp>
      <p:sp>
        <p:nvSpPr>
          <p:cNvPr id="17" name="scope-body-2">
            <a:extLst xmlns:a="http://schemas.openxmlformats.org/drawingml/2006/main">
              <a:ext uri="{FF2B5EF4-FFF2-40B4-BE49-F238E27FC236}">
                <a16:creationId xmlns:a16="http://schemas.microsoft.com/office/drawing/2014/main" id="{C58F3DCA-D7D2-4E6A-872C-CC17783F7A12}"/>
              </a:ext>
            </a:extLst>
          </p:cNvPr>
          <p:cNvSpPr>
            <a:spLocks xmlns:a="http://schemas.openxmlformats.org/drawingml/2006/main" noGrp="1"/>
          </p:cNvSpPr>
          <p:nvPr/>
        </p:nvSpPr>
        <p:spPr>
          <a:xfrm xmlns:a="http://schemas.openxmlformats.org/drawingml/2006/main">
            <a:off x="7381875" y="5114925"/>
            <a:ext cx="714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6677A"/>
                </a:solidFill>
                <a:latin typeface="Arial"/>
                <a:ea typeface="Arial"/>
                <a:cs typeface="Arial"/>
              </a:defRPr>
            </a:defPPr>
          </a:lstStyle>
          <a:p xmlns:a="http://schemas.openxmlformats.org/drawingml/2006/main">
            <a:pPr algn="l">
              <a:defRPr sz="1800" b="0">
                <a:solidFill>
                  <a:srgbClr val="56677A"/>
                </a:solidFill>
                <a:latin typeface="Arial"/>
                <a:ea typeface="Arial"/>
                <a:cs typeface="Arial"/>
              </a:defRPr>
            </a:pPr>
            <a:r>
              <a:rPr sz="1800" b="0">
                <a:solidFill>
                  <a:srgbClr val="56677A"/>
                </a:solidFill>
                <a:latin typeface="Arial"/>
                <a:ea typeface="Arial"/>
                <a:cs typeface="Arial"/>
              </a:rPr>
              <a:t>Prepare grounded replies. AMs review, edit and approve sending.</a:t>
            </a:r>
          </a:p>
        </p:txBody>
      </p:sp>
      <p:sp>
        <p:nvSpPr>
          <p:cNvPr id="18" name="scope-title-3">
            <a:extLst xmlns:a="http://schemas.openxmlformats.org/drawingml/2006/main">
              <a:ext uri="{FF2B5EF4-FFF2-40B4-BE49-F238E27FC236}">
                <a16:creationId xmlns:a16="http://schemas.microsoft.com/office/drawing/2014/main" id="{B079D31B-2AF9-4896-B530-EEEDE3A3144A}"/>
              </a:ext>
            </a:extLst>
          </p:cNvPr>
          <p:cNvSpPr>
            <a:spLocks xmlns:a="http://schemas.openxmlformats.org/drawingml/2006/main" noGrp="1"/>
          </p:cNvSpPr>
          <p:nvPr/>
        </p:nvSpPr>
        <p:spPr>
          <a:xfrm xmlns:a="http://schemas.openxmlformats.org/drawingml/2006/main">
            <a:off x="7381875" y="5648325"/>
            <a:ext cx="714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32B45"/>
                </a:solidFill>
                <a:latin typeface="Arial"/>
                <a:ea typeface="Arial"/>
                <a:cs typeface="Arial"/>
              </a:defRPr>
            </a:defPPr>
          </a:lstStyle>
          <a:p xmlns:a="http://schemas.openxmlformats.org/drawingml/2006/main">
            <a:pPr algn="l">
              <a:defRPr sz="1950" b="1">
                <a:solidFill>
                  <a:srgbClr val="132B45"/>
                </a:solidFill>
                <a:latin typeface="Arial"/>
                <a:ea typeface="Arial"/>
                <a:cs typeface="Arial"/>
              </a:defRPr>
            </a:pPr>
            <a:r>
              <a:rPr sz="1950" b="1">
                <a:solidFill>
                  <a:srgbClr val="132B45"/>
                </a:solidFill>
                <a:latin typeface="Arial"/>
                <a:ea typeface="Arial"/>
                <a:cs typeface="Arial"/>
              </a:rPr>
              <a:t>Playbook management</a:t>
            </a:r>
          </a:p>
        </p:txBody>
      </p:sp>
      <p:sp>
        <p:nvSpPr>
          <p:cNvPr id="19" name="scope-body-3">
            <a:extLst xmlns:a="http://schemas.openxmlformats.org/drawingml/2006/main">
              <a:ext uri="{FF2B5EF4-FFF2-40B4-BE49-F238E27FC236}">
                <a16:creationId xmlns:a16="http://schemas.microsoft.com/office/drawing/2014/main" id="{8EDD52CA-8408-4F86-B3CB-626472A1510A}"/>
              </a:ext>
            </a:extLst>
          </p:cNvPr>
          <p:cNvSpPr>
            <a:spLocks xmlns:a="http://schemas.openxmlformats.org/drawingml/2006/main" noGrp="1"/>
          </p:cNvSpPr>
          <p:nvPr/>
        </p:nvSpPr>
        <p:spPr>
          <a:xfrm xmlns:a="http://schemas.openxmlformats.org/drawingml/2006/main">
            <a:off x="7381875" y="5981700"/>
            <a:ext cx="714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6677A"/>
                </a:solidFill>
                <a:latin typeface="Arial"/>
                <a:ea typeface="Arial"/>
                <a:cs typeface="Arial"/>
              </a:defRPr>
            </a:defPPr>
          </a:lstStyle>
          <a:p xmlns:a="http://schemas.openxmlformats.org/drawingml/2006/main">
            <a:pPr algn="l">
              <a:defRPr sz="1800" b="0">
                <a:solidFill>
                  <a:srgbClr val="56677A"/>
                </a:solidFill>
                <a:latin typeface="Arial"/>
                <a:ea typeface="Arial"/>
                <a:cs typeface="Arial"/>
              </a:defRPr>
            </a:pPr>
            <a:r>
              <a:rPr sz="1800" b="0">
                <a:solidFill>
                  <a:srgbClr val="56677A"/>
                </a:solidFill>
                <a:latin typeface="Arial"/>
                <a:ea typeface="Arial"/>
                <a:cs typeface="Arial"/>
              </a:rPr>
              <a:t>Generate rules from prompts and example emails. Test, review and publish.</a:t>
            </a:r>
          </a:p>
        </p:txBody>
      </p:sp>
      <p:sp>
        <p:nvSpPr>
          <p:cNvPr id="20" name="scope-title-4">
            <a:extLst xmlns:a="http://schemas.openxmlformats.org/drawingml/2006/main">
              <a:ext uri="{FF2B5EF4-FFF2-40B4-BE49-F238E27FC236}">
                <a16:creationId xmlns:a16="http://schemas.microsoft.com/office/drawing/2014/main" id="{3ABF33BD-87D5-45F7-AFD9-BFB605B7D0C5}"/>
              </a:ext>
            </a:extLst>
          </p:cNvPr>
          <p:cNvSpPr>
            <a:spLocks xmlns:a="http://schemas.openxmlformats.org/drawingml/2006/main" noGrp="1"/>
          </p:cNvSpPr>
          <p:nvPr/>
        </p:nvSpPr>
        <p:spPr>
          <a:xfrm xmlns:a="http://schemas.openxmlformats.org/drawingml/2006/main">
            <a:off x="7381875" y="6515100"/>
            <a:ext cx="714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32B45"/>
                </a:solidFill>
                <a:latin typeface="Arial"/>
                <a:ea typeface="Arial"/>
                <a:cs typeface="Arial"/>
              </a:defRPr>
            </a:defPPr>
          </a:lstStyle>
          <a:p xmlns:a="http://schemas.openxmlformats.org/drawingml/2006/main">
            <a:pPr algn="l">
              <a:defRPr sz="1950" b="1">
                <a:solidFill>
                  <a:srgbClr val="132B45"/>
                </a:solidFill>
                <a:latin typeface="Arial"/>
                <a:ea typeface="Arial"/>
                <a:cs typeface="Arial"/>
              </a:defRPr>
            </a:pPr>
            <a:r>
              <a:rPr sz="1950" b="1">
                <a:solidFill>
                  <a:srgbClr val="132B45"/>
                </a:solidFill>
                <a:latin typeface="Arial"/>
                <a:ea typeface="Arial"/>
                <a:cs typeface="Arial"/>
              </a:rPr>
              <a:t>Fixed roles and data scopes</a:t>
            </a:r>
          </a:p>
        </p:txBody>
      </p:sp>
      <p:sp>
        <p:nvSpPr>
          <p:cNvPr id="21" name="scope-body-4">
            <a:extLst xmlns:a="http://schemas.openxmlformats.org/drawingml/2006/main">
              <a:ext uri="{FF2B5EF4-FFF2-40B4-BE49-F238E27FC236}">
                <a16:creationId xmlns:a16="http://schemas.microsoft.com/office/drawing/2014/main" id="{FA33FDC1-167E-49E5-879F-95319C4A6D3A}"/>
              </a:ext>
            </a:extLst>
          </p:cNvPr>
          <p:cNvSpPr>
            <a:spLocks xmlns:a="http://schemas.openxmlformats.org/drawingml/2006/main" noGrp="1"/>
          </p:cNvSpPr>
          <p:nvPr/>
        </p:nvSpPr>
        <p:spPr>
          <a:xfrm xmlns:a="http://schemas.openxmlformats.org/drawingml/2006/main">
            <a:off x="7381875" y="6848475"/>
            <a:ext cx="714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6677A"/>
                </a:solidFill>
                <a:latin typeface="Arial"/>
                <a:ea typeface="Arial"/>
                <a:cs typeface="Arial"/>
              </a:defRPr>
            </a:defPPr>
          </a:lstStyle>
          <a:p xmlns:a="http://schemas.openxmlformats.org/drawingml/2006/main">
            <a:pPr algn="l">
              <a:defRPr sz="1800" b="0">
                <a:solidFill>
                  <a:srgbClr val="56677A"/>
                </a:solidFill>
                <a:latin typeface="Arial"/>
                <a:ea typeface="Arial"/>
                <a:cs typeface="Arial"/>
              </a:defRPr>
            </a:pPr>
            <a:r>
              <a:rPr sz="1800" b="0">
                <a:solidFill>
                  <a:srgbClr val="56677A"/>
                </a:solidFill>
                <a:latin typeface="Arial"/>
                <a:ea typeface="Arial"/>
                <a:cs typeface="Arial"/>
              </a:rPr>
              <a:t>Local AM, Regional AM, Director and Admin. Limit data by business group, region and customer.</a:t>
            </a:r>
          </a:p>
        </p:txBody>
      </p:sp>
      <p:sp>
        <p:nvSpPr>
          <p:cNvPr id="22" name="benefit">
            <a:extLst xmlns:a="http://schemas.openxmlformats.org/drawingml/2006/main">
              <a:ext uri="{FF2B5EF4-FFF2-40B4-BE49-F238E27FC236}">
                <a16:creationId xmlns:a16="http://schemas.microsoft.com/office/drawing/2014/main" id="{1E799F70-8FFA-40EE-98AA-3B8E9A2E9B14}"/>
              </a:ext>
            </a:extLst>
          </p:cNvPr>
          <p:cNvSpPr>
            <a:spLocks xmlns:a="http://schemas.openxmlformats.org/drawingml/2006/main" noGrp="1"/>
          </p:cNvSpPr>
          <p:nvPr/>
        </p:nvSpPr>
        <p:spPr>
          <a:xfrm xmlns:a="http://schemas.openxmlformats.org/drawingml/2006/main">
            <a:off x="609600" y="7572375"/>
            <a:ext cx="1390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2563EB"/>
                </a:solidFill>
                <a:latin typeface="Arial"/>
                <a:ea typeface="Arial"/>
                <a:cs typeface="Arial"/>
              </a:defRPr>
            </a:defPPr>
          </a:lstStyle>
          <a:p xmlns:a="http://schemas.openxmlformats.org/drawingml/2006/main">
            <a:pPr algn="l">
              <a:defRPr sz="2100" b="1">
                <a:solidFill>
                  <a:srgbClr val="2563EB"/>
                </a:solidFill>
                <a:latin typeface="Arial"/>
                <a:ea typeface="Arial"/>
                <a:cs typeface="Arial"/>
              </a:defRPr>
            </a:pPr>
            <a:r>
              <a:rPr sz="2100" b="1">
                <a:solidFill>
                  <a:srgbClr val="2563EB"/>
                </a:solidFill>
                <a:latin typeface="Arial"/>
                <a:ea typeface="Arial"/>
                <a:cs typeface="Arial"/>
              </a:rPr>
              <a:t>Expected benefit: clearer customer visibility and ownership, with less manual email tracking.</a:t>
            </a:r>
          </a:p>
        </p:txBody>
      </p:sp>
    </p:spTree>
    <p:extLst>
      <p:ext uri="{BB962C8B-B14F-4D97-AF65-F5344CB8AC3E}">
        <p14:creationId xmlns:p14="http://schemas.microsoft.com/office/powerpoint/2010/main" val="195317274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itle">
            <a:extLst xmlns:a="http://schemas.openxmlformats.org/drawingml/2006/main">
              <a:ext uri="{FF2B5EF4-FFF2-40B4-BE49-F238E27FC236}">
                <a16:creationId xmlns:a16="http://schemas.microsoft.com/office/drawing/2014/main" id="{DE6494F9-A702-4236-98AC-481717847362}"/>
              </a:ext>
            </a:extLst>
          </p:cNvPr>
          <p:cNvSpPr>
            <a:spLocks xmlns:a="http://schemas.openxmlformats.org/drawingml/2006/main" noGrp="1"/>
          </p:cNvSpPr>
          <p:nvPr/>
        </p:nvSpPr>
        <p:spPr>
          <a:xfrm xmlns:a="http://schemas.openxmlformats.org/drawingml/2006/main">
            <a:off x="609600" y="419100"/>
            <a:ext cx="1400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132B45"/>
                </a:solidFill>
                <a:latin typeface="Arial"/>
                <a:ea typeface="Arial"/>
                <a:cs typeface="Arial"/>
              </a:defRPr>
            </a:defPPr>
          </a:lstStyle>
          <a:p xmlns:a="http://schemas.openxmlformats.org/drawingml/2006/main">
            <a:pPr algn="l">
              <a:defRPr sz="3600" b="1">
                <a:solidFill>
                  <a:srgbClr val="132B45"/>
                </a:solidFill>
                <a:latin typeface="Arial"/>
                <a:ea typeface="Arial"/>
                <a:cs typeface="Arial"/>
              </a:defRPr>
            </a:pPr>
            <a:r>
              <a:rPr sz="3600" b="1">
                <a:solidFill>
                  <a:srgbClr val="132B45"/>
                </a:solidFill>
                <a:latin typeface="Arial"/>
                <a:ea typeface="Arial"/>
                <a:cs typeface="Arial"/>
              </a:rPr>
              <a:t>Overall Implementation Approach</a:t>
            </a:r>
          </a:p>
        </p:txBody>
      </p:sp>
      <p:sp>
        <p:nvSpPr>
          <p:cNvPr id="2" name="page">
            <a:extLst xmlns:a="http://schemas.openxmlformats.org/drawingml/2006/main">
              <a:ext uri="{FF2B5EF4-FFF2-40B4-BE49-F238E27FC236}">
                <a16:creationId xmlns:a16="http://schemas.microsoft.com/office/drawing/2014/main" id="{D38D4D16-D2C0-4521-989D-22BA5CD9BD02}"/>
              </a:ext>
            </a:extLst>
          </p:cNvPr>
          <p:cNvSpPr>
            <a:spLocks xmlns:a="http://schemas.openxmlformats.org/drawingml/2006/main" noGrp="1"/>
          </p:cNvSpPr>
          <p:nvPr/>
        </p:nvSpPr>
        <p:spPr>
          <a:xfrm xmlns:a="http://schemas.openxmlformats.org/drawingml/2006/main">
            <a:off x="13811250" y="8143875"/>
            <a:ext cx="819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6677A"/>
                </a:solidFill>
                <a:latin typeface="Arial"/>
                <a:ea typeface="Arial"/>
                <a:cs typeface="Arial"/>
              </a:defRPr>
            </a:defPPr>
          </a:lstStyle>
          <a:p xmlns:a="http://schemas.openxmlformats.org/drawingml/2006/main">
            <a:pPr algn="r">
              <a:defRPr sz="1500" b="0">
                <a:solidFill>
                  <a:srgbClr val="56677A"/>
                </a:solidFill>
                <a:latin typeface="Arial"/>
                <a:ea typeface="Arial"/>
                <a:cs typeface="Arial"/>
              </a:defRPr>
            </a:pPr>
            <a:r>
              <a:rPr sz="1500" b="0">
                <a:solidFill>
                  <a:srgbClr val="56677A"/>
                </a:solidFill>
                <a:latin typeface="Arial"/>
                <a:ea typeface="Arial"/>
                <a:cs typeface="Arial"/>
              </a:rPr>
              <a:t>2 / 5</a:t>
            </a:r>
          </a:p>
        </p:txBody>
      </p:sp>
      <p:sp>
        <p:nvSpPr>
          <p:cNvPr id="3" name="lead">
            <a:extLst xmlns:a="http://schemas.openxmlformats.org/drawingml/2006/main">
              <a:ext uri="{FF2B5EF4-FFF2-40B4-BE49-F238E27FC236}">
                <a16:creationId xmlns:a16="http://schemas.microsoft.com/office/drawing/2014/main" id="{5ACF9CEB-9C90-480D-B346-F8C68A110826}"/>
              </a:ext>
            </a:extLst>
          </p:cNvPr>
          <p:cNvSpPr>
            <a:spLocks xmlns:a="http://schemas.openxmlformats.org/drawingml/2006/main" noGrp="1"/>
          </p:cNvSpPr>
          <p:nvPr/>
        </p:nvSpPr>
        <p:spPr>
          <a:xfrm xmlns:a="http://schemas.openxmlformats.org/drawingml/2006/main">
            <a:off x="609600" y="1304925"/>
            <a:ext cx="1352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6A34A"/>
                </a:solidFill>
                <a:latin typeface="Arial"/>
                <a:ea typeface="Arial"/>
                <a:cs typeface="Arial"/>
              </a:defRPr>
            </a:defPPr>
          </a:lstStyle>
          <a:p xmlns:a="http://schemas.openxmlformats.org/drawingml/2006/main">
            <a:pPr algn="l">
              <a:defRPr sz="3225" b="1">
                <a:solidFill>
                  <a:srgbClr val="16A34A"/>
                </a:solidFill>
                <a:latin typeface="Arial"/>
                <a:ea typeface="Arial"/>
                <a:cs typeface="Arial"/>
              </a:defRPr>
            </a:pPr>
            <a:r>
              <a:rPr sz="3225" b="1">
                <a:solidFill>
                  <a:srgbClr val="16A34A"/>
                </a:solidFill>
                <a:latin typeface="Arial"/>
                <a:ea typeface="Arial"/>
                <a:cs typeface="Arial"/>
              </a:rPr>
              <a:t>One Java backend, multiple replicas</a:t>
            </a:r>
          </a:p>
        </p:txBody>
      </p:sp>
      <p:sp>
        <p:nvSpPr>
          <p:cNvPr id="4" name="lead-body">
            <a:extLst xmlns:a="http://schemas.openxmlformats.org/drawingml/2006/main">
              <a:ext uri="{FF2B5EF4-FFF2-40B4-BE49-F238E27FC236}">
                <a16:creationId xmlns:a16="http://schemas.microsoft.com/office/drawing/2014/main" id="{376267E4-3AEA-498F-BDBD-D6880F59C31B}"/>
              </a:ext>
            </a:extLst>
          </p:cNvPr>
          <p:cNvSpPr>
            <a:spLocks xmlns:a="http://schemas.openxmlformats.org/drawingml/2006/main" noGrp="1"/>
          </p:cNvSpPr>
          <p:nvPr/>
        </p:nvSpPr>
        <p:spPr>
          <a:xfrm xmlns:a="http://schemas.openxmlformats.org/drawingml/2006/main">
            <a:off x="609600" y="2057400"/>
            <a:ext cx="1362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56677A"/>
                </a:solidFill>
                <a:latin typeface="Arial"/>
                <a:ea typeface="Arial"/>
                <a:cs typeface="Arial"/>
              </a:defRPr>
            </a:defPPr>
          </a:lstStyle>
          <a:p xmlns:a="http://schemas.openxmlformats.org/drawingml/2006/main">
            <a:pPr algn="l">
              <a:defRPr sz="2175" b="0">
                <a:solidFill>
                  <a:srgbClr val="56677A"/>
                </a:solidFill>
                <a:latin typeface="Arial"/>
                <a:ea typeface="Arial"/>
                <a:cs typeface="Arial"/>
              </a:defRPr>
            </a:pPr>
            <a:r>
              <a:rPr sz="2175" b="0">
                <a:solidFill>
                  <a:srgbClr val="56677A"/>
                </a:solidFill>
                <a:latin typeface="Arial"/>
                <a:ea typeface="Arial"/>
                <a:cs typeface="Arial"/>
              </a:rPr>
              <a:t>A small deployment footprint with shared business state and recoverable background processing.</a:t>
            </a:r>
          </a:p>
        </p:txBody>
      </p:sp>
      <p:sp>
        <p:nvSpPr>
          <p:cNvPr id="5" name="n-0">
            <a:extLst xmlns:a="http://schemas.openxmlformats.org/drawingml/2006/main">
              <a:ext uri="{FF2B5EF4-FFF2-40B4-BE49-F238E27FC236}">
                <a16:creationId xmlns:a16="http://schemas.microsoft.com/office/drawing/2014/main" id="{A6037F7B-C1DD-43CD-926A-D4DCE5F7BA0D}"/>
              </a:ext>
            </a:extLst>
          </p:cNvPr>
          <p:cNvSpPr>
            <a:spLocks xmlns:a="http://schemas.openxmlformats.org/drawingml/2006/main" noGrp="1"/>
          </p:cNvSpPr>
          <p:nvPr/>
        </p:nvSpPr>
        <p:spPr>
          <a:xfrm xmlns:a="http://schemas.openxmlformats.org/drawingml/2006/main">
            <a:off x="609600" y="2905125"/>
            <a:ext cx="571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2563EB"/>
                </a:solidFill>
                <a:latin typeface="Arial"/>
                <a:ea typeface="Arial"/>
                <a:cs typeface="Arial"/>
              </a:defRPr>
            </a:defPPr>
          </a:lstStyle>
          <a:p xmlns:a="http://schemas.openxmlformats.org/drawingml/2006/main">
            <a:pPr algn="l">
              <a:defRPr sz="2400" b="1">
                <a:solidFill>
                  <a:srgbClr val="2563EB"/>
                </a:solidFill>
                <a:latin typeface="Arial"/>
                <a:ea typeface="Arial"/>
                <a:cs typeface="Arial"/>
              </a:defRPr>
            </a:pPr>
            <a:r>
              <a:rPr sz="2400" b="1">
                <a:solidFill>
                  <a:srgbClr val="2563EB"/>
                </a:solidFill>
                <a:latin typeface="Arial"/>
                <a:ea typeface="Arial"/>
                <a:cs typeface="Arial"/>
              </a:rPr>
              <a:t>01</a:t>
            </a:r>
          </a:p>
        </p:txBody>
      </p:sp>
      <p:sp>
        <p:nvSpPr>
          <p:cNvPr id="6" name="h-0">
            <a:extLst xmlns:a="http://schemas.openxmlformats.org/drawingml/2006/main">
              <a:ext uri="{FF2B5EF4-FFF2-40B4-BE49-F238E27FC236}">
                <a16:creationId xmlns:a16="http://schemas.microsoft.com/office/drawing/2014/main" id="{6EFA8B6D-948C-4175-AA8F-52B64272E286}"/>
              </a:ext>
            </a:extLst>
          </p:cNvPr>
          <p:cNvSpPr>
            <a:spLocks xmlns:a="http://schemas.openxmlformats.org/drawingml/2006/main" noGrp="1"/>
          </p:cNvSpPr>
          <p:nvPr/>
        </p:nvSpPr>
        <p:spPr>
          <a:xfrm xmlns:a="http://schemas.openxmlformats.org/drawingml/2006/main">
            <a:off x="1409700" y="2905125"/>
            <a:ext cx="790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32B45"/>
                </a:solidFill>
                <a:latin typeface="Arial"/>
                <a:ea typeface="Arial"/>
                <a:cs typeface="Arial"/>
              </a:defRPr>
            </a:defPPr>
          </a:lstStyle>
          <a:p xmlns:a="http://schemas.openxmlformats.org/drawingml/2006/main">
            <a:pPr algn="l">
              <a:defRPr sz="2175" b="1">
                <a:solidFill>
                  <a:srgbClr val="132B45"/>
                </a:solidFill>
                <a:latin typeface="Arial"/>
                <a:ea typeface="Arial"/>
                <a:cs typeface="Arial"/>
              </a:defRPr>
            </a:pPr>
            <a:r>
              <a:rPr sz="2175" b="1">
                <a:solidFill>
                  <a:srgbClr val="132B45"/>
                </a:solidFill>
                <a:latin typeface="Arial"/>
                <a:ea typeface="Arial"/>
                <a:cs typeface="Arial"/>
              </a:rPr>
              <a:t>Java owns business behavior</a:t>
            </a:r>
          </a:p>
        </p:txBody>
      </p:sp>
      <p:sp>
        <p:nvSpPr>
          <p:cNvPr id="7" name="b-0">
            <a:extLst xmlns:a="http://schemas.openxmlformats.org/drawingml/2006/main">
              <a:ext uri="{FF2B5EF4-FFF2-40B4-BE49-F238E27FC236}">
                <a16:creationId xmlns:a16="http://schemas.microsoft.com/office/drawing/2014/main" id="{52B88257-C77D-47D0-8383-BD7278526050}"/>
              </a:ext>
            </a:extLst>
          </p:cNvPr>
          <p:cNvSpPr>
            <a:spLocks xmlns:a="http://schemas.openxmlformats.org/drawingml/2006/main" noGrp="1"/>
          </p:cNvSpPr>
          <p:nvPr/>
        </p:nvSpPr>
        <p:spPr>
          <a:xfrm xmlns:a="http://schemas.openxmlformats.org/drawingml/2006/main">
            <a:off x="1409700" y="3286125"/>
            <a:ext cx="7858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6677A"/>
                </a:solidFill>
                <a:latin typeface="Arial"/>
                <a:ea typeface="Arial"/>
                <a:cs typeface="Arial"/>
              </a:defRPr>
            </a:defPPr>
          </a:lstStyle>
          <a:p xmlns:a="http://schemas.openxmlformats.org/drawingml/2006/main">
            <a:pPr algn="l">
              <a:defRPr sz="1875" b="0">
                <a:solidFill>
                  <a:srgbClr val="56677A"/>
                </a:solidFill>
                <a:latin typeface="Arial"/>
                <a:ea typeface="Arial"/>
                <a:cs typeface="Arial"/>
              </a:defRPr>
            </a:pPr>
            <a:r>
              <a:rPr sz="1875" b="0">
                <a:solidFill>
                  <a:srgbClr val="56677A"/>
                </a:solidFill>
                <a:latin typeface="Arial"/>
                <a:ea typeface="Arial"/>
                <a:cs typeface="Arial"/>
              </a:rPr>
              <a:t>Spring Boot serves APIs and runs bounded async jobs for Cases, Open Items, approvals and mail workflows.</a:t>
            </a:r>
          </a:p>
        </p:txBody>
      </p:sp>
      <p:sp>
        <p:nvSpPr>
          <p:cNvPr id="8" name="n-1">
            <a:extLst xmlns:a="http://schemas.openxmlformats.org/drawingml/2006/main">
              <a:ext uri="{FF2B5EF4-FFF2-40B4-BE49-F238E27FC236}">
                <a16:creationId xmlns:a16="http://schemas.microsoft.com/office/drawing/2014/main" id="{8676713D-7325-44E0-BC19-972462CA4AAD}"/>
              </a:ext>
            </a:extLst>
          </p:cNvPr>
          <p:cNvSpPr>
            <a:spLocks xmlns:a="http://schemas.openxmlformats.org/drawingml/2006/main" noGrp="1"/>
          </p:cNvSpPr>
          <p:nvPr/>
        </p:nvSpPr>
        <p:spPr>
          <a:xfrm xmlns:a="http://schemas.openxmlformats.org/drawingml/2006/main">
            <a:off x="609600" y="3848100"/>
            <a:ext cx="571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2563EB"/>
                </a:solidFill>
                <a:latin typeface="Arial"/>
                <a:ea typeface="Arial"/>
                <a:cs typeface="Arial"/>
              </a:defRPr>
            </a:defPPr>
          </a:lstStyle>
          <a:p xmlns:a="http://schemas.openxmlformats.org/drawingml/2006/main">
            <a:pPr algn="l">
              <a:defRPr sz="2400" b="1">
                <a:solidFill>
                  <a:srgbClr val="2563EB"/>
                </a:solidFill>
                <a:latin typeface="Arial"/>
                <a:ea typeface="Arial"/>
                <a:cs typeface="Arial"/>
              </a:defRPr>
            </a:pPr>
            <a:r>
              <a:rPr sz="2400" b="1">
                <a:solidFill>
                  <a:srgbClr val="2563EB"/>
                </a:solidFill>
                <a:latin typeface="Arial"/>
                <a:ea typeface="Arial"/>
                <a:cs typeface="Arial"/>
              </a:rPr>
              <a:t>02</a:t>
            </a:r>
          </a:p>
        </p:txBody>
      </p:sp>
      <p:sp>
        <p:nvSpPr>
          <p:cNvPr id="9" name="h-1">
            <a:extLst xmlns:a="http://schemas.openxmlformats.org/drawingml/2006/main">
              <a:ext uri="{FF2B5EF4-FFF2-40B4-BE49-F238E27FC236}">
                <a16:creationId xmlns:a16="http://schemas.microsoft.com/office/drawing/2014/main" id="{3A9F25F9-E05C-4D76-BA35-4C9C8123D9CF}"/>
              </a:ext>
            </a:extLst>
          </p:cNvPr>
          <p:cNvSpPr>
            <a:spLocks xmlns:a="http://schemas.openxmlformats.org/drawingml/2006/main" noGrp="1"/>
          </p:cNvSpPr>
          <p:nvPr/>
        </p:nvSpPr>
        <p:spPr>
          <a:xfrm xmlns:a="http://schemas.openxmlformats.org/drawingml/2006/main">
            <a:off x="1409700" y="3848100"/>
            <a:ext cx="790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32B45"/>
                </a:solidFill>
                <a:latin typeface="Arial"/>
                <a:ea typeface="Arial"/>
                <a:cs typeface="Arial"/>
              </a:defRPr>
            </a:defPPr>
          </a:lstStyle>
          <a:p xmlns:a="http://schemas.openxmlformats.org/drawingml/2006/main">
            <a:pPr algn="l">
              <a:defRPr sz="2175" b="1">
                <a:solidFill>
                  <a:srgbClr val="132B45"/>
                </a:solidFill>
                <a:latin typeface="Arial"/>
                <a:ea typeface="Arial"/>
                <a:cs typeface="Arial"/>
              </a:defRPr>
            </a:pPr>
            <a:r>
              <a:rPr sz="2175" b="1">
                <a:solidFill>
                  <a:srgbClr val="132B45"/>
                </a:solidFill>
                <a:latin typeface="Arial"/>
                <a:ea typeface="Arial"/>
                <a:cs typeface="Arial"/>
              </a:rPr>
              <a:t>AI assists within the workflow</a:t>
            </a:r>
          </a:p>
        </p:txBody>
      </p:sp>
      <p:sp>
        <p:nvSpPr>
          <p:cNvPr id="10" name="b-1">
            <a:extLst xmlns:a="http://schemas.openxmlformats.org/drawingml/2006/main">
              <a:ext uri="{FF2B5EF4-FFF2-40B4-BE49-F238E27FC236}">
                <a16:creationId xmlns:a16="http://schemas.microsoft.com/office/drawing/2014/main" id="{F1FDF15A-68D2-424C-805B-0B411D8E32BA}"/>
              </a:ext>
            </a:extLst>
          </p:cNvPr>
          <p:cNvSpPr>
            <a:spLocks xmlns:a="http://schemas.openxmlformats.org/drawingml/2006/main" noGrp="1"/>
          </p:cNvSpPr>
          <p:nvPr/>
        </p:nvSpPr>
        <p:spPr>
          <a:xfrm xmlns:a="http://schemas.openxmlformats.org/drawingml/2006/main">
            <a:off x="1409700" y="4229100"/>
            <a:ext cx="7858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6677A"/>
                </a:solidFill>
                <a:latin typeface="Arial"/>
                <a:ea typeface="Arial"/>
                <a:cs typeface="Arial"/>
              </a:defRPr>
            </a:defPPr>
          </a:lstStyle>
          <a:p xmlns:a="http://schemas.openxmlformats.org/drawingml/2006/main">
            <a:pPr algn="l">
              <a:defRPr sz="1875" b="0">
                <a:solidFill>
                  <a:srgbClr val="56677A"/>
                </a:solidFill>
                <a:latin typeface="Arial"/>
                <a:ea typeface="Arial"/>
                <a:cs typeface="Arial"/>
              </a:defRPr>
            </a:pPr>
            <a:r>
              <a:rPr sz="1875" b="0">
                <a:solidFill>
                  <a:srgbClr val="56677A"/>
                </a:solidFill>
                <a:latin typeface="Arial"/>
                <a:ea typeface="Arial"/>
                <a:cs typeface="Arial"/>
              </a:rPr>
              <a:t>Spring AI calls Azure AI Foundry for intent, summaries, drafts and Playbooks. AMs approve actions.</a:t>
            </a:r>
          </a:p>
        </p:txBody>
      </p:sp>
      <p:sp>
        <p:nvSpPr>
          <p:cNvPr id="11" name="n-2">
            <a:extLst xmlns:a="http://schemas.openxmlformats.org/drawingml/2006/main">
              <a:ext uri="{FF2B5EF4-FFF2-40B4-BE49-F238E27FC236}">
                <a16:creationId xmlns:a16="http://schemas.microsoft.com/office/drawing/2014/main" id="{9727E3C5-0C43-4FE8-A90C-2BC1A8F6ACE3}"/>
              </a:ext>
            </a:extLst>
          </p:cNvPr>
          <p:cNvSpPr>
            <a:spLocks xmlns:a="http://schemas.openxmlformats.org/drawingml/2006/main" noGrp="1"/>
          </p:cNvSpPr>
          <p:nvPr/>
        </p:nvSpPr>
        <p:spPr>
          <a:xfrm xmlns:a="http://schemas.openxmlformats.org/drawingml/2006/main">
            <a:off x="609600" y="4791075"/>
            <a:ext cx="571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2563EB"/>
                </a:solidFill>
                <a:latin typeface="Arial"/>
                <a:ea typeface="Arial"/>
                <a:cs typeface="Arial"/>
              </a:defRPr>
            </a:defPPr>
          </a:lstStyle>
          <a:p xmlns:a="http://schemas.openxmlformats.org/drawingml/2006/main">
            <a:pPr algn="l">
              <a:defRPr sz="2400" b="1">
                <a:solidFill>
                  <a:srgbClr val="2563EB"/>
                </a:solidFill>
                <a:latin typeface="Arial"/>
                <a:ea typeface="Arial"/>
                <a:cs typeface="Arial"/>
              </a:defRPr>
            </a:pPr>
            <a:r>
              <a:rPr sz="2400" b="1">
                <a:solidFill>
                  <a:srgbClr val="2563EB"/>
                </a:solidFill>
                <a:latin typeface="Arial"/>
                <a:ea typeface="Arial"/>
                <a:cs typeface="Arial"/>
              </a:rPr>
              <a:t>03</a:t>
            </a:r>
          </a:p>
        </p:txBody>
      </p:sp>
      <p:sp>
        <p:nvSpPr>
          <p:cNvPr id="12" name="h-2">
            <a:extLst xmlns:a="http://schemas.openxmlformats.org/drawingml/2006/main">
              <a:ext uri="{FF2B5EF4-FFF2-40B4-BE49-F238E27FC236}">
                <a16:creationId xmlns:a16="http://schemas.microsoft.com/office/drawing/2014/main" id="{5D59926A-A6AB-4401-8276-7C301E167CA3}"/>
              </a:ext>
            </a:extLst>
          </p:cNvPr>
          <p:cNvSpPr>
            <a:spLocks xmlns:a="http://schemas.openxmlformats.org/drawingml/2006/main" noGrp="1"/>
          </p:cNvSpPr>
          <p:nvPr/>
        </p:nvSpPr>
        <p:spPr>
          <a:xfrm xmlns:a="http://schemas.openxmlformats.org/drawingml/2006/main">
            <a:off x="1409700" y="4791075"/>
            <a:ext cx="790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32B45"/>
                </a:solidFill>
                <a:latin typeface="Arial"/>
                <a:ea typeface="Arial"/>
                <a:cs typeface="Arial"/>
              </a:defRPr>
            </a:defPPr>
          </a:lstStyle>
          <a:p xmlns:a="http://schemas.openxmlformats.org/drawingml/2006/main">
            <a:pPr algn="l">
              <a:defRPr sz="2175" b="1">
                <a:solidFill>
                  <a:srgbClr val="132B45"/>
                </a:solidFill>
                <a:latin typeface="Arial"/>
                <a:ea typeface="Arial"/>
                <a:cs typeface="Arial"/>
              </a:defRPr>
            </a:pPr>
            <a:r>
              <a:rPr sz="2175" b="1">
                <a:solidFill>
                  <a:srgbClr val="132B45"/>
                </a:solidFill>
                <a:latin typeface="Arial"/>
                <a:ea typeface="Arial"/>
                <a:cs typeface="Arial"/>
              </a:rPr>
              <a:t>PostgreSQL owns durable state</a:t>
            </a:r>
          </a:p>
        </p:txBody>
      </p:sp>
      <p:sp>
        <p:nvSpPr>
          <p:cNvPr id="13" name="b-2">
            <a:extLst xmlns:a="http://schemas.openxmlformats.org/drawingml/2006/main">
              <a:ext uri="{FF2B5EF4-FFF2-40B4-BE49-F238E27FC236}">
                <a16:creationId xmlns:a16="http://schemas.microsoft.com/office/drawing/2014/main" id="{E051F096-6BD2-4921-B873-6345ED359280}"/>
              </a:ext>
            </a:extLst>
          </p:cNvPr>
          <p:cNvSpPr>
            <a:spLocks xmlns:a="http://schemas.openxmlformats.org/drawingml/2006/main" noGrp="1"/>
          </p:cNvSpPr>
          <p:nvPr/>
        </p:nvSpPr>
        <p:spPr>
          <a:xfrm xmlns:a="http://schemas.openxmlformats.org/drawingml/2006/main">
            <a:off x="1409700" y="5172075"/>
            <a:ext cx="7858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6677A"/>
                </a:solidFill>
                <a:latin typeface="Arial"/>
                <a:ea typeface="Arial"/>
                <a:cs typeface="Arial"/>
              </a:defRPr>
            </a:defPPr>
          </a:lstStyle>
          <a:p xmlns:a="http://schemas.openxmlformats.org/drawingml/2006/main">
            <a:pPr algn="l">
              <a:defRPr sz="1875" b="0">
                <a:solidFill>
                  <a:srgbClr val="56677A"/>
                </a:solidFill>
                <a:latin typeface="Arial"/>
                <a:ea typeface="Arial"/>
                <a:cs typeface="Arial"/>
              </a:defRPr>
            </a:pPr>
            <a:r>
              <a:rPr sz="1875" b="0">
                <a:solidFill>
                  <a:srgbClr val="56677A"/>
                </a:solidFill>
                <a:latin typeface="Arial"/>
                <a:ea typeface="Arial"/>
                <a:cs typeface="Arial"/>
              </a:rPr>
              <a:t>Persist Cases, jobs and sessions. Transactions and idempotency protect business updates.</a:t>
            </a:r>
          </a:p>
        </p:txBody>
      </p:sp>
      <p:sp>
        <p:nvSpPr>
          <p:cNvPr id="14" name="n-3">
            <a:extLst xmlns:a="http://schemas.openxmlformats.org/drawingml/2006/main">
              <a:ext uri="{FF2B5EF4-FFF2-40B4-BE49-F238E27FC236}">
                <a16:creationId xmlns:a16="http://schemas.microsoft.com/office/drawing/2014/main" id="{A766DB21-090D-4B4E-A335-BDA7F3D67BA1}"/>
              </a:ext>
            </a:extLst>
          </p:cNvPr>
          <p:cNvSpPr>
            <a:spLocks xmlns:a="http://schemas.openxmlformats.org/drawingml/2006/main" noGrp="1"/>
          </p:cNvSpPr>
          <p:nvPr/>
        </p:nvSpPr>
        <p:spPr>
          <a:xfrm xmlns:a="http://schemas.openxmlformats.org/drawingml/2006/main">
            <a:off x="609600" y="5734050"/>
            <a:ext cx="571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2563EB"/>
                </a:solidFill>
                <a:latin typeface="Arial"/>
                <a:ea typeface="Arial"/>
                <a:cs typeface="Arial"/>
              </a:defRPr>
            </a:defPPr>
          </a:lstStyle>
          <a:p xmlns:a="http://schemas.openxmlformats.org/drawingml/2006/main">
            <a:pPr algn="l">
              <a:defRPr sz="2400" b="1">
                <a:solidFill>
                  <a:srgbClr val="2563EB"/>
                </a:solidFill>
                <a:latin typeface="Arial"/>
                <a:ea typeface="Arial"/>
                <a:cs typeface="Arial"/>
              </a:defRPr>
            </a:pPr>
            <a:r>
              <a:rPr sz="2400" b="1">
                <a:solidFill>
                  <a:srgbClr val="2563EB"/>
                </a:solidFill>
                <a:latin typeface="Arial"/>
                <a:ea typeface="Arial"/>
                <a:cs typeface="Arial"/>
              </a:rPr>
              <a:t>04</a:t>
            </a:r>
          </a:p>
        </p:txBody>
      </p:sp>
      <p:sp>
        <p:nvSpPr>
          <p:cNvPr id="15" name="h-3">
            <a:extLst xmlns:a="http://schemas.openxmlformats.org/drawingml/2006/main">
              <a:ext uri="{FF2B5EF4-FFF2-40B4-BE49-F238E27FC236}">
                <a16:creationId xmlns:a16="http://schemas.microsoft.com/office/drawing/2014/main" id="{3D1FE022-9821-46E8-8316-019DBD6DB51E}"/>
              </a:ext>
            </a:extLst>
          </p:cNvPr>
          <p:cNvSpPr>
            <a:spLocks xmlns:a="http://schemas.openxmlformats.org/drawingml/2006/main" noGrp="1"/>
          </p:cNvSpPr>
          <p:nvPr/>
        </p:nvSpPr>
        <p:spPr>
          <a:xfrm xmlns:a="http://schemas.openxmlformats.org/drawingml/2006/main">
            <a:off x="1409700" y="5734050"/>
            <a:ext cx="790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32B45"/>
                </a:solidFill>
                <a:latin typeface="Arial"/>
                <a:ea typeface="Arial"/>
                <a:cs typeface="Arial"/>
              </a:defRPr>
            </a:defPPr>
          </a:lstStyle>
          <a:p xmlns:a="http://schemas.openxmlformats.org/drawingml/2006/main">
            <a:pPr algn="l">
              <a:defRPr sz="2175" b="1">
                <a:solidFill>
                  <a:srgbClr val="132B45"/>
                </a:solidFill>
                <a:latin typeface="Arial"/>
                <a:ea typeface="Arial"/>
                <a:cs typeface="Arial"/>
              </a:defRPr>
            </a:pPr>
            <a:r>
              <a:rPr sz="2175" b="1">
                <a:solidFill>
                  <a:srgbClr val="132B45"/>
                </a:solidFill>
                <a:latin typeface="Arial"/>
                <a:ea typeface="Arial"/>
                <a:cs typeface="Arial"/>
              </a:rPr>
              <a:t>Replicas recover unfinished work</a:t>
            </a:r>
          </a:p>
        </p:txBody>
      </p:sp>
      <p:sp>
        <p:nvSpPr>
          <p:cNvPr id="16" name="b-3">
            <a:extLst xmlns:a="http://schemas.openxmlformats.org/drawingml/2006/main">
              <a:ext uri="{FF2B5EF4-FFF2-40B4-BE49-F238E27FC236}">
                <a16:creationId xmlns:a16="http://schemas.microsoft.com/office/drawing/2014/main" id="{F5377BED-B798-4B99-AA16-867ADD9350ED}"/>
              </a:ext>
            </a:extLst>
          </p:cNvPr>
          <p:cNvSpPr>
            <a:spLocks xmlns:a="http://schemas.openxmlformats.org/drawingml/2006/main" noGrp="1"/>
          </p:cNvSpPr>
          <p:nvPr/>
        </p:nvSpPr>
        <p:spPr>
          <a:xfrm xmlns:a="http://schemas.openxmlformats.org/drawingml/2006/main">
            <a:off x="1409700" y="6115050"/>
            <a:ext cx="7858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6677A"/>
                </a:solidFill>
                <a:latin typeface="Arial"/>
                <a:ea typeface="Arial"/>
                <a:cs typeface="Arial"/>
              </a:defRPr>
            </a:defPPr>
          </a:lstStyle>
          <a:p xmlns:a="http://schemas.openxmlformats.org/drawingml/2006/main">
            <a:pPr algn="l">
              <a:defRPr sz="1875" b="0">
                <a:solidFill>
                  <a:srgbClr val="56677A"/>
                </a:solidFill>
                <a:latin typeface="Arial"/>
                <a:ea typeface="Arial"/>
                <a:cs typeface="Arial"/>
              </a:defRPr>
            </a:pPr>
            <a:r>
              <a:rPr sz="1875" b="0">
                <a:solidFill>
                  <a:srgbClr val="56677A"/>
                </a:solidFill>
                <a:latin typeface="Arial"/>
                <a:ea typeface="Arial"/>
                <a:cs typeface="Arial"/>
              </a:rPr>
              <a:t>Replicas reclaim unfinished jobs using leases and fencing. The platform replaces failed instances.</a:t>
            </a:r>
          </a:p>
        </p:txBody>
      </p:sp>
      <p:sp>
        <p:nvSpPr>
          <p:cNvPr id="17" name="n-4">
            <a:extLst xmlns:a="http://schemas.openxmlformats.org/drawingml/2006/main">
              <a:ext uri="{FF2B5EF4-FFF2-40B4-BE49-F238E27FC236}">
                <a16:creationId xmlns:a16="http://schemas.microsoft.com/office/drawing/2014/main" id="{C8273024-612C-4C60-BCC5-1B643A073CFA}"/>
              </a:ext>
            </a:extLst>
          </p:cNvPr>
          <p:cNvSpPr>
            <a:spLocks xmlns:a="http://schemas.openxmlformats.org/drawingml/2006/main" noGrp="1"/>
          </p:cNvSpPr>
          <p:nvPr/>
        </p:nvSpPr>
        <p:spPr>
          <a:xfrm xmlns:a="http://schemas.openxmlformats.org/drawingml/2006/main">
            <a:off x="609600" y="6677025"/>
            <a:ext cx="571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2563EB"/>
                </a:solidFill>
                <a:latin typeface="Arial"/>
                <a:ea typeface="Arial"/>
                <a:cs typeface="Arial"/>
              </a:defRPr>
            </a:defPPr>
          </a:lstStyle>
          <a:p xmlns:a="http://schemas.openxmlformats.org/drawingml/2006/main">
            <a:pPr algn="l">
              <a:defRPr sz="2400" b="1">
                <a:solidFill>
                  <a:srgbClr val="2563EB"/>
                </a:solidFill>
                <a:latin typeface="Arial"/>
                <a:ea typeface="Arial"/>
                <a:cs typeface="Arial"/>
              </a:defRPr>
            </a:pPr>
            <a:r>
              <a:rPr sz="2400" b="1">
                <a:solidFill>
                  <a:srgbClr val="2563EB"/>
                </a:solidFill>
                <a:latin typeface="Arial"/>
                <a:ea typeface="Arial"/>
                <a:cs typeface="Arial"/>
              </a:rPr>
              <a:t>05</a:t>
            </a:r>
          </a:p>
        </p:txBody>
      </p:sp>
      <p:sp>
        <p:nvSpPr>
          <p:cNvPr id="18" name="h-4">
            <a:extLst xmlns:a="http://schemas.openxmlformats.org/drawingml/2006/main">
              <a:ext uri="{FF2B5EF4-FFF2-40B4-BE49-F238E27FC236}">
                <a16:creationId xmlns:a16="http://schemas.microsoft.com/office/drawing/2014/main" id="{549B47A9-BA55-47EA-9C24-EB6357FFE6CC}"/>
              </a:ext>
            </a:extLst>
          </p:cNvPr>
          <p:cNvSpPr>
            <a:spLocks xmlns:a="http://schemas.openxmlformats.org/drawingml/2006/main" noGrp="1"/>
          </p:cNvSpPr>
          <p:nvPr/>
        </p:nvSpPr>
        <p:spPr>
          <a:xfrm xmlns:a="http://schemas.openxmlformats.org/drawingml/2006/main">
            <a:off x="1409700" y="6677025"/>
            <a:ext cx="790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32B45"/>
                </a:solidFill>
                <a:latin typeface="Arial"/>
                <a:ea typeface="Arial"/>
                <a:cs typeface="Arial"/>
              </a:defRPr>
            </a:defPPr>
          </a:lstStyle>
          <a:p xmlns:a="http://schemas.openxmlformats.org/drawingml/2006/main">
            <a:pPr algn="l">
              <a:defRPr sz="2175" b="1">
                <a:solidFill>
                  <a:srgbClr val="132B45"/>
                </a:solidFill>
                <a:latin typeface="Arial"/>
                <a:ea typeface="Arial"/>
                <a:cs typeface="Arial"/>
              </a:defRPr>
            </a:pPr>
            <a:r>
              <a:rPr sz="2175" b="1">
                <a:solidFill>
                  <a:srgbClr val="132B45"/>
                </a:solidFill>
                <a:latin typeface="Arial"/>
                <a:ea typeface="Arial"/>
                <a:cs typeface="Arial"/>
              </a:rPr>
              <a:t>Okta roles, Java authorization</a:t>
            </a:r>
          </a:p>
        </p:txBody>
      </p:sp>
      <p:sp>
        <p:nvSpPr>
          <p:cNvPr id="19" name="b-4">
            <a:extLst xmlns:a="http://schemas.openxmlformats.org/drawingml/2006/main">
              <a:ext uri="{FF2B5EF4-FFF2-40B4-BE49-F238E27FC236}">
                <a16:creationId xmlns:a16="http://schemas.microsoft.com/office/drawing/2014/main" id="{A451F01D-C804-4A41-A23B-EB3E5FCDBA5D}"/>
              </a:ext>
            </a:extLst>
          </p:cNvPr>
          <p:cNvSpPr>
            <a:spLocks xmlns:a="http://schemas.openxmlformats.org/drawingml/2006/main" noGrp="1"/>
          </p:cNvSpPr>
          <p:nvPr/>
        </p:nvSpPr>
        <p:spPr>
          <a:xfrm xmlns:a="http://schemas.openxmlformats.org/drawingml/2006/main">
            <a:off x="1409700" y="7058025"/>
            <a:ext cx="7858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6677A"/>
                </a:solidFill>
                <a:latin typeface="Arial"/>
                <a:ea typeface="Arial"/>
                <a:cs typeface="Arial"/>
              </a:defRPr>
            </a:defPPr>
          </a:lstStyle>
          <a:p xmlns:a="http://schemas.openxmlformats.org/drawingml/2006/main">
            <a:pPr algn="l">
              <a:defRPr sz="1875" b="0">
                <a:solidFill>
                  <a:srgbClr val="56677A"/>
                </a:solidFill>
                <a:latin typeface="Arial"/>
                <a:ea typeface="Arial"/>
                <a:cs typeface="Arial"/>
              </a:defRPr>
            </a:pPr>
            <a:r>
              <a:rPr sz="1875" b="0">
                <a:solidFill>
                  <a:srgbClr val="56677A"/>
                </a:solidFill>
                <a:latin typeface="Arial"/>
                <a:ea typeface="Arial"/>
                <a:cs typeface="Arial"/>
              </a:rPr>
              <a:t>Okta owns role groups. Java enforces permissions and business group, region and customer data scopes.</a:t>
            </a:r>
          </a:p>
        </p:txBody>
      </p:sp>
      <p:sp>
        <p:nvSpPr>
          <p:cNvPr id="20" name="platform">
            <a:extLst xmlns:a="http://schemas.openxmlformats.org/drawingml/2006/main">
              <a:ext uri="{FF2B5EF4-FFF2-40B4-BE49-F238E27FC236}">
                <a16:creationId xmlns:a16="http://schemas.microsoft.com/office/drawing/2014/main" id="{D7EAF6B4-4117-46C7-8365-41B43373EC30}"/>
              </a:ext>
            </a:extLst>
          </p:cNvPr>
          <p:cNvSpPr>
            <a:spLocks xmlns:a="http://schemas.openxmlformats.org/drawingml/2006/main" noGrp="1"/>
          </p:cNvSpPr>
          <p:nvPr/>
        </p:nvSpPr>
        <p:spPr>
          <a:xfrm xmlns:a="http://schemas.openxmlformats.org/drawingml/2006/main">
            <a:off x="10191750" y="3019425"/>
            <a:ext cx="428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32B45"/>
                </a:solidFill>
                <a:latin typeface="Arial"/>
                <a:ea typeface="Arial"/>
                <a:cs typeface="Arial"/>
              </a:defRPr>
            </a:defPPr>
          </a:lstStyle>
          <a:p xmlns:a="http://schemas.openxmlformats.org/drawingml/2006/main">
            <a:pPr algn="l">
              <a:defRPr sz="2325" b="1">
                <a:solidFill>
                  <a:srgbClr val="132B45"/>
                </a:solidFill>
                <a:latin typeface="Arial"/>
                <a:ea typeface="Arial"/>
                <a:cs typeface="Arial"/>
              </a:defRPr>
            </a:pPr>
            <a:r>
              <a:rPr sz="2325" b="1">
                <a:solidFill>
                  <a:srgbClr val="132B45"/>
                </a:solidFill>
                <a:latin typeface="Arial"/>
                <a:ea typeface="Arial"/>
                <a:cs typeface="Arial"/>
              </a:rPr>
              <a:t>Platform integrations</a:t>
            </a:r>
          </a:p>
        </p:txBody>
      </p:sp>
      <p:sp>
        <p:nvSpPr>
          <p:cNvPr id="21" name="platform-list">
            <a:extLst xmlns:a="http://schemas.openxmlformats.org/drawingml/2006/main">
              <a:ext uri="{FF2B5EF4-FFF2-40B4-BE49-F238E27FC236}">
                <a16:creationId xmlns:a16="http://schemas.microsoft.com/office/drawing/2014/main" id="{35DCF3BA-EB01-45C5-BDC2-E4D8F207CC47}"/>
              </a:ext>
            </a:extLst>
          </p:cNvPr>
          <p:cNvSpPr>
            <a:spLocks xmlns:a="http://schemas.openxmlformats.org/drawingml/2006/main" noGrp="1"/>
          </p:cNvSpPr>
          <p:nvPr/>
        </p:nvSpPr>
        <p:spPr>
          <a:xfrm xmlns:a="http://schemas.openxmlformats.org/drawingml/2006/main">
            <a:off x="10191750" y="3581400"/>
            <a:ext cx="43815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6677A"/>
                </a:solidFill>
                <a:latin typeface="Arial"/>
                <a:ea typeface="Arial"/>
                <a:cs typeface="Arial"/>
              </a:defRPr>
            </a:defPPr>
          </a:lstStyle>
          <a:p xmlns:a="http://schemas.openxmlformats.org/drawingml/2006/main">
            <a:pPr algn="l">
              <a:defRPr sz="1950" b="0">
                <a:solidFill>
                  <a:srgbClr val="56677A"/>
                </a:solidFill>
                <a:latin typeface="Arial"/>
                <a:ea typeface="Arial"/>
                <a:cs typeface="Arial"/>
              </a:defRPr>
            </a:pPr>
            <a:r>
              <a:rPr sz="1950" b="0">
                <a:solidFill>
                  <a:srgbClr val="56677A"/>
                </a:solidFill>
                <a:latin typeface="Arial"/>
                <a:ea typeface="Arial"/>
                <a:cs typeface="Arial"/>
              </a:rPr>
              <a:t>Okta SSO, MFA and role groups</a:t>
            </a:r>
          </a:p>
          <a:p xmlns:a="http://schemas.openxmlformats.org/drawingml/2006/main">
            <a:pPr algn="l">
              <a:defRPr sz="1950" b="0">
                <a:solidFill>
                  <a:srgbClr val="56677A"/>
                </a:solidFill>
                <a:latin typeface="Arial"/>
                <a:ea typeface="Arial"/>
                <a:cs typeface="Arial"/>
              </a:defRPr>
            </a:pPr>
            <a:r>
              <a:rPr sz="1950" b="0">
                <a:solidFill>
                  <a:srgbClr val="56677A"/>
                </a:solidFill>
                <a:latin typeface="Arial"/>
                <a:ea typeface="Arial"/>
                <a:cs typeface="Arial"/>
              </a:rPr>
              <a:t>Entra ID for Graph authorization</a:t>
            </a:r>
          </a:p>
          <a:p xmlns:a="http://schemas.openxmlformats.org/drawingml/2006/main">
            <a:pPr algn="l">
              <a:defRPr sz="1950" b="0">
                <a:solidFill>
                  <a:srgbClr val="56677A"/>
                </a:solidFill>
                <a:latin typeface="Arial"/>
                <a:ea typeface="Arial"/>
                <a:cs typeface="Arial"/>
              </a:defRPr>
            </a:pPr>
            <a:r>
              <a:rPr sz="1950" b="0">
                <a:solidFill>
                  <a:srgbClr val="56677A"/>
                </a:solidFill>
                <a:latin typeface="Arial"/>
                <a:ea typeface="Arial"/>
                <a:cs typeface="Arial"/>
              </a:rPr>
              <a:t>Microsoft Graph for Outlook</a:t>
            </a:r>
          </a:p>
          <a:p xmlns:a="http://schemas.openxmlformats.org/drawingml/2006/main">
            <a:pPr algn="l">
              <a:defRPr sz="1950" b="0">
                <a:solidFill>
                  <a:srgbClr val="56677A"/>
                </a:solidFill>
                <a:latin typeface="Arial"/>
                <a:ea typeface="Arial"/>
                <a:cs typeface="Arial"/>
              </a:defRPr>
            </a:pPr>
            <a:r>
              <a:rPr sz="1950" b="0">
                <a:solidFill>
                  <a:srgbClr val="56677A"/>
                </a:solidFill>
                <a:latin typeface="Arial"/>
                <a:ea typeface="Arial"/>
                <a:cs typeface="Arial"/>
              </a:rPr>
              <a:t>Azure Monitor and App Insights</a:t>
            </a:r>
          </a:p>
          <a:p xmlns:a="http://schemas.openxmlformats.org/drawingml/2006/main">
            <a:pPr algn="l">
              <a:defRPr sz="1950" b="0">
                <a:solidFill>
                  <a:srgbClr val="56677A"/>
                </a:solidFill>
                <a:latin typeface="Arial"/>
                <a:ea typeface="Arial"/>
                <a:cs typeface="Arial"/>
              </a:defRPr>
            </a:pPr>
            <a:r>
              <a:rPr sz="1950" b="0">
                <a:solidFill>
                  <a:srgbClr val="56677A"/>
                </a:solidFill>
                <a:latin typeface="Arial"/>
                <a:ea typeface="Arial"/>
                <a:cs typeface="Arial"/>
              </a:rPr>
              <a:t>GitHub Actions for CI/CD</a:t>
            </a:r>
          </a:p>
        </p:txBody>
      </p:sp>
      <p:sp>
        <p:nvSpPr>
          <p:cNvPr id="22" name="delivery">
            <a:extLst xmlns:a="http://schemas.openxmlformats.org/drawingml/2006/main">
              <a:ext uri="{FF2B5EF4-FFF2-40B4-BE49-F238E27FC236}">
                <a16:creationId xmlns:a16="http://schemas.microsoft.com/office/drawing/2014/main" id="{40683582-5CBE-48B0-9E61-866BEBC2B7DE}"/>
              </a:ext>
            </a:extLst>
          </p:cNvPr>
          <p:cNvSpPr>
            <a:spLocks xmlns:a="http://schemas.openxmlformats.org/drawingml/2006/main" noGrp="1"/>
          </p:cNvSpPr>
          <p:nvPr/>
        </p:nvSpPr>
        <p:spPr>
          <a:xfrm xmlns:a="http://schemas.openxmlformats.org/drawingml/2006/main">
            <a:off x="10191750" y="5953125"/>
            <a:ext cx="428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32B45"/>
                </a:solidFill>
                <a:latin typeface="Arial"/>
                <a:ea typeface="Arial"/>
                <a:cs typeface="Arial"/>
              </a:defRPr>
            </a:defPPr>
          </a:lstStyle>
          <a:p xmlns:a="http://schemas.openxmlformats.org/drawingml/2006/main">
            <a:pPr algn="l">
              <a:defRPr sz="2325" b="1">
                <a:solidFill>
                  <a:srgbClr val="132B45"/>
                </a:solidFill>
                <a:latin typeface="Arial"/>
                <a:ea typeface="Arial"/>
                <a:cs typeface="Arial"/>
              </a:defRPr>
            </a:pPr>
            <a:r>
              <a:rPr sz="2325" b="1">
                <a:solidFill>
                  <a:srgbClr val="132B45"/>
                </a:solidFill>
                <a:latin typeface="Arial"/>
                <a:ea typeface="Arial"/>
                <a:cs typeface="Arial"/>
              </a:rPr>
              <a:t>Delivery priorities</a:t>
            </a:r>
          </a:p>
        </p:txBody>
      </p:sp>
      <p:sp>
        <p:nvSpPr>
          <p:cNvPr id="23" name="delivery-body">
            <a:extLst xmlns:a="http://schemas.openxmlformats.org/drawingml/2006/main">
              <a:ext uri="{FF2B5EF4-FFF2-40B4-BE49-F238E27FC236}">
                <a16:creationId xmlns:a16="http://schemas.microsoft.com/office/drawing/2014/main" id="{9DAFE8BB-D641-4350-8D6E-F30AC5EFD0C2}"/>
              </a:ext>
            </a:extLst>
          </p:cNvPr>
          <p:cNvSpPr>
            <a:spLocks xmlns:a="http://schemas.openxmlformats.org/drawingml/2006/main" noGrp="1"/>
          </p:cNvSpPr>
          <p:nvPr/>
        </p:nvSpPr>
        <p:spPr>
          <a:xfrm xmlns:a="http://schemas.openxmlformats.org/drawingml/2006/main">
            <a:off x="10191750" y="6505575"/>
            <a:ext cx="4381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6677A"/>
                </a:solidFill>
                <a:latin typeface="Arial"/>
                <a:ea typeface="Arial"/>
                <a:cs typeface="Arial"/>
              </a:defRPr>
            </a:defPPr>
          </a:lstStyle>
          <a:p xmlns:a="http://schemas.openxmlformats.org/drawingml/2006/main">
            <a:pPr algn="l">
              <a:defRPr sz="1950" b="0">
                <a:solidFill>
                  <a:srgbClr val="56677A"/>
                </a:solidFill>
                <a:latin typeface="Arial"/>
                <a:ea typeface="Arial"/>
                <a:cs typeface="Arial"/>
              </a:defRPr>
            </a:pPr>
            <a:r>
              <a:rPr sz="1950" b="0">
                <a:solidFill>
                  <a:srgbClr val="56677A"/>
                </a:solidFill>
                <a:latin typeface="Arial"/>
                <a:ea typeface="Arial"/>
                <a:cs typeface="Arial"/>
              </a:rPr>
              <a:t>Two-week FSD and UX design</a:t>
            </a:r>
          </a:p>
          <a:p xmlns:a="http://schemas.openxmlformats.org/drawingml/2006/main">
            <a:pPr algn="l">
              <a:defRPr sz="1950" b="0">
                <a:solidFill>
                  <a:srgbClr val="56677A"/>
                </a:solidFill>
                <a:latin typeface="Arial"/>
                <a:ea typeface="Arial"/>
                <a:cs typeface="Arial"/>
              </a:defRPr>
            </a:pPr>
            <a:r>
              <a:rPr sz="1950" b="0">
                <a:solidFill>
                  <a:srgbClr val="56677A"/>
                </a:solidFill>
                <a:latin typeface="Arial"/>
                <a:ea typeface="Arial"/>
                <a:cs typeface="Arial"/>
              </a:rPr>
              <a:t>Three-week Java feature build</a:t>
            </a:r>
          </a:p>
          <a:p xmlns:a="http://schemas.openxmlformats.org/drawingml/2006/main">
            <a:pPr algn="l">
              <a:defRPr sz="1950" b="0">
                <a:solidFill>
                  <a:srgbClr val="56677A"/>
                </a:solidFill>
                <a:latin typeface="Arial"/>
                <a:ea typeface="Arial"/>
                <a:cs typeface="Arial"/>
              </a:defRPr>
            </a:pPr>
            <a:r>
              <a:rPr sz="1950" b="0">
                <a:solidFill>
                  <a:srgbClr val="56677A"/>
                </a:solidFill>
                <a:latin typeface="Arial"/>
                <a:ea typeface="Arial"/>
                <a:cs typeface="Arial"/>
              </a:rPr>
              <a:t>Protected tuning and independent QA</a:t>
            </a:r>
          </a:p>
        </p:txBody>
      </p:sp>
    </p:spTree>
    <p:extLst>
      <p:ext uri="{BB962C8B-B14F-4D97-AF65-F5344CB8AC3E}">
        <p14:creationId xmlns:p14="http://schemas.microsoft.com/office/powerpoint/2010/main" val="44722302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7" name="">
            <a:extLst xmlns:a="http://schemas.openxmlformats.org/drawingml/2006/main">
              <a:ext uri="{FF2B5EF4-FFF2-40B4-BE49-F238E27FC236}">
                <a16:creationId xmlns:a16="http://schemas.microsoft.com/office/drawing/2014/main" id="{0C5BC5D3-7850-4B06-8C60-BAFF88445BAF}"/>
              </a:ext>
            </a:extLst>
          </p:cNvPr>
          <p:cNvCxnSpPr>
            <a:stCxn xmlns:a="http://schemas.openxmlformats.org/drawingml/2006/main" id="23" idx="3"/>
            <a:endCxn xmlns:a="http://schemas.openxmlformats.org/drawingml/2006/main" id="24" idx="1"/>
          </p:cNvCxnSpPr>
          <p:nvPr/>
        </p:nvCxnSpPr>
        <p:spPr>
          <a:xfrm xmlns:a="http://schemas.openxmlformats.org/drawingml/2006/main">
            <a:off x="11858625" y="5915025"/>
            <a:ext cx="428625" cy="0"/>
          </a:xfrm>
          <a:prstGeom xmlns:a="http://schemas.openxmlformats.org/drawingml/2006/main" prst="straightConnector1">
            <a:avLst/>
          </a:prstGeom>
          <a:ln xmlns:a="http://schemas.openxmlformats.org/drawingml/2006/main" w="23813">
            <a:solidFill>
              <a:srgbClr val="0891B2"/>
            </a:solidFill>
            <a:prstDash val="solid"/>
            <a:tailEnd type="arrow" w="med" len="med"/>
          </a:ln>
        </p:spPr>
      </p:cxnSp>
      <p:cxnSp>
        <p:nvCxnSpPr>
          <p:cNvPr id="26" name="">
            <a:extLst xmlns:a="http://schemas.openxmlformats.org/drawingml/2006/main">
              <a:ext uri="{FF2B5EF4-FFF2-40B4-BE49-F238E27FC236}">
                <a16:creationId xmlns:a16="http://schemas.microsoft.com/office/drawing/2014/main" id="{A66AC79F-3874-44C6-86FA-9244104BBFCA}"/>
              </a:ext>
            </a:extLst>
          </p:cNvPr>
          <p:cNvCxnSpPr>
            <a:stCxn xmlns:a="http://schemas.openxmlformats.org/drawingml/2006/main" id="22" idx="3"/>
            <a:endCxn xmlns:a="http://schemas.openxmlformats.org/drawingml/2006/main" id="23" idx="1"/>
          </p:cNvCxnSpPr>
          <p:nvPr/>
        </p:nvCxnSpPr>
        <p:spPr>
          <a:xfrm xmlns:a="http://schemas.openxmlformats.org/drawingml/2006/main">
            <a:off x="9191625" y="5915025"/>
            <a:ext cx="428625" cy="0"/>
          </a:xfrm>
          <a:prstGeom xmlns:a="http://schemas.openxmlformats.org/drawingml/2006/main" prst="straightConnector1">
            <a:avLst/>
          </a:prstGeom>
          <a:ln xmlns:a="http://schemas.openxmlformats.org/drawingml/2006/main" w="23813">
            <a:solidFill>
              <a:srgbClr val="2563EB"/>
            </a:solidFill>
            <a:prstDash val="solid"/>
            <a:tailEnd type="arrow" w="med" len="med"/>
          </a:ln>
        </p:spPr>
      </p:cxnSp>
      <p:cxnSp>
        <p:nvCxnSpPr>
          <p:cNvPr id="25" name="">
            <a:extLst xmlns:a="http://schemas.openxmlformats.org/drawingml/2006/main">
              <a:ext uri="{FF2B5EF4-FFF2-40B4-BE49-F238E27FC236}">
                <a16:creationId xmlns:a16="http://schemas.microsoft.com/office/drawing/2014/main" id="{E3AACD5C-AB43-45A3-82C3-DF0D9517F259}"/>
              </a:ext>
            </a:extLst>
          </p:cNvPr>
          <p:cNvCxnSpPr>
            <a:stCxn xmlns:a="http://schemas.openxmlformats.org/drawingml/2006/main" id="7" idx="2"/>
            <a:endCxn xmlns:a="http://schemas.openxmlformats.org/drawingml/2006/main" id="22" idx="0"/>
          </p:cNvCxnSpPr>
          <p:nvPr/>
        </p:nvCxnSpPr>
        <p:spPr>
          <a:xfrm xmlns:a="http://schemas.openxmlformats.org/drawingml/2006/main" flipH="1">
            <a:off x="8072438" y="3676650"/>
            <a:ext cx="690563" cy="1524000"/>
          </a:xfrm>
          <a:prstGeom xmlns:a="http://schemas.openxmlformats.org/drawingml/2006/main" prst="bentConnector4">
            <a:avLst>
              <a:gd name="adj1" fmla="val 0"/>
              <a:gd name="adj2" fmla="val 50000"/>
            </a:avLst>
          </a:prstGeom>
          <a:ln xmlns:a="http://schemas.openxmlformats.org/drawingml/2006/main" w="23813">
            <a:solidFill>
              <a:srgbClr val="EA580C"/>
            </a:solidFill>
            <a:prstDash val="solid"/>
            <a:tailEnd type="arrow" w="med" len="med"/>
          </a:ln>
        </p:spPr>
      </p:cxnSp>
      <p:cxnSp>
        <p:nvCxnSpPr>
          <p:cNvPr id="20" name="">
            <a:extLst xmlns:a="http://schemas.openxmlformats.org/drawingml/2006/main">
              <a:ext uri="{FF2B5EF4-FFF2-40B4-BE49-F238E27FC236}">
                <a16:creationId xmlns:a16="http://schemas.microsoft.com/office/drawing/2014/main" id="{FDEF69D1-26A3-489A-B5B1-BD626AA1B375}"/>
              </a:ext>
            </a:extLst>
          </p:cNvPr>
          <p:cNvCxnSpPr>
            <a:stCxn xmlns:a="http://schemas.openxmlformats.org/drawingml/2006/main" id="18" idx="0"/>
            <a:endCxn xmlns:a="http://schemas.openxmlformats.org/drawingml/2006/main" id="5" idx="2"/>
          </p:cNvCxnSpPr>
          <p:nvPr/>
        </p:nvCxnSpPr>
        <p:spPr>
          <a:xfrm xmlns:a="http://schemas.openxmlformats.org/drawingml/2006/main" flipH="1" flipV="1">
            <a:off x="4019550" y="3676650"/>
            <a:ext cx="838200" cy="1524000"/>
          </a:xfrm>
          <a:prstGeom xmlns:a="http://schemas.openxmlformats.org/drawingml/2006/main" prst="bentConnector4">
            <a:avLst>
              <a:gd name="adj1" fmla="val 0"/>
              <a:gd name="adj2" fmla="val 50000"/>
            </a:avLst>
          </a:prstGeom>
          <a:ln xmlns:a="http://schemas.openxmlformats.org/drawingml/2006/main" w="23813">
            <a:solidFill>
              <a:srgbClr val="7C3AED"/>
            </a:solidFill>
            <a:prstDash val="solid"/>
            <a:tailEnd type="arrow" w="med" len="med"/>
          </a:ln>
        </p:spPr>
      </p:cxnSp>
      <p:cxnSp>
        <p:nvCxnSpPr>
          <p:cNvPr id="19" name="">
            <a:extLst xmlns:a="http://schemas.openxmlformats.org/drawingml/2006/main">
              <a:ext uri="{FF2B5EF4-FFF2-40B4-BE49-F238E27FC236}">
                <a16:creationId xmlns:a16="http://schemas.microsoft.com/office/drawing/2014/main" id="{4B70EBD5-2AFE-4A5E-9BDD-55C0127F165C}"/>
              </a:ext>
            </a:extLst>
          </p:cNvPr>
          <p:cNvCxnSpPr>
            <a:stCxn xmlns:a="http://schemas.openxmlformats.org/drawingml/2006/main" id="17" idx="3"/>
            <a:endCxn xmlns:a="http://schemas.openxmlformats.org/drawingml/2006/main" id="18" idx="1"/>
          </p:cNvCxnSpPr>
          <p:nvPr/>
        </p:nvCxnSpPr>
        <p:spPr>
          <a:xfrm xmlns:a="http://schemas.openxmlformats.org/drawingml/2006/main">
            <a:off x="3086100" y="5915025"/>
            <a:ext cx="533400" cy="0"/>
          </a:xfrm>
          <a:prstGeom xmlns:a="http://schemas.openxmlformats.org/drawingml/2006/main" prst="straightConnector1">
            <a:avLst/>
          </a:prstGeom>
          <a:ln xmlns:a="http://schemas.openxmlformats.org/drawingml/2006/main" w="23813">
            <a:solidFill>
              <a:srgbClr val="7C3AED"/>
            </a:solidFill>
            <a:prstDash val="solid"/>
            <a:tailEnd type="arrow" w="med" len="med"/>
          </a:ln>
        </p:spPr>
      </p:cxnSp>
      <p:cxnSp>
        <p:nvCxnSpPr>
          <p:cNvPr id="14" name="">
            <a:extLst xmlns:a="http://schemas.openxmlformats.org/drawingml/2006/main">
              <a:ext uri="{FF2B5EF4-FFF2-40B4-BE49-F238E27FC236}">
                <a16:creationId xmlns:a16="http://schemas.microsoft.com/office/drawing/2014/main" id="{7D7D0F86-BAE6-4713-AFB7-7261365912F6}"/>
              </a:ext>
            </a:extLst>
          </p:cNvPr>
          <p:cNvCxnSpPr>
            <a:stCxn xmlns:a="http://schemas.openxmlformats.org/drawingml/2006/main" id="8" idx="3"/>
            <a:endCxn xmlns:a="http://schemas.openxmlformats.org/drawingml/2006/main" id="9" idx="1"/>
          </p:cNvCxnSpPr>
          <p:nvPr/>
        </p:nvCxnSpPr>
        <p:spPr>
          <a:xfrm xmlns:a="http://schemas.openxmlformats.org/drawingml/2006/main">
            <a:off x="12172950" y="2924175"/>
            <a:ext cx="295275" cy="0"/>
          </a:xfrm>
          <a:prstGeom xmlns:a="http://schemas.openxmlformats.org/drawingml/2006/main" prst="straightConnector1">
            <a:avLst/>
          </a:prstGeom>
          <a:ln xmlns:a="http://schemas.openxmlformats.org/drawingml/2006/main" w="23813">
            <a:solidFill>
              <a:srgbClr val="16A34A"/>
            </a:solidFill>
            <a:prstDash val="solid"/>
            <a:tailEnd type="arrow" w="med" len="med"/>
          </a:ln>
        </p:spPr>
      </p:cxnSp>
      <p:cxnSp>
        <p:nvCxnSpPr>
          <p:cNvPr id="13" name="">
            <a:extLst xmlns:a="http://schemas.openxmlformats.org/drawingml/2006/main">
              <a:ext uri="{FF2B5EF4-FFF2-40B4-BE49-F238E27FC236}">
                <a16:creationId xmlns:a16="http://schemas.microsoft.com/office/drawing/2014/main" id="{3EB9E02A-74F4-48FB-99C9-42FDDD095584}"/>
              </a:ext>
            </a:extLst>
          </p:cNvPr>
          <p:cNvCxnSpPr>
            <a:stCxn xmlns:a="http://schemas.openxmlformats.org/drawingml/2006/main" id="7" idx="3"/>
            <a:endCxn xmlns:a="http://schemas.openxmlformats.org/drawingml/2006/main" id="8" idx="1"/>
          </p:cNvCxnSpPr>
          <p:nvPr/>
        </p:nvCxnSpPr>
        <p:spPr>
          <a:xfrm xmlns:a="http://schemas.openxmlformats.org/drawingml/2006/main">
            <a:off x="9801225" y="2924175"/>
            <a:ext cx="295275" cy="0"/>
          </a:xfrm>
          <a:prstGeom xmlns:a="http://schemas.openxmlformats.org/drawingml/2006/main" prst="straightConnector1">
            <a:avLst/>
          </a:prstGeom>
          <a:ln xmlns:a="http://schemas.openxmlformats.org/drawingml/2006/main" w="23813">
            <a:solidFill>
              <a:srgbClr val="16A34A"/>
            </a:solidFill>
            <a:prstDash val="solid"/>
            <a:tailEnd type="arrow" w="med" len="med"/>
          </a:ln>
        </p:spPr>
      </p:cxnSp>
      <p:cxnSp>
        <p:nvCxnSpPr>
          <p:cNvPr id="12" name="">
            <a:extLst xmlns:a="http://schemas.openxmlformats.org/drawingml/2006/main">
              <a:ext uri="{FF2B5EF4-FFF2-40B4-BE49-F238E27FC236}">
                <a16:creationId xmlns:a16="http://schemas.microsoft.com/office/drawing/2014/main" id="{D56ACAF5-9D11-4B29-859D-ADFF664E2A7A}"/>
              </a:ext>
            </a:extLst>
          </p:cNvPr>
          <p:cNvCxnSpPr>
            <a:stCxn xmlns:a="http://schemas.openxmlformats.org/drawingml/2006/main" id="6" idx="3"/>
            <a:endCxn xmlns:a="http://schemas.openxmlformats.org/drawingml/2006/main" id="7" idx="1"/>
          </p:cNvCxnSpPr>
          <p:nvPr/>
        </p:nvCxnSpPr>
        <p:spPr>
          <a:xfrm xmlns:a="http://schemas.openxmlformats.org/drawingml/2006/main">
            <a:off x="7429500" y="2924175"/>
            <a:ext cx="295275" cy="0"/>
          </a:xfrm>
          <a:prstGeom xmlns:a="http://schemas.openxmlformats.org/drawingml/2006/main" prst="straightConnector1">
            <a:avLst/>
          </a:prstGeom>
          <a:ln xmlns:a="http://schemas.openxmlformats.org/drawingml/2006/main" w="23813">
            <a:solidFill>
              <a:srgbClr val="16A34A"/>
            </a:solidFill>
            <a:prstDash val="solid"/>
            <a:tailEnd type="arrow" w="med" len="med"/>
          </a:ln>
        </p:spPr>
      </p:cxnSp>
      <p:cxnSp>
        <p:nvCxnSpPr>
          <p:cNvPr id="11" name="">
            <a:extLst xmlns:a="http://schemas.openxmlformats.org/drawingml/2006/main">
              <a:ext uri="{FF2B5EF4-FFF2-40B4-BE49-F238E27FC236}">
                <a16:creationId xmlns:a16="http://schemas.microsoft.com/office/drawing/2014/main" id="{6996A4C5-CAA6-43FF-BB5E-9F84FEAA80D2}"/>
              </a:ext>
            </a:extLst>
          </p:cNvPr>
          <p:cNvCxnSpPr>
            <a:stCxn xmlns:a="http://schemas.openxmlformats.org/drawingml/2006/main" id="5" idx="3"/>
            <a:endCxn xmlns:a="http://schemas.openxmlformats.org/drawingml/2006/main" id="6" idx="1"/>
          </p:cNvCxnSpPr>
          <p:nvPr/>
        </p:nvCxnSpPr>
        <p:spPr>
          <a:xfrm xmlns:a="http://schemas.openxmlformats.org/drawingml/2006/main">
            <a:off x="5057775" y="2924175"/>
            <a:ext cx="295275" cy="0"/>
          </a:xfrm>
          <a:prstGeom xmlns:a="http://schemas.openxmlformats.org/drawingml/2006/main" prst="straightConnector1">
            <a:avLst/>
          </a:prstGeom>
          <a:ln xmlns:a="http://schemas.openxmlformats.org/drawingml/2006/main" w="23813">
            <a:solidFill>
              <a:srgbClr val="16A34A"/>
            </a:solidFill>
            <a:prstDash val="solid"/>
            <a:tailEnd type="arrow" w="med" len="med"/>
          </a:ln>
        </p:spPr>
      </p:cxnSp>
      <p:cxnSp>
        <p:nvCxnSpPr>
          <p:cNvPr id="10" name="">
            <a:extLst xmlns:a="http://schemas.openxmlformats.org/drawingml/2006/main">
              <a:ext uri="{FF2B5EF4-FFF2-40B4-BE49-F238E27FC236}">
                <a16:creationId xmlns:a16="http://schemas.microsoft.com/office/drawing/2014/main" id="{9FC53883-2AB1-47A4-ACE4-376791F374AA}"/>
              </a:ext>
            </a:extLst>
          </p:cNvPr>
          <p:cNvCxnSpPr>
            <a:stCxn xmlns:a="http://schemas.openxmlformats.org/drawingml/2006/main" id="4" idx="3"/>
            <a:endCxn xmlns:a="http://schemas.openxmlformats.org/drawingml/2006/main" id="5" idx="1"/>
          </p:cNvCxnSpPr>
          <p:nvPr/>
        </p:nvCxnSpPr>
        <p:spPr>
          <a:xfrm xmlns:a="http://schemas.openxmlformats.org/drawingml/2006/main">
            <a:off x="2686050" y="2924175"/>
            <a:ext cx="295275" cy="0"/>
          </a:xfrm>
          <a:prstGeom xmlns:a="http://schemas.openxmlformats.org/drawingml/2006/main" prst="straightConnector1">
            <a:avLst/>
          </a:prstGeom>
          <a:ln xmlns:a="http://schemas.openxmlformats.org/drawingml/2006/main" w="23813">
            <a:solidFill>
              <a:srgbClr val="16A34A"/>
            </a:solidFill>
            <a:prstDash val="solid"/>
            <a:tailEnd type="arrow" w="med" len="med"/>
          </a:ln>
        </p:spPr>
      </p:cxnSp>
      <p:sp>
        <p:nvSpPr>
          <p:cNvPr id="30" name="title">
            <a:extLst xmlns:a="http://schemas.openxmlformats.org/drawingml/2006/main">
              <a:ext uri="{FF2B5EF4-FFF2-40B4-BE49-F238E27FC236}">
                <a16:creationId xmlns:a16="http://schemas.microsoft.com/office/drawing/2014/main" id="{BF072DB6-4240-4E42-B853-C91FA47645BD}"/>
              </a:ext>
            </a:extLst>
          </p:cNvPr>
          <p:cNvSpPr>
            <a:spLocks xmlns:a="http://schemas.openxmlformats.org/drawingml/2006/main" noGrp="1"/>
          </p:cNvSpPr>
          <p:nvPr/>
        </p:nvSpPr>
        <p:spPr>
          <a:xfrm xmlns:a="http://schemas.openxmlformats.org/drawingml/2006/main">
            <a:off x="609600" y="419100"/>
            <a:ext cx="1400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132B45"/>
                </a:solidFill>
                <a:latin typeface="Arial"/>
                <a:ea typeface="Arial"/>
                <a:cs typeface="Arial"/>
              </a:defRPr>
            </a:defPPr>
          </a:lstStyle>
          <a:p xmlns:a="http://schemas.openxmlformats.org/drawingml/2006/main">
            <a:pPr algn="l">
              <a:defRPr sz="3600" b="1">
                <a:solidFill>
                  <a:srgbClr val="132B45"/>
                </a:solidFill>
                <a:latin typeface="Arial"/>
                <a:ea typeface="Arial"/>
                <a:cs typeface="Arial"/>
              </a:defRPr>
            </a:pPr>
            <a:r>
              <a:rPr sz="3600" b="1">
                <a:solidFill>
                  <a:srgbClr val="132B45"/>
                </a:solidFill>
                <a:latin typeface="Arial"/>
                <a:ea typeface="Arial"/>
                <a:cs typeface="Arial"/>
              </a:rPr>
              <a:t>Logical Component Flow</a:t>
            </a:r>
          </a:p>
        </p:txBody>
      </p:sp>
      <p:sp>
        <p:nvSpPr>
          <p:cNvPr id="2" name="page">
            <a:extLst xmlns:a="http://schemas.openxmlformats.org/drawingml/2006/main">
              <a:ext uri="{FF2B5EF4-FFF2-40B4-BE49-F238E27FC236}">
                <a16:creationId xmlns:a16="http://schemas.microsoft.com/office/drawing/2014/main" id="{5E544BE3-789F-4E9C-B274-BA2C8C7E4E8A}"/>
              </a:ext>
            </a:extLst>
          </p:cNvPr>
          <p:cNvSpPr>
            <a:spLocks xmlns:a="http://schemas.openxmlformats.org/drawingml/2006/main" noGrp="1"/>
          </p:cNvSpPr>
          <p:nvPr/>
        </p:nvSpPr>
        <p:spPr>
          <a:xfrm xmlns:a="http://schemas.openxmlformats.org/drawingml/2006/main">
            <a:off x="13811250" y="8143875"/>
            <a:ext cx="819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6677A"/>
                </a:solidFill>
                <a:latin typeface="Arial"/>
                <a:ea typeface="Arial"/>
                <a:cs typeface="Arial"/>
              </a:defRPr>
            </a:defPPr>
          </a:lstStyle>
          <a:p xmlns:a="http://schemas.openxmlformats.org/drawingml/2006/main">
            <a:pPr algn="r">
              <a:defRPr sz="1500" b="0">
                <a:solidFill>
                  <a:srgbClr val="56677A"/>
                </a:solidFill>
                <a:latin typeface="Arial"/>
                <a:ea typeface="Arial"/>
                <a:cs typeface="Arial"/>
              </a:defRPr>
            </a:pPr>
            <a:r>
              <a:rPr sz="1500" b="0">
                <a:solidFill>
                  <a:srgbClr val="56677A"/>
                </a:solidFill>
                <a:latin typeface="Arial"/>
                <a:ea typeface="Arial"/>
                <a:cs typeface="Arial"/>
              </a:rPr>
              <a:t>3 / 5</a:t>
            </a:r>
          </a:p>
        </p:txBody>
      </p:sp>
      <p:sp>
        <p:nvSpPr>
          <p:cNvPr id="3" name="caption">
            <a:extLst xmlns:a="http://schemas.openxmlformats.org/drawingml/2006/main">
              <a:ext uri="{FF2B5EF4-FFF2-40B4-BE49-F238E27FC236}">
                <a16:creationId xmlns:a16="http://schemas.microsoft.com/office/drawing/2014/main" id="{B1486197-05AE-46A7-9F90-E9D372A51096}"/>
              </a:ext>
            </a:extLst>
          </p:cNvPr>
          <p:cNvSpPr>
            <a:spLocks xmlns:a="http://schemas.openxmlformats.org/drawingml/2006/main" noGrp="1"/>
          </p:cNvSpPr>
          <p:nvPr/>
        </p:nvSpPr>
        <p:spPr>
          <a:xfrm xmlns:a="http://schemas.openxmlformats.org/drawingml/2006/main">
            <a:off x="609600" y="1238250"/>
            <a:ext cx="1390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56677A"/>
                </a:solidFill>
                <a:latin typeface="Arial"/>
                <a:ea typeface="Arial"/>
                <a:cs typeface="Arial"/>
              </a:defRPr>
            </a:defPPr>
          </a:lstStyle>
          <a:p xmlns:a="http://schemas.openxmlformats.org/drawingml/2006/main">
            <a:pPr algn="l">
              <a:defRPr sz="2175" b="0">
                <a:solidFill>
                  <a:srgbClr val="56677A"/>
                </a:solidFill>
                <a:latin typeface="Arial"/>
                <a:ea typeface="Arial"/>
                <a:cs typeface="Arial"/>
              </a:defRPr>
            </a:pPr>
            <a:r>
              <a:rPr sz="2175" b="0">
                <a:solidFill>
                  <a:srgbClr val="56677A"/>
                </a:solidFill>
                <a:latin typeface="Arial"/>
                <a:ea typeface="Arial"/>
                <a:cs typeface="Arial"/>
              </a:rPr>
              <a:t>The numbered path turns incoming email into visible, trackable customer work.</a:t>
            </a:r>
          </a:p>
        </p:txBody>
      </p:sp>
      <p:sp>
        <p:nvSpPr>
          <p:cNvPr id="4" name="sync">
            <a:extLst xmlns:a="http://schemas.openxmlformats.org/drawingml/2006/main">
              <a:ext uri="{FF2B5EF4-FFF2-40B4-BE49-F238E27FC236}">
                <a16:creationId xmlns:a16="http://schemas.microsoft.com/office/drawing/2014/main" id="{4E8F45F1-E91C-459B-853E-E78C4AC0A509}"/>
              </a:ext>
            </a:extLst>
          </p:cNvPr>
          <p:cNvSpPr>
            <a:spLocks xmlns:a="http://schemas.openxmlformats.org/drawingml/2006/main" noGrp="1"/>
          </p:cNvSpPr>
          <p:nvPr/>
        </p:nvSpPr>
        <p:spPr>
          <a:xfrm xmlns:a="http://schemas.openxmlformats.org/drawingml/2006/main">
            <a:off x="609600" y="2171700"/>
            <a:ext cx="2076450" cy="1504950"/>
          </a:xfrm>
          <a:prstGeom xmlns:a="http://schemas.openxmlformats.org/drawingml/2006/main" prst="roundRect">
            <a:avLst>
              <a:gd name="adj" fmla="val 6329"/>
            </a:avLst>
          </a:prstGeom>
          <a:solidFill xmlns:a="http://schemas.openxmlformats.org/drawingml/2006/main">
            <a:srgbClr val="CFFAFE"/>
          </a:solidFill>
          <a:ln xmlns:a="http://schemas.openxmlformats.org/drawingml/2006/main" w="19050">
            <a:solidFill>
              <a:srgbClr val="0891B2"/>
            </a:solidFill>
          </a:ln>
        </p:spPr>
        <p:txBody>
          <a:bodyPr xmlns:a="http://schemas.openxmlformats.org/drawingml/2006/main" wrap="square" lIns="114300" tIns="114300" rIns="114300" bIns="114300" anchor="ctr">
            <a:noAutofit/>
          </a:bodyPr>
          <a:lstStyle xmlns:a="http://schemas.openxmlformats.org/drawingml/2006/main">
            <a:defPPr algn="ctr">
              <a:defRPr sz="1800">
                <a:solidFill>
                  <a:srgbClr val="132B45"/>
                </a:solidFill>
                <a:latin typeface="Arial"/>
                <a:ea typeface="Arial"/>
                <a:cs typeface="Arial"/>
              </a:defRPr>
            </a:defPPr>
          </a:lstStyle>
          <a:p xmlns:a="http://schemas.openxmlformats.org/drawingml/2006/main">
            <a:pPr algn="ctr">
              <a:spcAft>
                <a:spcPts val="10"/>
              </a:spcAft>
              <a:defRPr sz="1800">
                <a:solidFill>
                  <a:srgbClr val="132B45"/>
                </a:solidFill>
                <a:latin typeface="Arial"/>
                <a:ea typeface="Arial"/>
                <a:cs typeface="Arial"/>
              </a:defRPr>
            </a:pPr>
            <a:r>
              <a:rPr sz="1800" b="1">
                <a:solidFill>
                  <a:srgbClr val="132B45"/>
                </a:solidFill>
                <a:latin typeface="Arial"/>
                <a:ea typeface="Arial"/>
                <a:cs typeface="Arial"/>
              </a:rPr>
              <a:t>01  Mail sync</a:t>
            </a:r>
          </a:p>
          <a:p xmlns:a="http://schemas.openxmlformats.org/drawingml/2006/main">
            <a:pPr algn="ctr">
              <a:defRPr sz="1800">
                <a:solidFill>
                  <a:srgbClr val="132B45"/>
                </a:solidFill>
                <a:latin typeface="Arial"/>
                <a:ea typeface="Arial"/>
                <a:cs typeface="Arial"/>
              </a:defRPr>
            </a:pPr>
            <a:r>
              <a:rPr sz="1800">
                <a:solidFill>
                  <a:srgbClr val="132B45"/>
                </a:solidFill>
                <a:latin typeface="Arial"/>
                <a:ea typeface="Arial"/>
                <a:cs typeface="Arial"/>
              </a:rPr>
              <a:t>Collect and</a:t>
            </a:r>
            <a:br>
              <a:rPr sz="1800">
                <a:solidFill>
                  <a:srgbClr val="132B45"/>
                </a:solidFill>
                <a:latin typeface="Arial"/>
                <a:ea typeface="Arial"/>
                <a:cs typeface="Arial"/>
              </a:rPr>
            </a:br>
            <a:r>
              <a:rPr sz="1800">
                <a:solidFill>
                  <a:srgbClr val="132B45"/>
                </a:solidFill>
                <a:latin typeface="Arial"/>
                <a:ea typeface="Arial"/>
                <a:cs typeface="Arial"/>
              </a:rPr>
              <a:t>deduplicate emails</a:t>
            </a:r>
          </a:p>
        </p:txBody>
      </p:sp>
      <p:sp>
        <p:nvSpPr>
          <p:cNvPr id="5" name="intent">
            <a:extLst xmlns:a="http://schemas.openxmlformats.org/drawingml/2006/main">
              <a:ext uri="{FF2B5EF4-FFF2-40B4-BE49-F238E27FC236}">
                <a16:creationId xmlns:a16="http://schemas.microsoft.com/office/drawing/2014/main" id="{B9CDF980-DD94-425F-8968-147C56413CB8}"/>
              </a:ext>
            </a:extLst>
          </p:cNvPr>
          <p:cNvSpPr>
            <a:spLocks xmlns:a="http://schemas.openxmlformats.org/drawingml/2006/main" noGrp="1"/>
          </p:cNvSpPr>
          <p:nvPr/>
        </p:nvSpPr>
        <p:spPr>
          <a:xfrm xmlns:a="http://schemas.openxmlformats.org/drawingml/2006/main">
            <a:off x="2981325" y="2171700"/>
            <a:ext cx="2076450" cy="1504950"/>
          </a:xfrm>
          <a:prstGeom xmlns:a="http://schemas.openxmlformats.org/drawingml/2006/main" prst="roundRect">
            <a:avLst>
              <a:gd name="adj" fmla="val 6329"/>
            </a:avLst>
          </a:prstGeom>
          <a:solidFill xmlns:a="http://schemas.openxmlformats.org/drawingml/2006/main">
            <a:srgbClr val="DCFCE7"/>
          </a:solidFill>
          <a:ln xmlns:a="http://schemas.openxmlformats.org/drawingml/2006/main" w="19050">
            <a:solidFill>
              <a:srgbClr val="16A34A"/>
            </a:solidFill>
          </a:ln>
        </p:spPr>
        <p:txBody>
          <a:bodyPr xmlns:a="http://schemas.openxmlformats.org/drawingml/2006/main" wrap="square" lIns="114300" tIns="114300" rIns="114300" bIns="114300" anchor="ctr">
            <a:noAutofit/>
          </a:bodyPr>
          <a:lstStyle xmlns:a="http://schemas.openxmlformats.org/drawingml/2006/main">
            <a:defPPr algn="ctr">
              <a:defRPr sz="1800">
                <a:solidFill>
                  <a:srgbClr val="132B45"/>
                </a:solidFill>
                <a:latin typeface="Arial"/>
                <a:ea typeface="Arial"/>
                <a:cs typeface="Arial"/>
              </a:defRPr>
            </a:defPPr>
          </a:lstStyle>
          <a:p xmlns:a="http://schemas.openxmlformats.org/drawingml/2006/main">
            <a:pPr algn="ctr">
              <a:spcAft>
                <a:spcPts val="10"/>
              </a:spcAft>
              <a:defRPr sz="1800">
                <a:solidFill>
                  <a:srgbClr val="132B45"/>
                </a:solidFill>
                <a:latin typeface="Arial"/>
                <a:ea typeface="Arial"/>
                <a:cs typeface="Arial"/>
              </a:defRPr>
            </a:pPr>
            <a:r>
              <a:rPr sz="1800" b="1">
                <a:solidFill>
                  <a:srgbClr val="132B45"/>
                </a:solidFill>
                <a:latin typeface="Arial"/>
                <a:ea typeface="Arial"/>
                <a:cs typeface="Arial"/>
              </a:rPr>
              <a:t>02  Understand</a:t>
            </a:r>
          </a:p>
          <a:p xmlns:a="http://schemas.openxmlformats.org/drawingml/2006/main">
            <a:pPr algn="ctr">
              <a:defRPr sz="1800">
                <a:solidFill>
                  <a:srgbClr val="132B45"/>
                </a:solidFill>
                <a:latin typeface="Arial"/>
                <a:ea typeface="Arial"/>
                <a:cs typeface="Arial"/>
              </a:defRPr>
            </a:pPr>
            <a:r>
              <a:rPr sz="1800">
                <a:solidFill>
                  <a:srgbClr val="132B45"/>
                </a:solidFill>
                <a:latin typeface="Arial"/>
                <a:ea typeface="Arial"/>
                <a:cs typeface="Arial"/>
              </a:rPr>
              <a:t>Customer, intent</a:t>
            </a:r>
            <a:br>
              <a:rPr sz="1800">
                <a:solidFill>
                  <a:srgbClr val="132B45"/>
                </a:solidFill>
                <a:latin typeface="Arial"/>
                <a:ea typeface="Arial"/>
                <a:cs typeface="Arial"/>
              </a:rPr>
            </a:br>
            <a:r>
              <a:rPr sz="1800">
                <a:solidFill>
                  <a:srgbClr val="132B45"/>
                </a:solidFill>
                <a:latin typeface="Arial"/>
                <a:ea typeface="Arial"/>
                <a:cs typeface="Arial"/>
              </a:rPr>
              <a:t>and candidate Case</a:t>
            </a:r>
          </a:p>
        </p:txBody>
      </p:sp>
      <p:sp>
        <p:nvSpPr>
          <p:cNvPr id="6" name="triage">
            <a:extLst xmlns:a="http://schemas.openxmlformats.org/drawingml/2006/main">
              <a:ext uri="{FF2B5EF4-FFF2-40B4-BE49-F238E27FC236}">
                <a16:creationId xmlns:a16="http://schemas.microsoft.com/office/drawing/2014/main" id="{39ACAD79-1300-4514-A8A0-E2DCA60D91D8}"/>
              </a:ext>
            </a:extLst>
          </p:cNvPr>
          <p:cNvSpPr>
            <a:spLocks xmlns:a="http://schemas.openxmlformats.org/drawingml/2006/main" noGrp="1"/>
          </p:cNvSpPr>
          <p:nvPr/>
        </p:nvSpPr>
        <p:spPr>
          <a:xfrm xmlns:a="http://schemas.openxmlformats.org/drawingml/2006/main">
            <a:off x="5353050" y="2171700"/>
            <a:ext cx="2076450" cy="1504950"/>
          </a:xfrm>
          <a:prstGeom xmlns:a="http://schemas.openxmlformats.org/drawingml/2006/main" prst="roundRect">
            <a:avLst>
              <a:gd name="adj" fmla="val 6329"/>
            </a:avLst>
          </a:prstGeom>
          <a:solidFill xmlns:a="http://schemas.openxmlformats.org/drawingml/2006/main">
            <a:srgbClr val="DCFCE7"/>
          </a:solidFill>
          <a:ln xmlns:a="http://schemas.openxmlformats.org/drawingml/2006/main" w="19050">
            <a:solidFill>
              <a:srgbClr val="16A34A"/>
            </a:solidFill>
          </a:ln>
        </p:spPr>
        <p:txBody>
          <a:bodyPr xmlns:a="http://schemas.openxmlformats.org/drawingml/2006/main" wrap="square" lIns="114300" tIns="114300" rIns="114300" bIns="114300" anchor="ctr">
            <a:noAutofit/>
          </a:bodyPr>
          <a:lstStyle xmlns:a="http://schemas.openxmlformats.org/drawingml/2006/main">
            <a:defPPr algn="ctr">
              <a:defRPr sz="1800">
                <a:solidFill>
                  <a:srgbClr val="132B45"/>
                </a:solidFill>
                <a:latin typeface="Arial"/>
                <a:ea typeface="Arial"/>
                <a:cs typeface="Arial"/>
              </a:defRPr>
            </a:defPPr>
          </a:lstStyle>
          <a:p xmlns:a="http://schemas.openxmlformats.org/drawingml/2006/main">
            <a:pPr algn="ctr">
              <a:spcAft>
                <a:spcPts val="10"/>
              </a:spcAft>
              <a:defRPr sz="1800">
                <a:solidFill>
                  <a:srgbClr val="132B45"/>
                </a:solidFill>
                <a:latin typeface="Arial"/>
                <a:ea typeface="Arial"/>
                <a:cs typeface="Arial"/>
              </a:defRPr>
            </a:pPr>
            <a:r>
              <a:rPr sz="1800" b="1">
                <a:solidFill>
                  <a:srgbClr val="132B45"/>
                </a:solidFill>
                <a:latin typeface="Arial"/>
                <a:ea typeface="Arial"/>
                <a:cs typeface="Arial"/>
              </a:rPr>
              <a:t>03  Triage review</a:t>
            </a:r>
          </a:p>
          <a:p xmlns:a="http://schemas.openxmlformats.org/drawingml/2006/main">
            <a:pPr algn="ctr">
              <a:defRPr sz="1800">
                <a:solidFill>
                  <a:srgbClr val="132B45"/>
                </a:solidFill>
                <a:latin typeface="Arial"/>
                <a:ea typeface="Arial"/>
                <a:cs typeface="Arial"/>
              </a:defRPr>
            </a:pPr>
            <a:r>
              <a:rPr sz="1800">
                <a:solidFill>
                  <a:srgbClr val="132B45"/>
                </a:solidFill>
                <a:latin typeface="Arial"/>
                <a:ea typeface="Arial"/>
                <a:cs typeface="Arial"/>
              </a:rPr>
              <a:t>AM confirms</a:t>
            </a:r>
            <a:br>
              <a:rPr sz="1800">
                <a:solidFill>
                  <a:srgbClr val="132B45"/>
                </a:solidFill>
                <a:latin typeface="Arial"/>
                <a:ea typeface="Arial"/>
                <a:cs typeface="Arial"/>
              </a:rPr>
            </a:br>
            <a:r>
              <a:rPr sz="1800">
                <a:solidFill>
                  <a:srgbClr val="132B45"/>
                </a:solidFill>
                <a:latin typeface="Arial"/>
                <a:ea typeface="Arial"/>
                <a:cs typeface="Arial"/>
              </a:rPr>
              <a:t>Create / Link / Ignore</a:t>
            </a:r>
          </a:p>
        </p:txBody>
      </p:sp>
      <p:sp>
        <p:nvSpPr>
          <p:cNvPr id="7" name="case">
            <a:extLst xmlns:a="http://schemas.openxmlformats.org/drawingml/2006/main">
              <a:ext uri="{FF2B5EF4-FFF2-40B4-BE49-F238E27FC236}">
                <a16:creationId xmlns:a16="http://schemas.microsoft.com/office/drawing/2014/main" id="{C28174AC-F63C-48A1-8320-E58AD907F3C1}"/>
              </a:ext>
            </a:extLst>
          </p:cNvPr>
          <p:cNvSpPr>
            <a:spLocks xmlns:a="http://schemas.openxmlformats.org/drawingml/2006/main" noGrp="1"/>
          </p:cNvSpPr>
          <p:nvPr/>
        </p:nvSpPr>
        <p:spPr>
          <a:xfrm xmlns:a="http://schemas.openxmlformats.org/drawingml/2006/main">
            <a:off x="7724775" y="2171700"/>
            <a:ext cx="2076450" cy="1504950"/>
          </a:xfrm>
          <a:prstGeom xmlns:a="http://schemas.openxmlformats.org/drawingml/2006/main" prst="roundRect">
            <a:avLst>
              <a:gd name="adj" fmla="val 6329"/>
            </a:avLst>
          </a:prstGeom>
          <a:solidFill xmlns:a="http://schemas.openxmlformats.org/drawingml/2006/main">
            <a:srgbClr val="DCFCE7"/>
          </a:solidFill>
          <a:ln xmlns:a="http://schemas.openxmlformats.org/drawingml/2006/main" w="19050">
            <a:solidFill>
              <a:srgbClr val="16A34A"/>
            </a:solidFill>
          </a:ln>
        </p:spPr>
        <p:txBody>
          <a:bodyPr xmlns:a="http://schemas.openxmlformats.org/drawingml/2006/main" wrap="square" lIns="114300" tIns="114300" rIns="114300" bIns="114300" anchor="ctr">
            <a:noAutofit/>
          </a:bodyPr>
          <a:lstStyle xmlns:a="http://schemas.openxmlformats.org/drawingml/2006/main">
            <a:defPPr algn="ctr">
              <a:defRPr sz="1800">
                <a:solidFill>
                  <a:srgbClr val="132B45"/>
                </a:solidFill>
                <a:latin typeface="Arial"/>
                <a:ea typeface="Arial"/>
                <a:cs typeface="Arial"/>
              </a:defRPr>
            </a:defPPr>
          </a:lstStyle>
          <a:p xmlns:a="http://schemas.openxmlformats.org/drawingml/2006/main">
            <a:pPr algn="ctr">
              <a:spcAft>
                <a:spcPts val="10"/>
              </a:spcAft>
              <a:defRPr sz="1800">
                <a:solidFill>
                  <a:srgbClr val="132B45"/>
                </a:solidFill>
                <a:latin typeface="Arial"/>
                <a:ea typeface="Arial"/>
                <a:cs typeface="Arial"/>
              </a:defRPr>
            </a:pPr>
            <a:r>
              <a:rPr sz="1800" b="1">
                <a:solidFill>
                  <a:srgbClr val="132B45"/>
                </a:solidFill>
                <a:latin typeface="Arial"/>
                <a:ea typeface="Arial"/>
                <a:cs typeface="Arial"/>
              </a:rPr>
              <a:t>04  Case tracking</a:t>
            </a:r>
          </a:p>
          <a:p xmlns:a="http://schemas.openxmlformats.org/drawingml/2006/main">
            <a:pPr algn="ctr">
              <a:defRPr sz="1800">
                <a:solidFill>
                  <a:srgbClr val="132B45"/>
                </a:solidFill>
                <a:latin typeface="Arial"/>
                <a:ea typeface="Arial"/>
                <a:cs typeface="Arial"/>
              </a:defRPr>
            </a:pPr>
            <a:r>
              <a:rPr sz="1800">
                <a:solidFill>
                  <a:srgbClr val="132B45"/>
                </a:solidFill>
                <a:latin typeface="Arial"/>
                <a:ea typeface="Arial"/>
                <a:cs typeface="Arial"/>
              </a:rPr>
              <a:t>Owners, stage</a:t>
            </a:r>
            <a:br>
              <a:rPr sz="1800">
                <a:solidFill>
                  <a:srgbClr val="132B45"/>
                </a:solidFill>
                <a:latin typeface="Arial"/>
                <a:ea typeface="Arial"/>
                <a:cs typeface="Arial"/>
              </a:rPr>
            </a:br>
            <a:r>
              <a:rPr sz="1800">
                <a:solidFill>
                  <a:srgbClr val="132B45"/>
                </a:solidFill>
                <a:latin typeface="Arial"/>
                <a:ea typeface="Arial"/>
                <a:cs typeface="Arial"/>
              </a:rPr>
              <a:t>and Open Items</a:t>
            </a:r>
          </a:p>
        </p:txBody>
      </p:sp>
      <p:sp>
        <p:nvSpPr>
          <p:cNvPr id="8" name="overview">
            <a:extLst xmlns:a="http://schemas.openxmlformats.org/drawingml/2006/main">
              <a:ext uri="{FF2B5EF4-FFF2-40B4-BE49-F238E27FC236}">
                <a16:creationId xmlns:a16="http://schemas.microsoft.com/office/drawing/2014/main" id="{3445FADA-500F-4F34-8318-493A35D0DDF0}"/>
              </a:ext>
            </a:extLst>
          </p:cNvPr>
          <p:cNvSpPr>
            <a:spLocks xmlns:a="http://schemas.openxmlformats.org/drawingml/2006/main" noGrp="1"/>
          </p:cNvSpPr>
          <p:nvPr/>
        </p:nvSpPr>
        <p:spPr>
          <a:xfrm xmlns:a="http://schemas.openxmlformats.org/drawingml/2006/main">
            <a:off x="10096500" y="2171700"/>
            <a:ext cx="2076450" cy="1504950"/>
          </a:xfrm>
          <a:prstGeom xmlns:a="http://schemas.openxmlformats.org/drawingml/2006/main" prst="roundRect">
            <a:avLst>
              <a:gd name="adj" fmla="val 6329"/>
            </a:avLst>
          </a:prstGeom>
          <a:solidFill xmlns:a="http://schemas.openxmlformats.org/drawingml/2006/main">
            <a:srgbClr val="DBEAFE"/>
          </a:solidFill>
          <a:ln xmlns:a="http://schemas.openxmlformats.org/drawingml/2006/main" w="19050">
            <a:solidFill>
              <a:srgbClr val="2563EB"/>
            </a:solidFill>
          </a:ln>
        </p:spPr>
        <p:txBody>
          <a:bodyPr xmlns:a="http://schemas.openxmlformats.org/drawingml/2006/main" wrap="square" lIns="114300" tIns="114300" rIns="114300" bIns="114300" anchor="ctr">
            <a:noAutofit/>
          </a:bodyPr>
          <a:lstStyle xmlns:a="http://schemas.openxmlformats.org/drawingml/2006/main">
            <a:defPPr algn="ctr">
              <a:defRPr sz="1800">
                <a:solidFill>
                  <a:srgbClr val="132B45"/>
                </a:solidFill>
                <a:latin typeface="Arial"/>
                <a:ea typeface="Arial"/>
                <a:cs typeface="Arial"/>
              </a:defRPr>
            </a:defPPr>
          </a:lstStyle>
          <a:p xmlns:a="http://schemas.openxmlformats.org/drawingml/2006/main">
            <a:pPr algn="ctr">
              <a:spcAft>
                <a:spcPts val="10"/>
              </a:spcAft>
              <a:defRPr sz="1800">
                <a:solidFill>
                  <a:srgbClr val="132B45"/>
                </a:solidFill>
                <a:latin typeface="Arial"/>
                <a:ea typeface="Arial"/>
                <a:cs typeface="Arial"/>
              </a:defRPr>
            </a:pPr>
            <a:r>
              <a:rPr sz="1800" b="1">
                <a:solidFill>
                  <a:srgbClr val="132B45"/>
                </a:solidFill>
                <a:latin typeface="Arial"/>
                <a:ea typeface="Arial"/>
                <a:cs typeface="Arial"/>
              </a:rPr>
              <a:t>05  Overview</a:t>
            </a:r>
          </a:p>
          <a:p xmlns:a="http://schemas.openxmlformats.org/drawingml/2006/main">
            <a:pPr algn="ctr">
              <a:defRPr sz="1800">
                <a:solidFill>
                  <a:srgbClr val="132B45"/>
                </a:solidFill>
                <a:latin typeface="Arial"/>
                <a:ea typeface="Arial"/>
                <a:cs typeface="Arial"/>
              </a:defRPr>
            </a:pPr>
            <a:r>
              <a:rPr sz="1800">
                <a:solidFill>
                  <a:srgbClr val="132B45"/>
                </a:solidFill>
                <a:latin typeface="Arial"/>
                <a:ea typeface="Arial"/>
                <a:cs typeface="Arial"/>
              </a:rPr>
              <a:t>Customer status</a:t>
            </a:r>
            <a:br>
              <a:rPr sz="1800">
                <a:solidFill>
                  <a:srgbClr val="132B45"/>
                </a:solidFill>
                <a:latin typeface="Arial"/>
                <a:ea typeface="Arial"/>
                <a:cs typeface="Arial"/>
              </a:rPr>
            </a:br>
            <a:r>
              <a:rPr sz="1800">
                <a:solidFill>
                  <a:srgbClr val="132B45"/>
                </a:solidFill>
                <a:latin typeface="Arial"/>
                <a:ea typeface="Arial"/>
                <a:cs typeface="Arial"/>
              </a:rPr>
              <a:t>and next actions</a:t>
            </a:r>
          </a:p>
        </p:txBody>
      </p:sp>
      <p:sp>
        <p:nvSpPr>
          <p:cNvPr id="9" name="progress">
            <a:extLst xmlns:a="http://schemas.openxmlformats.org/drawingml/2006/main">
              <a:ext uri="{FF2B5EF4-FFF2-40B4-BE49-F238E27FC236}">
                <a16:creationId xmlns:a16="http://schemas.microsoft.com/office/drawing/2014/main" id="{210C8DE7-CECB-435B-B562-43F80D7E5ED1}"/>
              </a:ext>
            </a:extLst>
          </p:cNvPr>
          <p:cNvSpPr>
            <a:spLocks xmlns:a="http://schemas.openxmlformats.org/drawingml/2006/main" noGrp="1"/>
          </p:cNvSpPr>
          <p:nvPr/>
        </p:nvSpPr>
        <p:spPr>
          <a:xfrm xmlns:a="http://schemas.openxmlformats.org/drawingml/2006/main">
            <a:off x="12468225" y="2171700"/>
            <a:ext cx="2076450" cy="1504950"/>
          </a:xfrm>
          <a:prstGeom xmlns:a="http://schemas.openxmlformats.org/drawingml/2006/main" prst="roundRect">
            <a:avLst>
              <a:gd name="adj" fmla="val 6329"/>
            </a:avLst>
          </a:prstGeom>
          <a:solidFill xmlns:a="http://schemas.openxmlformats.org/drawingml/2006/main">
            <a:srgbClr val="DCFCE7"/>
          </a:solidFill>
          <a:ln xmlns:a="http://schemas.openxmlformats.org/drawingml/2006/main" w="19050">
            <a:solidFill>
              <a:srgbClr val="16A34A"/>
            </a:solidFill>
          </a:ln>
        </p:spPr>
        <p:txBody>
          <a:bodyPr xmlns:a="http://schemas.openxmlformats.org/drawingml/2006/main" wrap="square" lIns="114300" tIns="114300" rIns="114300" bIns="114300" anchor="ctr">
            <a:noAutofit/>
          </a:bodyPr>
          <a:lstStyle xmlns:a="http://schemas.openxmlformats.org/drawingml/2006/main">
            <a:defPPr algn="ctr">
              <a:defRPr sz="1800">
                <a:solidFill>
                  <a:srgbClr val="132B45"/>
                </a:solidFill>
                <a:latin typeface="Arial"/>
                <a:ea typeface="Arial"/>
                <a:cs typeface="Arial"/>
              </a:defRPr>
            </a:defPPr>
          </a:lstStyle>
          <a:p xmlns:a="http://schemas.openxmlformats.org/drawingml/2006/main">
            <a:pPr algn="ctr">
              <a:spcAft>
                <a:spcPts val="10"/>
              </a:spcAft>
              <a:defRPr sz="1800">
                <a:solidFill>
                  <a:srgbClr val="132B45"/>
                </a:solidFill>
                <a:latin typeface="Arial"/>
                <a:ea typeface="Arial"/>
                <a:cs typeface="Arial"/>
              </a:defRPr>
            </a:pPr>
            <a:r>
              <a:rPr sz="1800" b="1">
                <a:solidFill>
                  <a:srgbClr val="132B45"/>
                </a:solidFill>
                <a:latin typeface="Arial"/>
                <a:ea typeface="Arial"/>
                <a:cs typeface="Arial"/>
              </a:rPr>
              <a:t>06  Progress</a:t>
            </a:r>
          </a:p>
          <a:p xmlns:a="http://schemas.openxmlformats.org/drawingml/2006/main">
            <a:pPr algn="ctr">
              <a:defRPr sz="1800">
                <a:solidFill>
                  <a:srgbClr val="132B45"/>
                </a:solidFill>
                <a:latin typeface="Arial"/>
                <a:ea typeface="Arial"/>
                <a:cs typeface="Arial"/>
              </a:defRPr>
            </a:pPr>
            <a:r>
              <a:rPr sz="1800">
                <a:solidFill>
                  <a:srgbClr val="132B45"/>
                </a:solidFill>
                <a:latin typeface="Arial"/>
                <a:ea typeface="Arial"/>
                <a:cs typeface="Arial"/>
              </a:rPr>
              <a:t>Record updates</a:t>
            </a:r>
            <a:br>
              <a:rPr sz="1800">
                <a:solidFill>
                  <a:srgbClr val="132B45"/>
                </a:solidFill>
                <a:latin typeface="Arial"/>
                <a:ea typeface="Arial"/>
                <a:cs typeface="Arial"/>
              </a:rPr>
            </a:br>
            <a:r>
              <a:rPr sz="1800">
                <a:solidFill>
                  <a:srgbClr val="132B45"/>
                </a:solidFill>
                <a:latin typeface="Arial"/>
                <a:ea typeface="Arial"/>
                <a:cs typeface="Arial"/>
              </a:rPr>
              <a:t>Complete / reopen</a:t>
            </a:r>
          </a:p>
        </p:txBody>
      </p:sp>
      <p:sp>
        <p:nvSpPr>
          <p:cNvPr id="15" name="mail-input">
            <a:extLst xmlns:a="http://schemas.openxmlformats.org/drawingml/2006/main">
              <a:ext uri="{FF2B5EF4-FFF2-40B4-BE49-F238E27FC236}">
                <a16:creationId xmlns:a16="http://schemas.microsoft.com/office/drawing/2014/main" id="{F1ABBD1B-67CB-49C7-9304-1193A983EB9A}"/>
              </a:ext>
            </a:extLst>
          </p:cNvPr>
          <p:cNvSpPr>
            <a:spLocks xmlns:a="http://schemas.openxmlformats.org/drawingml/2006/main" noGrp="1"/>
          </p:cNvSpPr>
          <p:nvPr/>
        </p:nvSpPr>
        <p:spPr>
          <a:xfrm xmlns:a="http://schemas.openxmlformats.org/drawingml/2006/main">
            <a:off x="609600" y="1771650"/>
            <a:ext cx="2076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1">
                <a:solidFill>
                  <a:srgbClr val="0891B2"/>
                </a:solidFill>
                <a:latin typeface="Arial"/>
                <a:ea typeface="Arial"/>
                <a:cs typeface="Arial"/>
              </a:defRPr>
            </a:defPPr>
          </a:lstStyle>
          <a:p xmlns:a="http://schemas.openxmlformats.org/drawingml/2006/main">
            <a:pPr algn="ctr">
              <a:defRPr sz="1725" b="1">
                <a:solidFill>
                  <a:srgbClr val="0891B2"/>
                </a:solidFill>
                <a:latin typeface="Arial"/>
                <a:ea typeface="Arial"/>
                <a:cs typeface="Arial"/>
              </a:defRPr>
            </a:pPr>
            <a:r>
              <a:rPr sz="1725" b="1">
                <a:solidFill>
                  <a:srgbClr val="0891B2"/>
                </a:solidFill>
                <a:latin typeface="Arial"/>
                <a:ea typeface="Arial"/>
                <a:cs typeface="Arial"/>
              </a:rPr>
              <a:t>Outlook mailboxes</a:t>
            </a:r>
          </a:p>
        </p:txBody>
      </p:sp>
      <p:sp>
        <p:nvSpPr>
          <p:cNvPr id="16" name="playbook-label">
            <a:extLst xmlns:a="http://schemas.openxmlformats.org/drawingml/2006/main">
              <a:ext uri="{FF2B5EF4-FFF2-40B4-BE49-F238E27FC236}">
                <a16:creationId xmlns:a16="http://schemas.microsoft.com/office/drawing/2014/main" id="{C3BF6626-CF9C-44D3-BF86-002A78979C05}"/>
              </a:ext>
            </a:extLst>
          </p:cNvPr>
          <p:cNvSpPr>
            <a:spLocks xmlns:a="http://schemas.openxmlformats.org/drawingml/2006/main" noGrp="1"/>
          </p:cNvSpPr>
          <p:nvPr/>
        </p:nvSpPr>
        <p:spPr>
          <a:xfrm xmlns:a="http://schemas.openxmlformats.org/drawingml/2006/main">
            <a:off x="609600" y="4552950"/>
            <a:ext cx="552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7C3AED"/>
                </a:solidFill>
                <a:latin typeface="Arial"/>
                <a:ea typeface="Arial"/>
                <a:cs typeface="Arial"/>
              </a:defRPr>
            </a:defPPr>
          </a:lstStyle>
          <a:p xmlns:a="http://schemas.openxmlformats.org/drawingml/2006/main">
            <a:pPr algn="l">
              <a:defRPr sz="2100" b="1">
                <a:solidFill>
                  <a:srgbClr val="7C3AED"/>
                </a:solidFill>
                <a:latin typeface="Arial"/>
                <a:ea typeface="Arial"/>
                <a:cs typeface="Arial"/>
              </a:defRPr>
            </a:pPr>
            <a:r>
              <a:rPr sz="2100" b="1">
                <a:solidFill>
                  <a:srgbClr val="7C3AED"/>
                </a:solidFill>
                <a:latin typeface="Arial"/>
                <a:ea typeface="Arial"/>
                <a:cs typeface="Arial"/>
              </a:rPr>
              <a:t>Playbook management</a:t>
            </a:r>
          </a:p>
        </p:txBody>
      </p:sp>
      <p:sp>
        <p:nvSpPr>
          <p:cNvPr id="17" name="author">
            <a:extLst xmlns:a="http://schemas.openxmlformats.org/drawingml/2006/main">
              <a:ext uri="{FF2B5EF4-FFF2-40B4-BE49-F238E27FC236}">
                <a16:creationId xmlns:a16="http://schemas.microsoft.com/office/drawing/2014/main" id="{EF84A0C1-F839-4F97-B10B-C9C00EACDAA8}"/>
              </a:ext>
            </a:extLst>
          </p:cNvPr>
          <p:cNvSpPr>
            <a:spLocks xmlns:a="http://schemas.openxmlformats.org/drawingml/2006/main" noGrp="1"/>
          </p:cNvSpPr>
          <p:nvPr/>
        </p:nvSpPr>
        <p:spPr>
          <a:xfrm xmlns:a="http://schemas.openxmlformats.org/drawingml/2006/main">
            <a:off x="609600" y="5200650"/>
            <a:ext cx="2476500" cy="1428750"/>
          </a:xfrm>
          <a:prstGeom xmlns:a="http://schemas.openxmlformats.org/drawingml/2006/main" prst="roundRect">
            <a:avLst>
              <a:gd name="adj" fmla="val 6667"/>
            </a:avLst>
          </a:prstGeom>
          <a:solidFill xmlns:a="http://schemas.openxmlformats.org/drawingml/2006/main">
            <a:srgbClr val="DCFCE7"/>
          </a:solidFill>
          <a:ln xmlns:a="http://schemas.openxmlformats.org/drawingml/2006/main" w="19050">
            <a:solidFill>
              <a:srgbClr val="16A34A"/>
            </a:solidFill>
          </a:ln>
        </p:spPr>
        <p:txBody>
          <a:bodyPr xmlns:a="http://schemas.openxmlformats.org/drawingml/2006/main" wrap="square" lIns="114300" tIns="114300" rIns="114300" bIns="114300" anchor="ctr">
            <a:noAutofit/>
          </a:bodyPr>
          <a:lstStyle xmlns:a="http://schemas.openxmlformats.org/drawingml/2006/main">
            <a:defPPr algn="ctr">
              <a:defRPr sz="1800">
                <a:solidFill>
                  <a:srgbClr val="132B45"/>
                </a:solidFill>
                <a:latin typeface="Arial"/>
                <a:ea typeface="Arial"/>
                <a:cs typeface="Arial"/>
              </a:defRPr>
            </a:defPPr>
          </a:lstStyle>
          <a:p xmlns:a="http://schemas.openxmlformats.org/drawingml/2006/main">
            <a:pPr algn="ctr">
              <a:spcAft>
                <a:spcPts val="10"/>
              </a:spcAft>
              <a:defRPr sz="1800">
                <a:solidFill>
                  <a:srgbClr val="132B45"/>
                </a:solidFill>
                <a:latin typeface="Arial"/>
                <a:ea typeface="Arial"/>
                <a:cs typeface="Arial"/>
              </a:defRPr>
            </a:pPr>
            <a:r>
              <a:rPr sz="1800" b="1">
                <a:solidFill>
                  <a:srgbClr val="132B45"/>
                </a:solidFill>
                <a:latin typeface="Arial"/>
                <a:ea typeface="Arial"/>
                <a:cs typeface="Arial"/>
              </a:rPr>
              <a:t>07  Author Playbook</a:t>
            </a:r>
          </a:p>
          <a:p xmlns:a="http://schemas.openxmlformats.org/drawingml/2006/main">
            <a:pPr algn="ctr">
              <a:defRPr sz="1800">
                <a:solidFill>
                  <a:srgbClr val="132B45"/>
                </a:solidFill>
                <a:latin typeface="Arial"/>
                <a:ea typeface="Arial"/>
                <a:cs typeface="Arial"/>
              </a:defRPr>
            </a:pPr>
            <a:r>
              <a:rPr sz="1800">
                <a:solidFill>
                  <a:srgbClr val="132B45"/>
                </a:solidFill>
                <a:latin typeface="Arial"/>
                <a:ea typeface="Arial"/>
                <a:cs typeface="Arial"/>
              </a:rPr>
              <a:t>Prompt + examples</a:t>
            </a:r>
            <a:br>
              <a:rPr sz="1800">
                <a:solidFill>
                  <a:srgbClr val="132B45"/>
                </a:solidFill>
                <a:latin typeface="Arial"/>
                <a:ea typeface="Arial"/>
                <a:cs typeface="Arial"/>
              </a:rPr>
            </a:br>
            <a:r>
              <a:rPr sz="1800">
                <a:solidFill>
                  <a:srgbClr val="132B45"/>
                </a:solidFill>
                <a:latin typeface="Arial"/>
                <a:ea typeface="Arial"/>
                <a:cs typeface="Arial"/>
              </a:rPr>
              <a:t>Generate, test and review</a:t>
            </a:r>
          </a:p>
        </p:txBody>
      </p:sp>
      <p:sp>
        <p:nvSpPr>
          <p:cNvPr id="18" name="rules">
            <a:extLst xmlns:a="http://schemas.openxmlformats.org/drawingml/2006/main">
              <a:ext uri="{FF2B5EF4-FFF2-40B4-BE49-F238E27FC236}">
                <a16:creationId xmlns:a16="http://schemas.microsoft.com/office/drawing/2014/main" id="{BAF43D20-B05D-4EC1-A106-871DCCDD3B35}"/>
              </a:ext>
            </a:extLst>
          </p:cNvPr>
          <p:cNvSpPr>
            <a:spLocks xmlns:a="http://schemas.openxmlformats.org/drawingml/2006/main" noGrp="1"/>
          </p:cNvSpPr>
          <p:nvPr/>
        </p:nvSpPr>
        <p:spPr>
          <a:xfrm xmlns:a="http://schemas.openxmlformats.org/drawingml/2006/main">
            <a:off x="3619500" y="5200650"/>
            <a:ext cx="2476500" cy="1428750"/>
          </a:xfrm>
          <a:prstGeom xmlns:a="http://schemas.openxmlformats.org/drawingml/2006/main" prst="roundRect">
            <a:avLst>
              <a:gd name="adj" fmla="val 6667"/>
            </a:avLst>
          </a:prstGeom>
          <a:solidFill xmlns:a="http://schemas.openxmlformats.org/drawingml/2006/main">
            <a:srgbClr val="DCFCE7"/>
          </a:solidFill>
          <a:ln xmlns:a="http://schemas.openxmlformats.org/drawingml/2006/main" w="19050">
            <a:solidFill>
              <a:srgbClr val="16A34A"/>
            </a:solidFill>
          </a:ln>
        </p:spPr>
        <p:txBody>
          <a:bodyPr xmlns:a="http://schemas.openxmlformats.org/drawingml/2006/main" wrap="square" lIns="114300" tIns="114300" rIns="114300" bIns="114300" anchor="ctr">
            <a:noAutofit/>
          </a:bodyPr>
          <a:lstStyle xmlns:a="http://schemas.openxmlformats.org/drawingml/2006/main">
            <a:defPPr algn="ctr">
              <a:defRPr sz="1800">
                <a:solidFill>
                  <a:srgbClr val="132B45"/>
                </a:solidFill>
                <a:latin typeface="Arial"/>
                <a:ea typeface="Arial"/>
                <a:cs typeface="Arial"/>
              </a:defRPr>
            </a:defPPr>
          </a:lstStyle>
          <a:p xmlns:a="http://schemas.openxmlformats.org/drawingml/2006/main">
            <a:pPr algn="ctr">
              <a:spcAft>
                <a:spcPts val="10"/>
              </a:spcAft>
              <a:defRPr sz="1800">
                <a:solidFill>
                  <a:srgbClr val="132B45"/>
                </a:solidFill>
                <a:latin typeface="Arial"/>
                <a:ea typeface="Arial"/>
                <a:cs typeface="Arial"/>
              </a:defRPr>
            </a:pPr>
            <a:r>
              <a:rPr sz="1800" b="1">
                <a:solidFill>
                  <a:srgbClr val="132B45"/>
                </a:solidFill>
                <a:latin typeface="Arial"/>
                <a:ea typeface="Arial"/>
                <a:cs typeface="Arial"/>
              </a:rPr>
              <a:t>08  Published rules</a:t>
            </a:r>
          </a:p>
          <a:p xmlns:a="http://schemas.openxmlformats.org/drawingml/2006/main">
            <a:pPr algn="ctr">
              <a:defRPr sz="1800">
                <a:solidFill>
                  <a:srgbClr val="132B45"/>
                </a:solidFill>
                <a:latin typeface="Arial"/>
                <a:ea typeface="Arial"/>
                <a:cs typeface="Arial"/>
              </a:defRPr>
            </a:pPr>
            <a:r>
              <a:rPr sz="1800">
                <a:solidFill>
                  <a:srgbClr val="132B45"/>
                </a:solidFill>
                <a:latin typeface="Arial"/>
                <a:ea typeface="Arial"/>
                <a:cs typeface="Arial"/>
              </a:rPr>
              <a:t>Matching rules, task templates</a:t>
            </a:r>
            <a:br>
              <a:rPr sz="1800">
                <a:solidFill>
                  <a:srgbClr val="132B45"/>
                </a:solidFill>
                <a:latin typeface="Arial"/>
                <a:ea typeface="Arial"/>
                <a:cs typeface="Arial"/>
              </a:rPr>
            </a:br>
            <a:r>
              <a:rPr sz="1800">
                <a:solidFill>
                  <a:srgbClr val="132B45"/>
                </a:solidFill>
                <a:latin typeface="Arial"/>
                <a:ea typeface="Arial"/>
                <a:cs typeface="Arial"/>
              </a:rPr>
              <a:t>and completion criteria</a:t>
            </a:r>
          </a:p>
        </p:txBody>
      </p:sp>
      <p:sp>
        <p:nvSpPr>
          <p:cNvPr id="21" name="reply-label">
            <a:extLst xmlns:a="http://schemas.openxmlformats.org/drawingml/2006/main">
              <a:ext uri="{FF2B5EF4-FFF2-40B4-BE49-F238E27FC236}">
                <a16:creationId xmlns:a16="http://schemas.microsoft.com/office/drawing/2014/main" id="{79A9B09B-C025-48C7-A899-536B1749F314}"/>
              </a:ext>
            </a:extLst>
          </p:cNvPr>
          <p:cNvSpPr>
            <a:spLocks xmlns:a="http://schemas.openxmlformats.org/drawingml/2006/main" noGrp="1"/>
          </p:cNvSpPr>
          <p:nvPr/>
        </p:nvSpPr>
        <p:spPr>
          <a:xfrm xmlns:a="http://schemas.openxmlformats.org/drawingml/2006/main">
            <a:off x="9525000" y="4552950"/>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2563EB"/>
                </a:solidFill>
                <a:latin typeface="Arial"/>
                <a:ea typeface="Arial"/>
                <a:cs typeface="Arial"/>
              </a:defRPr>
            </a:defPPr>
          </a:lstStyle>
          <a:p xmlns:a="http://schemas.openxmlformats.org/drawingml/2006/main">
            <a:pPr algn="l">
              <a:defRPr sz="2100" b="1">
                <a:solidFill>
                  <a:srgbClr val="2563EB"/>
                </a:solidFill>
                <a:latin typeface="Arial"/>
                <a:ea typeface="Arial"/>
                <a:cs typeface="Arial"/>
              </a:defRPr>
            </a:pPr>
            <a:r>
              <a:rPr sz="2100" b="1">
                <a:solidFill>
                  <a:srgbClr val="2563EB"/>
                </a:solidFill>
                <a:latin typeface="Arial"/>
                <a:ea typeface="Arial"/>
                <a:cs typeface="Arial"/>
              </a:rPr>
              <a:t>Reply from an Open Item</a:t>
            </a:r>
          </a:p>
        </p:txBody>
      </p:sp>
      <p:sp>
        <p:nvSpPr>
          <p:cNvPr id="22" name="generate">
            <a:extLst xmlns:a="http://schemas.openxmlformats.org/drawingml/2006/main">
              <a:ext uri="{FF2B5EF4-FFF2-40B4-BE49-F238E27FC236}">
                <a16:creationId xmlns:a16="http://schemas.microsoft.com/office/drawing/2014/main" id="{EBFF3DB7-2052-4735-BD4A-12A90698427E}"/>
              </a:ext>
            </a:extLst>
          </p:cNvPr>
          <p:cNvSpPr>
            <a:spLocks xmlns:a="http://schemas.openxmlformats.org/drawingml/2006/main" noGrp="1"/>
          </p:cNvSpPr>
          <p:nvPr/>
        </p:nvSpPr>
        <p:spPr>
          <a:xfrm xmlns:a="http://schemas.openxmlformats.org/drawingml/2006/main">
            <a:off x="6953250" y="5200650"/>
            <a:ext cx="2238375" cy="1428750"/>
          </a:xfrm>
          <a:prstGeom xmlns:a="http://schemas.openxmlformats.org/drawingml/2006/main" prst="roundRect">
            <a:avLst>
              <a:gd name="adj" fmla="val 6667"/>
            </a:avLst>
          </a:prstGeom>
          <a:solidFill xmlns:a="http://schemas.openxmlformats.org/drawingml/2006/main">
            <a:srgbClr val="FFEDD5"/>
          </a:solidFill>
          <a:ln xmlns:a="http://schemas.openxmlformats.org/drawingml/2006/main" w="19050">
            <a:solidFill>
              <a:srgbClr val="EA580C"/>
            </a:solidFill>
          </a:ln>
        </p:spPr>
        <p:txBody>
          <a:bodyPr xmlns:a="http://schemas.openxmlformats.org/drawingml/2006/main" wrap="square" lIns="114300" tIns="114300" rIns="114300" bIns="114300" anchor="ctr">
            <a:noAutofit/>
          </a:bodyPr>
          <a:lstStyle xmlns:a="http://schemas.openxmlformats.org/drawingml/2006/main">
            <a:defPPr algn="ctr">
              <a:defRPr sz="1800">
                <a:solidFill>
                  <a:srgbClr val="132B45"/>
                </a:solidFill>
                <a:latin typeface="Arial"/>
                <a:ea typeface="Arial"/>
                <a:cs typeface="Arial"/>
              </a:defRPr>
            </a:defPPr>
          </a:lstStyle>
          <a:p xmlns:a="http://schemas.openxmlformats.org/drawingml/2006/main">
            <a:pPr algn="ctr">
              <a:spcAft>
                <a:spcPts val="10"/>
              </a:spcAft>
              <a:defRPr sz="1800">
                <a:solidFill>
                  <a:srgbClr val="132B45"/>
                </a:solidFill>
                <a:latin typeface="Arial"/>
                <a:ea typeface="Arial"/>
                <a:cs typeface="Arial"/>
              </a:defRPr>
            </a:pPr>
            <a:r>
              <a:rPr sz="1800" b="1">
                <a:solidFill>
                  <a:srgbClr val="132B45"/>
                </a:solidFill>
                <a:latin typeface="Arial"/>
                <a:ea typeface="Arial"/>
                <a:cs typeface="Arial"/>
              </a:rPr>
              <a:t>04.1  Generate draft</a:t>
            </a:r>
          </a:p>
          <a:p xmlns:a="http://schemas.openxmlformats.org/drawingml/2006/main">
            <a:pPr algn="ctr">
              <a:defRPr sz="1800">
                <a:solidFill>
                  <a:srgbClr val="132B45"/>
                </a:solidFill>
                <a:latin typeface="Arial"/>
                <a:ea typeface="Arial"/>
                <a:cs typeface="Arial"/>
              </a:defRPr>
            </a:pPr>
            <a:r>
              <a:rPr sz="1800">
                <a:solidFill>
                  <a:srgbClr val="132B45"/>
                </a:solidFill>
                <a:latin typeface="Arial"/>
                <a:ea typeface="Arial"/>
                <a:cs typeface="Arial"/>
              </a:rPr>
              <a:t>Use Case, email</a:t>
            </a:r>
            <a:br>
              <a:rPr sz="1800">
                <a:solidFill>
                  <a:srgbClr val="132B45"/>
                </a:solidFill>
                <a:latin typeface="Arial"/>
                <a:ea typeface="Arial"/>
                <a:cs typeface="Arial"/>
              </a:rPr>
            </a:br>
            <a:r>
              <a:rPr sz="1800">
                <a:solidFill>
                  <a:srgbClr val="132B45"/>
                </a:solidFill>
                <a:latin typeface="Arial"/>
                <a:ea typeface="Arial"/>
                <a:cs typeface="Arial"/>
              </a:rPr>
              <a:t>and Open Item context</a:t>
            </a:r>
          </a:p>
        </p:txBody>
      </p:sp>
      <p:sp>
        <p:nvSpPr>
          <p:cNvPr id="23" name="review">
            <a:extLst xmlns:a="http://schemas.openxmlformats.org/drawingml/2006/main">
              <a:ext uri="{FF2B5EF4-FFF2-40B4-BE49-F238E27FC236}">
                <a16:creationId xmlns:a16="http://schemas.microsoft.com/office/drawing/2014/main" id="{047BCA43-5A2E-4018-AEEA-9BF16943CB52}"/>
              </a:ext>
            </a:extLst>
          </p:cNvPr>
          <p:cNvSpPr>
            <a:spLocks xmlns:a="http://schemas.openxmlformats.org/drawingml/2006/main" noGrp="1"/>
          </p:cNvSpPr>
          <p:nvPr/>
        </p:nvSpPr>
        <p:spPr>
          <a:xfrm xmlns:a="http://schemas.openxmlformats.org/drawingml/2006/main">
            <a:off x="9620250" y="5200650"/>
            <a:ext cx="2238375" cy="1428750"/>
          </a:xfrm>
          <a:prstGeom xmlns:a="http://schemas.openxmlformats.org/drawingml/2006/main" prst="roundRect">
            <a:avLst>
              <a:gd name="adj" fmla="val 6667"/>
            </a:avLst>
          </a:prstGeom>
          <a:solidFill xmlns:a="http://schemas.openxmlformats.org/drawingml/2006/main">
            <a:srgbClr val="DBEAFE"/>
          </a:solidFill>
          <a:ln xmlns:a="http://schemas.openxmlformats.org/drawingml/2006/main" w="19050">
            <a:solidFill>
              <a:srgbClr val="2563EB"/>
            </a:solidFill>
          </a:ln>
        </p:spPr>
        <p:txBody>
          <a:bodyPr xmlns:a="http://schemas.openxmlformats.org/drawingml/2006/main" wrap="square" lIns="114300" tIns="114300" rIns="114300" bIns="114300" anchor="ctr">
            <a:noAutofit/>
          </a:bodyPr>
          <a:lstStyle xmlns:a="http://schemas.openxmlformats.org/drawingml/2006/main">
            <a:defPPr algn="ctr">
              <a:defRPr sz="1800">
                <a:solidFill>
                  <a:srgbClr val="132B45"/>
                </a:solidFill>
                <a:latin typeface="Arial"/>
                <a:ea typeface="Arial"/>
                <a:cs typeface="Arial"/>
              </a:defRPr>
            </a:defPPr>
          </a:lstStyle>
          <a:p xmlns:a="http://schemas.openxmlformats.org/drawingml/2006/main">
            <a:pPr algn="ctr">
              <a:spcAft>
                <a:spcPts val="10"/>
              </a:spcAft>
              <a:defRPr sz="1800">
                <a:solidFill>
                  <a:srgbClr val="132B45"/>
                </a:solidFill>
                <a:latin typeface="Arial"/>
                <a:ea typeface="Arial"/>
                <a:cs typeface="Arial"/>
              </a:defRPr>
            </a:pPr>
            <a:r>
              <a:rPr sz="1800" b="1">
                <a:solidFill>
                  <a:srgbClr val="132B45"/>
                </a:solidFill>
                <a:latin typeface="Arial"/>
                <a:ea typeface="Arial"/>
                <a:cs typeface="Arial"/>
              </a:rPr>
              <a:t>04.2  Review / edit</a:t>
            </a:r>
          </a:p>
          <a:p xmlns:a="http://schemas.openxmlformats.org/drawingml/2006/main">
            <a:pPr algn="ctr">
              <a:defRPr sz="1800">
                <a:solidFill>
                  <a:srgbClr val="132B45"/>
                </a:solidFill>
                <a:latin typeface="Arial"/>
                <a:ea typeface="Arial"/>
                <a:cs typeface="Arial"/>
              </a:defRPr>
            </a:pPr>
            <a:r>
              <a:rPr sz="1800">
                <a:solidFill>
                  <a:srgbClr val="132B45"/>
                </a:solidFill>
                <a:latin typeface="Arial"/>
                <a:ea typeface="Arial"/>
                <a:cs typeface="Arial"/>
              </a:rPr>
              <a:t>AM checks the</a:t>
            </a:r>
            <a:br>
              <a:rPr sz="1800">
                <a:solidFill>
                  <a:srgbClr val="132B45"/>
                </a:solidFill>
                <a:latin typeface="Arial"/>
                <a:ea typeface="Arial"/>
                <a:cs typeface="Arial"/>
              </a:rPr>
            </a:br>
            <a:r>
              <a:rPr sz="1800">
                <a:solidFill>
                  <a:srgbClr val="132B45"/>
                </a:solidFill>
                <a:latin typeface="Arial"/>
                <a:ea typeface="Arial"/>
                <a:cs typeface="Arial"/>
              </a:rPr>
              <a:t>generated reply</a:t>
            </a:r>
          </a:p>
        </p:txBody>
      </p:sp>
      <p:sp>
        <p:nvSpPr>
          <p:cNvPr id="24" name="send">
            <a:extLst xmlns:a="http://schemas.openxmlformats.org/drawingml/2006/main">
              <a:ext uri="{FF2B5EF4-FFF2-40B4-BE49-F238E27FC236}">
                <a16:creationId xmlns:a16="http://schemas.microsoft.com/office/drawing/2014/main" id="{F129FB71-9C64-4291-9722-8A6428C5DAD6}"/>
              </a:ext>
            </a:extLst>
          </p:cNvPr>
          <p:cNvSpPr>
            <a:spLocks xmlns:a="http://schemas.openxmlformats.org/drawingml/2006/main" noGrp="1"/>
          </p:cNvSpPr>
          <p:nvPr/>
        </p:nvSpPr>
        <p:spPr>
          <a:xfrm xmlns:a="http://schemas.openxmlformats.org/drawingml/2006/main">
            <a:off x="12287250" y="5200650"/>
            <a:ext cx="2238375" cy="1428750"/>
          </a:xfrm>
          <a:prstGeom xmlns:a="http://schemas.openxmlformats.org/drawingml/2006/main" prst="roundRect">
            <a:avLst>
              <a:gd name="adj" fmla="val 6667"/>
            </a:avLst>
          </a:prstGeom>
          <a:solidFill xmlns:a="http://schemas.openxmlformats.org/drawingml/2006/main">
            <a:srgbClr val="CFFAFE"/>
          </a:solidFill>
          <a:ln xmlns:a="http://schemas.openxmlformats.org/drawingml/2006/main" w="19050">
            <a:solidFill>
              <a:srgbClr val="0891B2"/>
            </a:solidFill>
          </a:ln>
        </p:spPr>
        <p:txBody>
          <a:bodyPr xmlns:a="http://schemas.openxmlformats.org/drawingml/2006/main" wrap="square" lIns="114300" tIns="114300" rIns="114300" bIns="114300" anchor="ctr">
            <a:noAutofit/>
          </a:bodyPr>
          <a:lstStyle xmlns:a="http://schemas.openxmlformats.org/drawingml/2006/main">
            <a:defPPr algn="ctr">
              <a:defRPr sz="1800">
                <a:solidFill>
                  <a:srgbClr val="132B45"/>
                </a:solidFill>
                <a:latin typeface="Arial"/>
                <a:ea typeface="Arial"/>
                <a:cs typeface="Arial"/>
              </a:defRPr>
            </a:defPPr>
          </a:lstStyle>
          <a:p xmlns:a="http://schemas.openxmlformats.org/drawingml/2006/main">
            <a:pPr algn="ctr">
              <a:spcAft>
                <a:spcPts val="10"/>
              </a:spcAft>
              <a:defRPr sz="1800">
                <a:solidFill>
                  <a:srgbClr val="132B45"/>
                </a:solidFill>
                <a:latin typeface="Arial"/>
                <a:ea typeface="Arial"/>
                <a:cs typeface="Arial"/>
              </a:defRPr>
            </a:pPr>
            <a:r>
              <a:rPr sz="1800" b="1">
                <a:solidFill>
                  <a:srgbClr val="132B45"/>
                </a:solidFill>
                <a:latin typeface="Arial"/>
                <a:ea typeface="Arial"/>
                <a:cs typeface="Arial"/>
              </a:rPr>
              <a:t>04.3  Approve / send</a:t>
            </a:r>
          </a:p>
          <a:p xmlns:a="http://schemas.openxmlformats.org/drawingml/2006/main">
            <a:pPr algn="ctr">
              <a:defRPr sz="1800">
                <a:solidFill>
                  <a:srgbClr val="132B45"/>
                </a:solidFill>
                <a:latin typeface="Arial"/>
                <a:ea typeface="Arial"/>
                <a:cs typeface="Arial"/>
              </a:defRPr>
            </a:pPr>
            <a:r>
              <a:rPr sz="1800">
                <a:solidFill>
                  <a:srgbClr val="132B45"/>
                </a:solidFill>
                <a:latin typeface="Arial"/>
                <a:ea typeface="Arial"/>
                <a:cs typeface="Arial"/>
              </a:rPr>
              <a:t>Persist send job</a:t>
            </a:r>
            <a:br>
              <a:rPr sz="1800">
                <a:solidFill>
                  <a:srgbClr val="132B45"/>
                </a:solidFill>
                <a:latin typeface="Arial"/>
                <a:ea typeface="Arial"/>
                <a:cs typeface="Arial"/>
              </a:rPr>
            </a:br>
            <a:r>
              <a:rPr sz="1800">
                <a:solidFill>
                  <a:srgbClr val="132B45"/>
                </a:solidFill>
                <a:latin typeface="Arial"/>
                <a:ea typeface="Arial"/>
                <a:cs typeface="Arial"/>
              </a:rPr>
              <a:t>Send through Graph</a:t>
            </a:r>
          </a:p>
        </p:txBody>
      </p:sp>
      <p:sp>
        <p:nvSpPr>
          <p:cNvPr id="28" name="legend">
            <a:extLst xmlns:a="http://schemas.openxmlformats.org/drawingml/2006/main">
              <a:ext uri="{FF2B5EF4-FFF2-40B4-BE49-F238E27FC236}">
                <a16:creationId xmlns:a16="http://schemas.microsoft.com/office/drawing/2014/main" id="{2B1A7852-B24C-4816-893F-FF50D53C5DD0}"/>
              </a:ext>
            </a:extLst>
          </p:cNvPr>
          <p:cNvSpPr>
            <a:spLocks xmlns:a="http://schemas.openxmlformats.org/drawingml/2006/main" noGrp="1"/>
          </p:cNvSpPr>
          <p:nvPr/>
        </p:nvSpPr>
        <p:spPr>
          <a:xfrm xmlns:a="http://schemas.openxmlformats.org/drawingml/2006/main">
            <a:off x="609600" y="7181850"/>
            <a:ext cx="1390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6677A"/>
                </a:solidFill>
                <a:latin typeface="Arial"/>
                <a:ea typeface="Arial"/>
                <a:cs typeface="Arial"/>
              </a:defRPr>
            </a:defPPr>
          </a:lstStyle>
          <a:p xmlns:a="http://schemas.openxmlformats.org/drawingml/2006/main">
            <a:pPr algn="l">
              <a:defRPr sz="1800" b="0">
                <a:solidFill>
                  <a:srgbClr val="56677A"/>
                </a:solidFill>
                <a:latin typeface="Arial"/>
                <a:ea typeface="Arial"/>
                <a:cs typeface="Arial"/>
              </a:defRPr>
            </a:pPr>
            <a:r>
              <a:rPr sz="1800" b="0">
                <a:solidFill>
                  <a:srgbClr val="56677A"/>
                </a:solidFill>
                <a:latin typeface="Arial"/>
                <a:ea typeface="Arial"/>
                <a:cs typeface="Arial"/>
              </a:rPr>
              <a:t>Cyan: mail integration     Green: business logic     Blue: AM / portal     Orange: AI     Purple links: Playbook rules</a:t>
            </a:r>
          </a:p>
        </p:txBody>
      </p:sp>
      <p:sp>
        <p:nvSpPr>
          <p:cNvPr id="29" name="boundary">
            <a:extLst xmlns:a="http://schemas.openxmlformats.org/drawingml/2006/main">
              <a:ext uri="{FF2B5EF4-FFF2-40B4-BE49-F238E27FC236}">
                <a16:creationId xmlns:a16="http://schemas.microsoft.com/office/drawing/2014/main" id="{F3E4199B-9319-482F-B8E6-FF251595D7B0}"/>
              </a:ext>
            </a:extLst>
          </p:cNvPr>
          <p:cNvSpPr>
            <a:spLocks xmlns:a="http://schemas.openxmlformats.org/drawingml/2006/main" noGrp="1"/>
          </p:cNvSpPr>
          <p:nvPr/>
        </p:nvSpPr>
        <p:spPr>
          <a:xfrm xmlns:a="http://schemas.openxmlformats.org/drawingml/2006/main">
            <a:off x="609600" y="7639050"/>
            <a:ext cx="13144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32B45"/>
                </a:solidFill>
                <a:latin typeface="Arial"/>
                <a:ea typeface="Arial"/>
                <a:cs typeface="Arial"/>
              </a:defRPr>
            </a:defPPr>
          </a:lstStyle>
          <a:p xmlns:a="http://schemas.openxmlformats.org/drawingml/2006/main">
            <a:pPr algn="l">
              <a:defRPr sz="1725" b="0">
                <a:solidFill>
                  <a:srgbClr val="132B45"/>
                </a:solidFill>
                <a:latin typeface="Arial"/>
                <a:ea typeface="Arial"/>
                <a:cs typeface="Arial"/>
              </a:defRPr>
            </a:pPr>
            <a:r>
              <a:rPr sz="1725" b="0">
                <a:solidFill>
                  <a:srgbClr val="132B45"/>
                </a:solidFill>
                <a:latin typeface="Arial"/>
                <a:ea typeface="Arial"/>
                <a:cs typeface="Arial"/>
              </a:rPr>
              <a:t>All modules share one Java backend. Java checks role permissions and business group / region / customer scope.</a:t>
            </a:r>
          </a:p>
          <a:p xmlns:a="http://schemas.openxmlformats.org/drawingml/2006/main">
            <a:pPr algn="l">
              <a:defRPr sz="1725" b="0">
                <a:solidFill>
                  <a:srgbClr val="132B45"/>
                </a:solidFill>
                <a:latin typeface="Arial"/>
                <a:ea typeface="Arial"/>
                <a:cs typeface="Arial"/>
              </a:defRPr>
            </a:pPr>
            <a:r>
              <a:rPr sz="1725" b="0">
                <a:solidFill>
                  <a:srgbClr val="132B45"/>
                </a:solidFill>
                <a:latin typeface="Arial"/>
                <a:ea typeface="Arial"/>
                <a:cs typeface="Arial"/>
              </a:rPr>
              <a:t>AM approval precedes sending. Sending and Open Item completion remain separate.</a:t>
            </a:r>
          </a:p>
        </p:txBody>
      </p:sp>
    </p:spTree>
    <p:extLst>
      <p:ext uri="{BB962C8B-B14F-4D97-AF65-F5344CB8AC3E}">
        <p14:creationId xmlns:p14="http://schemas.microsoft.com/office/powerpoint/2010/main" val="150802084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30" name="">
            <a:extLst xmlns:a="http://schemas.openxmlformats.org/drawingml/2006/main">
              <a:ext uri="{FF2B5EF4-FFF2-40B4-BE49-F238E27FC236}">
                <a16:creationId xmlns:a16="http://schemas.microsoft.com/office/drawing/2014/main" id="{22BEED7F-2872-4FF9-A755-4D298A43ED6A}"/>
              </a:ext>
            </a:extLst>
          </p:cNvPr>
          <p:cNvCxnSpPr>
            <a:stCxn xmlns:a="http://schemas.openxmlformats.org/drawingml/2006/main" id="6" idx="2"/>
            <a:endCxn xmlns:a="http://schemas.openxmlformats.org/drawingml/2006/main" id="12" idx="0"/>
          </p:cNvCxnSpPr>
          <p:nvPr/>
        </p:nvCxnSpPr>
        <p:spPr>
          <a:xfrm xmlns:a="http://schemas.openxmlformats.org/drawingml/2006/main">
            <a:off x="7781925" y="6229350"/>
            <a:ext cx="0" cy="723900"/>
          </a:xfrm>
          <a:prstGeom xmlns:a="http://schemas.openxmlformats.org/drawingml/2006/main" prst="straightConnector1">
            <a:avLst/>
          </a:prstGeom>
          <a:ln xmlns:a="http://schemas.openxmlformats.org/drawingml/2006/main" w="23813">
            <a:solidFill>
              <a:srgbClr val="64748B"/>
            </a:solidFill>
            <a:prstDash val="solid"/>
            <a:tailEnd type="arrow" w="med" len="med"/>
          </a:ln>
        </p:spPr>
      </p:cxnSp>
      <p:cxnSp>
        <p:nvCxnSpPr>
          <p:cNvPr id="20" name="">
            <a:extLst xmlns:a="http://schemas.openxmlformats.org/drawingml/2006/main">
              <a:ext uri="{FF2B5EF4-FFF2-40B4-BE49-F238E27FC236}">
                <a16:creationId xmlns:a16="http://schemas.microsoft.com/office/drawing/2014/main" id="{976C453E-3F92-44A5-848B-C37FAB4A7A15}"/>
              </a:ext>
            </a:extLst>
          </p:cNvPr>
          <p:cNvCxnSpPr>
            <a:stCxn xmlns:a="http://schemas.openxmlformats.org/drawingml/2006/main" id="6" idx="1"/>
            <a:endCxn xmlns:a="http://schemas.openxmlformats.org/drawingml/2006/main" id="8" idx="3"/>
          </p:cNvCxnSpPr>
          <p:nvPr/>
        </p:nvCxnSpPr>
        <p:spPr>
          <a:xfrm xmlns:a="http://schemas.openxmlformats.org/drawingml/2006/main" flipH="1">
            <a:off x="3467100" y="5086350"/>
            <a:ext cx="2028825" cy="690563"/>
          </a:xfrm>
          <a:prstGeom xmlns:a="http://schemas.openxmlformats.org/drawingml/2006/main" prst="bentConnector3">
            <a:avLst>
              <a:gd name="adj1" fmla="val 50000"/>
            </a:avLst>
          </a:prstGeom>
          <a:ln xmlns:a="http://schemas.openxmlformats.org/drawingml/2006/main" w="23813">
            <a:solidFill>
              <a:srgbClr val="7C3AED"/>
            </a:solidFill>
            <a:prstDash val="solid"/>
            <a:tailEnd type="arrow" w="med" len="med"/>
          </a:ln>
        </p:spPr>
      </p:cxnSp>
      <p:cxnSp>
        <p:nvCxnSpPr>
          <p:cNvPr id="18" name="">
            <a:extLst xmlns:a="http://schemas.openxmlformats.org/drawingml/2006/main">
              <a:ext uri="{FF2B5EF4-FFF2-40B4-BE49-F238E27FC236}">
                <a16:creationId xmlns:a16="http://schemas.microsoft.com/office/drawing/2014/main" id="{DB8F6C5A-563F-4B22-85C6-DD1B493857D3}"/>
              </a:ext>
            </a:extLst>
          </p:cNvPr>
          <p:cNvCxnSpPr>
            <a:stCxn xmlns:a="http://schemas.openxmlformats.org/drawingml/2006/main" id="6" idx="1"/>
            <a:endCxn xmlns:a="http://schemas.openxmlformats.org/drawingml/2006/main" id="7" idx="3"/>
          </p:cNvCxnSpPr>
          <p:nvPr/>
        </p:nvCxnSpPr>
        <p:spPr>
          <a:xfrm xmlns:a="http://schemas.openxmlformats.org/drawingml/2006/main" flipH="1" flipV="1">
            <a:off x="3467100" y="4514850"/>
            <a:ext cx="2028825" cy="571500"/>
          </a:xfrm>
          <a:prstGeom xmlns:a="http://schemas.openxmlformats.org/drawingml/2006/main" prst="bentConnector3">
            <a:avLst>
              <a:gd name="adj1" fmla="val 50000"/>
            </a:avLst>
          </a:prstGeom>
          <a:ln xmlns:a="http://schemas.openxmlformats.org/drawingml/2006/main" w="23813">
            <a:solidFill>
              <a:srgbClr val="7C3AED"/>
            </a:solidFill>
            <a:prstDash val="solid"/>
            <a:tailEnd type="arrow" w="med" len="med"/>
          </a:ln>
        </p:spPr>
      </p:cxnSp>
      <p:cxnSp>
        <p:nvCxnSpPr>
          <p:cNvPr id="16" name="">
            <a:extLst xmlns:a="http://schemas.openxmlformats.org/drawingml/2006/main">
              <a:ext uri="{FF2B5EF4-FFF2-40B4-BE49-F238E27FC236}">
                <a16:creationId xmlns:a16="http://schemas.microsoft.com/office/drawing/2014/main" id="{46AD97E8-FAA0-4DCD-A17A-296A1959F679}"/>
              </a:ext>
            </a:extLst>
          </p:cNvPr>
          <p:cNvCxnSpPr>
            <a:stCxn xmlns:a="http://schemas.openxmlformats.org/drawingml/2006/main" id="5" idx="2"/>
            <a:endCxn xmlns:a="http://schemas.openxmlformats.org/drawingml/2006/main" id="6" idx="0"/>
          </p:cNvCxnSpPr>
          <p:nvPr/>
        </p:nvCxnSpPr>
        <p:spPr>
          <a:xfrm xmlns:a="http://schemas.openxmlformats.org/drawingml/2006/main">
            <a:off x="7781925" y="3105150"/>
            <a:ext cx="0" cy="838200"/>
          </a:xfrm>
          <a:prstGeom xmlns:a="http://schemas.openxmlformats.org/drawingml/2006/main" prst="straightConnector1">
            <a:avLst/>
          </a:prstGeom>
          <a:ln xmlns:a="http://schemas.openxmlformats.org/drawingml/2006/main" w="23813">
            <a:solidFill>
              <a:srgbClr val="2563EB"/>
            </a:solidFill>
            <a:prstDash val="solid"/>
            <a:tailEnd type="arrow" w="med" len="med"/>
          </a:ln>
        </p:spPr>
      </p:cxnSp>
      <p:cxnSp>
        <p:nvCxnSpPr>
          <p:cNvPr id="14" name="">
            <a:extLst xmlns:a="http://schemas.openxmlformats.org/drawingml/2006/main">
              <a:ext uri="{FF2B5EF4-FFF2-40B4-BE49-F238E27FC236}">
                <a16:creationId xmlns:a16="http://schemas.microsoft.com/office/drawing/2014/main" id="{C8AA00F1-3398-4339-BFD6-858FA7FFE5ED}"/>
              </a:ext>
            </a:extLst>
          </p:cNvPr>
          <p:cNvCxnSpPr>
            <a:stCxn xmlns:a="http://schemas.openxmlformats.org/drawingml/2006/main" id="4" idx="3"/>
            <a:endCxn xmlns:a="http://schemas.openxmlformats.org/drawingml/2006/main" id="5" idx="1"/>
          </p:cNvCxnSpPr>
          <p:nvPr/>
        </p:nvCxnSpPr>
        <p:spPr>
          <a:xfrm xmlns:a="http://schemas.openxmlformats.org/drawingml/2006/main">
            <a:off x="3467100" y="2581275"/>
            <a:ext cx="2028825" cy="0"/>
          </a:xfrm>
          <a:prstGeom xmlns:a="http://schemas.openxmlformats.org/drawingml/2006/main" prst="straightConnector1">
            <a:avLst/>
          </a:prstGeom>
          <a:ln xmlns:a="http://schemas.openxmlformats.org/drawingml/2006/main" w="23813">
            <a:solidFill>
              <a:srgbClr val="2563EB"/>
            </a:solidFill>
            <a:prstDash val="solid"/>
            <a:tailEnd type="arrow" w="med" len="med"/>
          </a:ln>
        </p:spPr>
      </p:cxnSp>
      <p:sp>
        <p:nvSpPr>
          <p:cNvPr id="36" name="title">
            <a:extLst xmlns:a="http://schemas.openxmlformats.org/drawingml/2006/main">
              <a:ext uri="{FF2B5EF4-FFF2-40B4-BE49-F238E27FC236}">
                <a16:creationId xmlns:a16="http://schemas.microsoft.com/office/drawing/2014/main" id="{1D06904D-4B8F-45C3-A5CC-F2DE9FEE77ED}"/>
              </a:ext>
            </a:extLst>
          </p:cNvPr>
          <p:cNvSpPr>
            <a:spLocks xmlns:a="http://schemas.openxmlformats.org/drawingml/2006/main" noGrp="1"/>
          </p:cNvSpPr>
          <p:nvPr/>
        </p:nvSpPr>
        <p:spPr>
          <a:xfrm xmlns:a="http://schemas.openxmlformats.org/drawingml/2006/main">
            <a:off x="609600" y="419100"/>
            <a:ext cx="1400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132B45"/>
                </a:solidFill>
                <a:latin typeface="Arial"/>
                <a:ea typeface="Arial"/>
                <a:cs typeface="Arial"/>
              </a:defRPr>
            </a:defPPr>
          </a:lstStyle>
          <a:p xmlns:a="http://schemas.openxmlformats.org/drawingml/2006/main">
            <a:pPr algn="l">
              <a:defRPr sz="3600" b="1">
                <a:solidFill>
                  <a:srgbClr val="132B45"/>
                </a:solidFill>
                <a:latin typeface="Arial"/>
                <a:ea typeface="Arial"/>
                <a:cs typeface="Arial"/>
              </a:defRPr>
            </a:pPr>
            <a:r>
              <a:rPr sz="3600" b="1">
                <a:solidFill>
                  <a:srgbClr val="132B45"/>
                </a:solidFill>
                <a:latin typeface="Arial"/>
                <a:ea typeface="Arial"/>
                <a:cs typeface="Arial"/>
              </a:rPr>
              <a:t>Service and Network Architecture</a:t>
            </a:r>
          </a:p>
        </p:txBody>
      </p:sp>
      <p:sp>
        <p:nvSpPr>
          <p:cNvPr id="2" name="page">
            <a:extLst xmlns:a="http://schemas.openxmlformats.org/drawingml/2006/main">
              <a:ext uri="{FF2B5EF4-FFF2-40B4-BE49-F238E27FC236}">
                <a16:creationId xmlns:a16="http://schemas.microsoft.com/office/drawing/2014/main" id="{7B3B9635-7B54-4AE4-BCD0-E56F88DF8936}"/>
              </a:ext>
            </a:extLst>
          </p:cNvPr>
          <p:cNvSpPr>
            <a:spLocks xmlns:a="http://schemas.openxmlformats.org/drawingml/2006/main" noGrp="1"/>
          </p:cNvSpPr>
          <p:nvPr/>
        </p:nvSpPr>
        <p:spPr>
          <a:xfrm xmlns:a="http://schemas.openxmlformats.org/drawingml/2006/main">
            <a:off x="13811250" y="8143875"/>
            <a:ext cx="819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6677A"/>
                </a:solidFill>
                <a:latin typeface="Arial"/>
                <a:ea typeface="Arial"/>
                <a:cs typeface="Arial"/>
              </a:defRPr>
            </a:defPPr>
          </a:lstStyle>
          <a:p xmlns:a="http://schemas.openxmlformats.org/drawingml/2006/main">
            <a:pPr algn="r">
              <a:defRPr sz="1500" b="0">
                <a:solidFill>
                  <a:srgbClr val="56677A"/>
                </a:solidFill>
                <a:latin typeface="Arial"/>
                <a:ea typeface="Arial"/>
                <a:cs typeface="Arial"/>
              </a:defRPr>
            </a:pPr>
            <a:r>
              <a:rPr sz="1500" b="0">
                <a:solidFill>
                  <a:srgbClr val="56677A"/>
                </a:solidFill>
                <a:latin typeface="Arial"/>
                <a:ea typeface="Arial"/>
                <a:cs typeface="Arial"/>
              </a:rPr>
              <a:t>4 / 5</a:t>
            </a:r>
          </a:p>
        </p:txBody>
      </p:sp>
      <p:sp>
        <p:nvSpPr>
          <p:cNvPr id="3" name="caption">
            <a:extLst xmlns:a="http://schemas.openxmlformats.org/drawingml/2006/main">
              <a:ext uri="{FF2B5EF4-FFF2-40B4-BE49-F238E27FC236}">
                <a16:creationId xmlns:a16="http://schemas.microsoft.com/office/drawing/2014/main" id="{F133DF95-1104-4310-BDE8-AEC2F5A9C279}"/>
              </a:ext>
            </a:extLst>
          </p:cNvPr>
          <p:cNvSpPr>
            <a:spLocks xmlns:a="http://schemas.openxmlformats.org/drawingml/2006/main" noGrp="1"/>
          </p:cNvSpPr>
          <p:nvPr/>
        </p:nvSpPr>
        <p:spPr>
          <a:xfrm xmlns:a="http://schemas.openxmlformats.org/drawingml/2006/main">
            <a:off x="609600" y="1238250"/>
            <a:ext cx="1400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56677A"/>
                </a:solidFill>
                <a:latin typeface="Arial"/>
                <a:ea typeface="Arial"/>
                <a:cs typeface="Arial"/>
              </a:defRPr>
            </a:defPPr>
          </a:lstStyle>
          <a:p xmlns:a="http://schemas.openxmlformats.org/drawingml/2006/main">
            <a:pPr algn="l">
              <a:defRPr sz="2175" b="0">
                <a:solidFill>
                  <a:srgbClr val="56677A"/>
                </a:solidFill>
                <a:latin typeface="Arial"/>
                <a:ea typeface="Arial"/>
                <a:cs typeface="Arial"/>
              </a:defRPr>
            </a:pPr>
            <a:r>
              <a:rPr sz="2175" b="0">
                <a:solidFill>
                  <a:srgbClr val="56677A"/>
                </a:solidFill>
                <a:latin typeface="Arial"/>
                <a:ea typeface="Arial"/>
                <a:cs typeface="Arial"/>
              </a:rPr>
              <a:t>One Java deployment with 2+ identical replicas. HTTP and bounded async executors share each replica.</a:t>
            </a:r>
          </a:p>
        </p:txBody>
      </p:sp>
      <p:sp>
        <p:nvSpPr>
          <p:cNvPr id="4" name="am">
            <a:extLst xmlns:a="http://schemas.openxmlformats.org/drawingml/2006/main">
              <a:ext uri="{FF2B5EF4-FFF2-40B4-BE49-F238E27FC236}">
                <a16:creationId xmlns:a16="http://schemas.microsoft.com/office/drawing/2014/main" id="{779FA8F9-923D-422E-A40B-BBC098932498}"/>
              </a:ext>
            </a:extLst>
          </p:cNvPr>
          <p:cNvSpPr>
            <a:spLocks xmlns:a="http://schemas.openxmlformats.org/drawingml/2006/main" noGrp="1"/>
          </p:cNvSpPr>
          <p:nvPr/>
        </p:nvSpPr>
        <p:spPr>
          <a:xfrm xmlns:a="http://schemas.openxmlformats.org/drawingml/2006/main">
            <a:off x="609600" y="2057400"/>
            <a:ext cx="2857500" cy="1047750"/>
          </a:xfrm>
          <a:prstGeom xmlns:a="http://schemas.openxmlformats.org/drawingml/2006/main" prst="roundRect">
            <a:avLst>
              <a:gd name="adj" fmla="val 9091"/>
            </a:avLst>
          </a:prstGeom>
          <a:solidFill xmlns:a="http://schemas.openxmlformats.org/drawingml/2006/main">
            <a:srgbClr val="DBEAFE"/>
          </a:solidFill>
          <a:ln xmlns:a="http://schemas.openxmlformats.org/drawingml/2006/main" w="19050">
            <a:solidFill>
              <a:srgbClr val="2563EB"/>
            </a:solidFill>
          </a:ln>
        </p:spPr>
        <p:txBody>
          <a:bodyPr xmlns:a="http://schemas.openxmlformats.org/drawingml/2006/main" wrap="square" lIns="114300" tIns="114300" rIns="114300" bIns="114300" anchor="ctr">
            <a:noAutofit/>
          </a:bodyPr>
          <a:lstStyle xmlns:a="http://schemas.openxmlformats.org/drawingml/2006/main">
            <a:defPPr algn="ctr">
              <a:defRPr sz="1800">
                <a:solidFill>
                  <a:srgbClr val="132B45"/>
                </a:solidFill>
                <a:latin typeface="Arial"/>
                <a:ea typeface="Arial"/>
                <a:cs typeface="Arial"/>
              </a:defRPr>
            </a:defPPr>
          </a:lstStyle>
          <a:p xmlns:a="http://schemas.openxmlformats.org/drawingml/2006/main">
            <a:pPr algn="ctr">
              <a:spcAft>
                <a:spcPts val="10"/>
              </a:spcAft>
              <a:defRPr sz="1800">
                <a:solidFill>
                  <a:srgbClr val="132B45"/>
                </a:solidFill>
                <a:latin typeface="Arial"/>
                <a:ea typeface="Arial"/>
                <a:cs typeface="Arial"/>
              </a:defRPr>
            </a:pPr>
            <a:r>
              <a:rPr sz="1800" b="1">
                <a:solidFill>
                  <a:srgbClr val="132B45"/>
                </a:solidFill>
                <a:latin typeface="Arial"/>
                <a:ea typeface="Arial"/>
                <a:cs typeface="Arial"/>
              </a:rPr>
              <a:t>AM / Director / Admin</a:t>
            </a:r>
          </a:p>
          <a:p xmlns:a="http://schemas.openxmlformats.org/drawingml/2006/main">
            <a:pPr algn="ctr">
              <a:defRPr sz="1800">
                <a:solidFill>
                  <a:srgbClr val="132B45"/>
                </a:solidFill>
                <a:latin typeface="Arial"/>
                <a:ea typeface="Arial"/>
                <a:cs typeface="Arial"/>
              </a:defRPr>
            </a:pPr>
            <a:r>
              <a:rPr sz="1800">
                <a:solidFill>
                  <a:srgbClr val="132B45"/>
                </a:solidFill>
                <a:latin typeface="Arial"/>
                <a:ea typeface="Arial"/>
                <a:cs typeface="Arial"/>
              </a:rPr>
              <a:t>Business users</a:t>
            </a:r>
          </a:p>
        </p:txBody>
      </p:sp>
      <p:sp>
        <p:nvSpPr>
          <p:cNvPr id="5" name="portal">
            <a:extLst xmlns:a="http://schemas.openxmlformats.org/drawingml/2006/main">
              <a:ext uri="{FF2B5EF4-FFF2-40B4-BE49-F238E27FC236}">
                <a16:creationId xmlns:a16="http://schemas.microsoft.com/office/drawing/2014/main" id="{07F8295C-CECC-445F-AA32-2A8C8AA6517F}"/>
              </a:ext>
            </a:extLst>
          </p:cNvPr>
          <p:cNvSpPr>
            <a:spLocks xmlns:a="http://schemas.openxmlformats.org/drawingml/2006/main" noGrp="1"/>
          </p:cNvSpPr>
          <p:nvPr/>
        </p:nvSpPr>
        <p:spPr>
          <a:xfrm xmlns:a="http://schemas.openxmlformats.org/drawingml/2006/main">
            <a:off x="5495925" y="2057400"/>
            <a:ext cx="4572000" cy="1047750"/>
          </a:xfrm>
          <a:prstGeom xmlns:a="http://schemas.openxmlformats.org/drawingml/2006/main" prst="roundRect">
            <a:avLst>
              <a:gd name="adj" fmla="val 9091"/>
            </a:avLst>
          </a:prstGeom>
          <a:solidFill xmlns:a="http://schemas.openxmlformats.org/drawingml/2006/main">
            <a:srgbClr val="DBEAFE"/>
          </a:solidFill>
          <a:ln xmlns:a="http://schemas.openxmlformats.org/drawingml/2006/main" w="19050">
            <a:solidFill>
              <a:srgbClr val="2563EB"/>
            </a:solidFill>
          </a:ln>
        </p:spPr>
        <p:txBody>
          <a:bodyPr xmlns:a="http://schemas.openxmlformats.org/drawingml/2006/main" wrap="square" lIns="114300" tIns="114300" rIns="114300" bIns="114300" anchor="ctr">
            <a:noAutofit/>
          </a:bodyPr>
          <a:lstStyle xmlns:a="http://schemas.openxmlformats.org/drawingml/2006/main">
            <a:defPPr algn="ctr">
              <a:defRPr sz="1875">
                <a:solidFill>
                  <a:srgbClr val="132B45"/>
                </a:solidFill>
                <a:latin typeface="Arial"/>
                <a:ea typeface="Arial"/>
                <a:cs typeface="Arial"/>
              </a:defRPr>
            </a:defPPr>
          </a:lstStyle>
          <a:p xmlns:a="http://schemas.openxmlformats.org/drawingml/2006/main">
            <a:pPr algn="ctr">
              <a:spcAft>
                <a:spcPts val="10"/>
              </a:spcAft>
              <a:defRPr sz="1875">
                <a:solidFill>
                  <a:srgbClr val="132B45"/>
                </a:solidFill>
                <a:latin typeface="Arial"/>
                <a:ea typeface="Arial"/>
                <a:cs typeface="Arial"/>
              </a:defRPr>
            </a:pPr>
            <a:r>
              <a:rPr sz="1875" b="1">
                <a:solidFill>
                  <a:srgbClr val="132B45"/>
                </a:solidFill>
                <a:latin typeface="Arial"/>
                <a:ea typeface="Arial"/>
                <a:cs typeface="Arial"/>
              </a:rPr>
              <a:t>Web Portal / BFF</a:t>
            </a:r>
          </a:p>
          <a:p xmlns:a="http://schemas.openxmlformats.org/drawingml/2006/main">
            <a:pPr algn="ctr">
              <a:defRPr sz="1875">
                <a:solidFill>
                  <a:srgbClr val="132B45"/>
                </a:solidFill>
                <a:latin typeface="Arial"/>
                <a:ea typeface="Arial"/>
                <a:cs typeface="Arial"/>
              </a:defRPr>
            </a:pPr>
            <a:r>
              <a:rPr sz="1875">
                <a:solidFill>
                  <a:srgbClr val="132B45"/>
                </a:solidFill>
                <a:latin typeface="Arial"/>
                <a:ea typeface="Arial"/>
                <a:cs typeface="Arial"/>
              </a:rPr>
              <a:t>Next.js, 2+ replicas</a:t>
            </a:r>
          </a:p>
        </p:txBody>
      </p:sp>
      <p:sp>
        <p:nvSpPr>
          <p:cNvPr id="6" name="java">
            <a:extLst xmlns:a="http://schemas.openxmlformats.org/drawingml/2006/main">
              <a:ext uri="{FF2B5EF4-FFF2-40B4-BE49-F238E27FC236}">
                <a16:creationId xmlns:a16="http://schemas.microsoft.com/office/drawing/2014/main" id="{6CD28521-B790-4E99-8746-24C526359B7D}"/>
              </a:ext>
            </a:extLst>
          </p:cNvPr>
          <p:cNvSpPr>
            <a:spLocks xmlns:a="http://schemas.openxmlformats.org/drawingml/2006/main" noGrp="1"/>
          </p:cNvSpPr>
          <p:nvPr/>
        </p:nvSpPr>
        <p:spPr>
          <a:xfrm xmlns:a="http://schemas.openxmlformats.org/drawingml/2006/main">
            <a:off x="5495925" y="3943350"/>
            <a:ext cx="4572000" cy="2286000"/>
          </a:xfrm>
          <a:prstGeom xmlns:a="http://schemas.openxmlformats.org/drawingml/2006/main" prst="roundRect">
            <a:avLst>
              <a:gd name="adj" fmla="val 4167"/>
            </a:avLst>
          </a:prstGeom>
          <a:solidFill xmlns:a="http://schemas.openxmlformats.org/drawingml/2006/main">
            <a:srgbClr val="DCFCE7"/>
          </a:solidFill>
          <a:ln xmlns:a="http://schemas.openxmlformats.org/drawingml/2006/main" w="19050">
            <a:solidFill>
              <a:srgbClr val="16A34A"/>
            </a:solidFill>
          </a:ln>
        </p:spPr>
        <p:txBody>
          <a:bodyPr xmlns:a="http://schemas.openxmlformats.org/drawingml/2006/main" wrap="square" lIns="114300" tIns="114300" rIns="114300" bIns="114300" anchor="ctr">
            <a:noAutofit/>
          </a:bodyPr>
          <a:lstStyle xmlns:a="http://schemas.openxmlformats.org/drawingml/2006/main">
            <a:defPPr algn="ctr">
              <a:defRPr sz="1800">
                <a:solidFill>
                  <a:srgbClr val="132B45"/>
                </a:solidFill>
                <a:latin typeface="Arial"/>
                <a:ea typeface="Arial"/>
                <a:cs typeface="Arial"/>
              </a:defRPr>
            </a:defPPr>
          </a:lstStyle>
          <a:p xmlns:a="http://schemas.openxmlformats.org/drawingml/2006/main">
            <a:pPr algn="ctr">
              <a:spcAft>
                <a:spcPts val="10"/>
              </a:spcAft>
              <a:defRPr sz="1800">
                <a:solidFill>
                  <a:srgbClr val="132B45"/>
                </a:solidFill>
                <a:latin typeface="Arial"/>
                <a:ea typeface="Arial"/>
                <a:cs typeface="Arial"/>
              </a:defRPr>
            </a:pPr>
            <a:r>
              <a:rPr sz="1800" b="1">
                <a:solidFill>
                  <a:srgbClr val="132B45"/>
                </a:solidFill>
                <a:latin typeface="Arial"/>
                <a:ea typeface="Arial"/>
                <a:cs typeface="Arial"/>
              </a:rPr>
              <a:t>Java Backend Service</a:t>
            </a:r>
          </a:p>
          <a:p xmlns:a="http://schemas.openxmlformats.org/drawingml/2006/main">
            <a:pPr algn="ctr">
              <a:defRPr sz="1800">
                <a:solidFill>
                  <a:srgbClr val="132B45"/>
                </a:solidFill>
                <a:latin typeface="Arial"/>
                <a:ea typeface="Arial"/>
                <a:cs typeface="Arial"/>
              </a:defRPr>
            </a:pPr>
            <a:r>
              <a:rPr sz="1800">
                <a:solidFill>
                  <a:srgbClr val="132B45"/>
                </a:solidFill>
                <a:latin typeface="Arial"/>
                <a:ea typeface="Arial"/>
                <a:cs typeface="Arial"/>
              </a:rPr>
              <a:t>Spring Boot + Spring AI, 2+ replicas</a:t>
            </a:r>
            <a:br>
              <a:rPr sz="1800">
                <a:solidFill>
                  <a:srgbClr val="132B45"/>
                </a:solidFill>
                <a:latin typeface="Arial"/>
                <a:ea typeface="Arial"/>
                <a:cs typeface="Arial"/>
              </a:rPr>
            </a:br>
            <a:r>
              <a:rPr sz="1800">
                <a:solidFill>
                  <a:srgbClr val="132B45"/>
                </a:solidFill>
                <a:latin typeface="Arial"/>
                <a:ea typeface="Arial"/>
                <a:cs typeface="Arial"/>
              </a:rPr>
              <a:t>APIs, async jobs and approved sends</a:t>
            </a:r>
            <a:br>
              <a:rPr sz="1800">
                <a:solidFill>
                  <a:srgbClr val="132B45"/>
                </a:solidFill>
                <a:latin typeface="Arial"/>
                <a:ea typeface="Arial"/>
                <a:cs typeface="Arial"/>
              </a:rPr>
            </a:br>
            <a:r>
              <a:rPr sz="1800">
                <a:solidFill>
                  <a:srgbClr val="132B45"/>
                </a:solidFill>
                <a:latin typeface="Arial"/>
                <a:ea typeface="Arial"/>
                <a:cs typeface="Arial"/>
              </a:rPr>
              <a:t>RBAC and data-scope enforcement</a:t>
            </a:r>
            <a:br>
              <a:rPr sz="1800">
                <a:solidFill>
                  <a:srgbClr val="132B45"/>
                </a:solidFill>
                <a:latin typeface="Arial"/>
                <a:ea typeface="Arial"/>
                <a:cs typeface="Arial"/>
              </a:rPr>
            </a:br>
            <a:r>
              <a:rPr sz="1800">
                <a:solidFill>
                  <a:srgbClr val="132B45"/>
                </a:solidFill>
                <a:latin typeface="Arial"/>
                <a:ea typeface="Arial"/>
                <a:cs typeface="Arial"/>
              </a:rPr>
              <a:t>Every API request and async job</a:t>
            </a:r>
          </a:p>
        </p:txBody>
      </p:sp>
      <p:sp>
        <p:nvSpPr>
          <p:cNvPr id="7" name="okta">
            <a:extLst xmlns:a="http://schemas.openxmlformats.org/drawingml/2006/main">
              <a:ext uri="{FF2B5EF4-FFF2-40B4-BE49-F238E27FC236}">
                <a16:creationId xmlns:a16="http://schemas.microsoft.com/office/drawing/2014/main" id="{AB63FE94-6961-44EC-93A6-963DF45AD2EC}"/>
              </a:ext>
            </a:extLst>
          </p:cNvPr>
          <p:cNvSpPr>
            <a:spLocks xmlns:a="http://schemas.openxmlformats.org/drawingml/2006/main" noGrp="1"/>
          </p:cNvSpPr>
          <p:nvPr/>
        </p:nvSpPr>
        <p:spPr>
          <a:xfrm xmlns:a="http://schemas.openxmlformats.org/drawingml/2006/main">
            <a:off x="609600" y="3943350"/>
            <a:ext cx="2857500" cy="1143000"/>
          </a:xfrm>
          <a:prstGeom xmlns:a="http://schemas.openxmlformats.org/drawingml/2006/main" prst="roundRect">
            <a:avLst>
              <a:gd name="adj" fmla="val 8333"/>
            </a:avLst>
          </a:prstGeom>
          <a:solidFill xmlns:a="http://schemas.openxmlformats.org/drawingml/2006/main">
            <a:srgbClr val="EDE9FE"/>
          </a:solidFill>
          <a:ln xmlns:a="http://schemas.openxmlformats.org/drawingml/2006/main" w="19050">
            <a:solidFill>
              <a:srgbClr val="7C3AED"/>
            </a:solidFill>
          </a:ln>
        </p:spPr>
        <p:txBody>
          <a:bodyPr xmlns:a="http://schemas.openxmlformats.org/drawingml/2006/main" wrap="square" lIns="114300" tIns="114300" rIns="114300" bIns="114300" anchor="ctr">
            <a:noAutofit/>
          </a:bodyPr>
          <a:lstStyle xmlns:a="http://schemas.openxmlformats.org/drawingml/2006/main">
            <a:defPPr algn="ctr">
              <a:defRPr sz="1800">
                <a:solidFill>
                  <a:srgbClr val="132B45"/>
                </a:solidFill>
                <a:latin typeface="Arial"/>
                <a:ea typeface="Arial"/>
                <a:cs typeface="Arial"/>
              </a:defRPr>
            </a:defPPr>
          </a:lstStyle>
          <a:p xmlns:a="http://schemas.openxmlformats.org/drawingml/2006/main">
            <a:pPr algn="ctr">
              <a:spcAft>
                <a:spcPts val="10"/>
              </a:spcAft>
              <a:defRPr sz="1800">
                <a:solidFill>
                  <a:srgbClr val="132B45"/>
                </a:solidFill>
                <a:latin typeface="Arial"/>
                <a:ea typeface="Arial"/>
                <a:cs typeface="Arial"/>
              </a:defRPr>
            </a:pPr>
            <a:r>
              <a:rPr sz="1800" b="1">
                <a:solidFill>
                  <a:srgbClr val="132B45"/>
                </a:solidFill>
                <a:latin typeface="Arial"/>
                <a:ea typeface="Arial"/>
                <a:cs typeface="Arial"/>
              </a:rPr>
              <a:t>Okta SSO</a:t>
            </a:r>
          </a:p>
          <a:p xmlns:a="http://schemas.openxmlformats.org/drawingml/2006/main">
            <a:pPr algn="ctr">
              <a:defRPr sz="1800">
                <a:solidFill>
                  <a:srgbClr val="132B45"/>
                </a:solidFill>
                <a:latin typeface="Arial"/>
                <a:ea typeface="Arial"/>
                <a:cs typeface="Arial"/>
              </a:defRPr>
            </a:pPr>
            <a:r>
              <a:rPr sz="1800">
                <a:solidFill>
                  <a:srgbClr val="132B45"/>
                </a:solidFill>
                <a:latin typeface="Arial"/>
                <a:ea typeface="Arial"/>
                <a:cs typeface="Arial"/>
              </a:rPr>
              <a:t>SSO / MFA</a:t>
            </a:r>
            <a:br>
              <a:rPr sz="1800">
                <a:solidFill>
                  <a:srgbClr val="132B45"/>
                </a:solidFill>
                <a:latin typeface="Arial"/>
                <a:ea typeface="Arial"/>
                <a:cs typeface="Arial"/>
              </a:rPr>
            </a:br>
            <a:r>
              <a:rPr sz="1800">
                <a:solidFill>
                  <a:srgbClr val="132B45"/>
                </a:solidFill>
                <a:latin typeface="Arial"/>
                <a:ea typeface="Arial"/>
                <a:cs typeface="Arial"/>
              </a:rPr>
              <a:t>AAM role groups</a:t>
            </a:r>
          </a:p>
        </p:txBody>
      </p:sp>
      <p:sp>
        <p:nvSpPr>
          <p:cNvPr id="8" name="entra">
            <a:extLst xmlns:a="http://schemas.openxmlformats.org/drawingml/2006/main">
              <a:ext uri="{FF2B5EF4-FFF2-40B4-BE49-F238E27FC236}">
                <a16:creationId xmlns:a16="http://schemas.microsoft.com/office/drawing/2014/main" id="{7BB9F9DC-D2E5-42DF-951C-35934FE2106C}"/>
              </a:ext>
            </a:extLst>
          </p:cNvPr>
          <p:cNvSpPr>
            <a:spLocks xmlns:a="http://schemas.openxmlformats.org/drawingml/2006/main" noGrp="1"/>
          </p:cNvSpPr>
          <p:nvPr/>
        </p:nvSpPr>
        <p:spPr>
          <a:xfrm xmlns:a="http://schemas.openxmlformats.org/drawingml/2006/main">
            <a:off x="609600" y="5276850"/>
            <a:ext cx="2857500" cy="1000125"/>
          </a:xfrm>
          <a:prstGeom xmlns:a="http://schemas.openxmlformats.org/drawingml/2006/main" prst="roundRect">
            <a:avLst>
              <a:gd name="adj" fmla="val 9524"/>
            </a:avLst>
          </a:prstGeom>
          <a:solidFill xmlns:a="http://schemas.openxmlformats.org/drawingml/2006/main">
            <a:srgbClr val="EDE9FE"/>
          </a:solidFill>
          <a:ln xmlns:a="http://schemas.openxmlformats.org/drawingml/2006/main" w="19050">
            <a:solidFill>
              <a:srgbClr val="7C3AED"/>
            </a:solidFill>
          </a:ln>
        </p:spPr>
        <p:txBody>
          <a:bodyPr xmlns:a="http://schemas.openxmlformats.org/drawingml/2006/main" wrap="square" lIns="114300" tIns="114300" rIns="114300" bIns="114300" anchor="ctr">
            <a:noAutofit/>
          </a:bodyPr>
          <a:lstStyle xmlns:a="http://schemas.openxmlformats.org/drawingml/2006/main">
            <a:defPPr algn="ctr">
              <a:defRPr sz="1800">
                <a:solidFill>
                  <a:srgbClr val="132B45"/>
                </a:solidFill>
                <a:latin typeface="Arial"/>
                <a:ea typeface="Arial"/>
                <a:cs typeface="Arial"/>
              </a:defRPr>
            </a:defPPr>
          </a:lstStyle>
          <a:p xmlns:a="http://schemas.openxmlformats.org/drawingml/2006/main">
            <a:pPr algn="ctr">
              <a:spcAft>
                <a:spcPts val="10"/>
              </a:spcAft>
              <a:defRPr sz="1800">
                <a:solidFill>
                  <a:srgbClr val="132B45"/>
                </a:solidFill>
                <a:latin typeface="Arial"/>
                <a:ea typeface="Arial"/>
                <a:cs typeface="Arial"/>
              </a:defRPr>
            </a:pPr>
            <a:r>
              <a:rPr sz="1800" b="1">
                <a:solidFill>
                  <a:srgbClr val="132B45"/>
                </a:solidFill>
                <a:latin typeface="Arial"/>
                <a:ea typeface="Arial"/>
                <a:cs typeface="Arial"/>
              </a:rPr>
              <a:t>Microsoft Entra ID</a:t>
            </a:r>
          </a:p>
          <a:p xmlns:a="http://schemas.openxmlformats.org/drawingml/2006/main">
            <a:pPr algn="ctr">
              <a:defRPr sz="1800">
                <a:solidFill>
                  <a:srgbClr val="132B45"/>
                </a:solidFill>
                <a:latin typeface="Arial"/>
                <a:ea typeface="Arial"/>
                <a:cs typeface="Arial"/>
              </a:defRPr>
            </a:pPr>
            <a:r>
              <a:rPr sz="1800">
                <a:solidFill>
                  <a:srgbClr val="132B45"/>
                </a:solidFill>
                <a:latin typeface="Arial"/>
                <a:ea typeface="Arial"/>
                <a:cs typeface="Arial"/>
              </a:rPr>
              <a:t>Graph authorization</a:t>
            </a:r>
            <a:br>
              <a:rPr sz="1800">
                <a:solidFill>
                  <a:srgbClr val="132B45"/>
                </a:solidFill>
                <a:latin typeface="Arial"/>
                <a:ea typeface="Arial"/>
                <a:cs typeface="Arial"/>
              </a:rPr>
            </a:br>
            <a:r>
              <a:rPr sz="1800">
                <a:solidFill>
                  <a:srgbClr val="132B45"/>
                </a:solidFill>
                <a:latin typeface="Arial"/>
                <a:ea typeface="Arial"/>
                <a:cs typeface="Arial"/>
              </a:rPr>
              <a:t>Azure workload identity</a:t>
            </a:r>
          </a:p>
        </p:txBody>
      </p:sp>
      <p:sp>
        <p:nvSpPr>
          <p:cNvPr id="9" name="graph">
            <a:extLst xmlns:a="http://schemas.openxmlformats.org/drawingml/2006/main">
              <a:ext uri="{FF2B5EF4-FFF2-40B4-BE49-F238E27FC236}">
                <a16:creationId xmlns:a16="http://schemas.microsoft.com/office/drawing/2014/main" id="{3CDE0E2A-B5A2-4ADC-B508-7AC38D82F652}"/>
              </a:ext>
            </a:extLst>
          </p:cNvPr>
          <p:cNvSpPr>
            <a:spLocks xmlns:a="http://schemas.openxmlformats.org/drawingml/2006/main" noGrp="1"/>
          </p:cNvSpPr>
          <p:nvPr/>
        </p:nvSpPr>
        <p:spPr>
          <a:xfrm xmlns:a="http://schemas.openxmlformats.org/drawingml/2006/main">
            <a:off x="11715750" y="2057400"/>
            <a:ext cx="2905125" cy="1047750"/>
          </a:xfrm>
          <a:prstGeom xmlns:a="http://schemas.openxmlformats.org/drawingml/2006/main" prst="roundRect">
            <a:avLst>
              <a:gd name="adj" fmla="val 9091"/>
            </a:avLst>
          </a:prstGeom>
          <a:solidFill xmlns:a="http://schemas.openxmlformats.org/drawingml/2006/main">
            <a:srgbClr val="CFFAFE"/>
          </a:solidFill>
          <a:ln xmlns:a="http://schemas.openxmlformats.org/drawingml/2006/main" w="19050">
            <a:solidFill>
              <a:srgbClr val="0891B2"/>
            </a:solidFill>
          </a:ln>
        </p:spPr>
        <p:txBody>
          <a:bodyPr xmlns:a="http://schemas.openxmlformats.org/drawingml/2006/main" wrap="square" lIns="114300" tIns="114300" rIns="114300" bIns="114300" anchor="ctr">
            <a:noAutofit/>
          </a:bodyPr>
          <a:lstStyle xmlns:a="http://schemas.openxmlformats.org/drawingml/2006/main">
            <a:defPPr algn="ctr">
              <a:defRPr sz="1800">
                <a:solidFill>
                  <a:srgbClr val="132B45"/>
                </a:solidFill>
                <a:latin typeface="Arial"/>
                <a:ea typeface="Arial"/>
                <a:cs typeface="Arial"/>
              </a:defRPr>
            </a:defPPr>
          </a:lstStyle>
          <a:p xmlns:a="http://schemas.openxmlformats.org/drawingml/2006/main">
            <a:pPr algn="ctr">
              <a:spcAft>
                <a:spcPts val="10"/>
              </a:spcAft>
              <a:defRPr sz="1800">
                <a:solidFill>
                  <a:srgbClr val="132B45"/>
                </a:solidFill>
                <a:latin typeface="Arial"/>
                <a:ea typeface="Arial"/>
                <a:cs typeface="Arial"/>
              </a:defRPr>
            </a:pPr>
            <a:r>
              <a:rPr sz="1800" b="1">
                <a:solidFill>
                  <a:srgbClr val="132B45"/>
                </a:solidFill>
                <a:latin typeface="Arial"/>
                <a:ea typeface="Arial"/>
                <a:cs typeface="Arial"/>
              </a:rPr>
              <a:t>Graph / Outlook</a:t>
            </a:r>
          </a:p>
          <a:p xmlns:a="http://schemas.openxmlformats.org/drawingml/2006/main">
            <a:pPr algn="ctr">
              <a:defRPr sz="1800">
                <a:solidFill>
                  <a:srgbClr val="132B45"/>
                </a:solidFill>
                <a:latin typeface="Arial"/>
                <a:ea typeface="Arial"/>
                <a:cs typeface="Arial"/>
              </a:defRPr>
            </a:pPr>
            <a:r>
              <a:rPr sz="1800">
                <a:solidFill>
                  <a:srgbClr val="132B45"/>
                </a:solidFill>
                <a:latin typeface="Arial"/>
                <a:ea typeface="Arial"/>
                <a:cs typeface="Arial"/>
              </a:rPr>
              <a:t>Mailbox sync and approved sends</a:t>
            </a:r>
          </a:p>
        </p:txBody>
      </p:sp>
      <p:sp>
        <p:nvSpPr>
          <p:cNvPr id="10" name="foundry">
            <a:extLst xmlns:a="http://schemas.openxmlformats.org/drawingml/2006/main">
              <a:ext uri="{FF2B5EF4-FFF2-40B4-BE49-F238E27FC236}">
                <a16:creationId xmlns:a16="http://schemas.microsoft.com/office/drawing/2014/main" id="{7F35B7EB-21B4-4EA6-99E8-A687CCB5338A}"/>
              </a:ext>
            </a:extLst>
          </p:cNvPr>
          <p:cNvSpPr>
            <a:spLocks xmlns:a="http://schemas.openxmlformats.org/drawingml/2006/main" noGrp="1"/>
          </p:cNvSpPr>
          <p:nvPr/>
        </p:nvSpPr>
        <p:spPr>
          <a:xfrm xmlns:a="http://schemas.openxmlformats.org/drawingml/2006/main">
            <a:off x="11715750" y="3943350"/>
            <a:ext cx="2905125" cy="1238250"/>
          </a:xfrm>
          <a:prstGeom xmlns:a="http://schemas.openxmlformats.org/drawingml/2006/main" prst="roundRect">
            <a:avLst>
              <a:gd name="adj" fmla="val 7692"/>
            </a:avLst>
          </a:prstGeom>
          <a:solidFill xmlns:a="http://schemas.openxmlformats.org/drawingml/2006/main">
            <a:srgbClr val="FFEDD5"/>
          </a:solidFill>
          <a:ln xmlns:a="http://schemas.openxmlformats.org/drawingml/2006/main" w="19050">
            <a:solidFill>
              <a:srgbClr val="EA580C"/>
            </a:solidFill>
          </a:ln>
        </p:spPr>
        <p:txBody>
          <a:bodyPr xmlns:a="http://schemas.openxmlformats.org/drawingml/2006/main" wrap="square" lIns="114300" tIns="114300" rIns="114300" bIns="114300" anchor="ctr">
            <a:noAutofit/>
          </a:bodyPr>
          <a:lstStyle xmlns:a="http://schemas.openxmlformats.org/drawingml/2006/main">
            <a:defPPr algn="ctr">
              <a:defRPr sz="1800">
                <a:solidFill>
                  <a:srgbClr val="132B45"/>
                </a:solidFill>
                <a:latin typeface="Arial"/>
                <a:ea typeface="Arial"/>
                <a:cs typeface="Arial"/>
              </a:defRPr>
            </a:defPPr>
          </a:lstStyle>
          <a:p xmlns:a="http://schemas.openxmlformats.org/drawingml/2006/main">
            <a:pPr algn="ctr">
              <a:spcAft>
                <a:spcPts val="10"/>
              </a:spcAft>
              <a:defRPr sz="1800">
                <a:solidFill>
                  <a:srgbClr val="132B45"/>
                </a:solidFill>
                <a:latin typeface="Arial"/>
                <a:ea typeface="Arial"/>
                <a:cs typeface="Arial"/>
              </a:defRPr>
            </a:pPr>
            <a:r>
              <a:rPr sz="1800" b="1">
                <a:solidFill>
                  <a:srgbClr val="132B45"/>
                </a:solidFill>
                <a:latin typeface="Arial"/>
                <a:ea typeface="Arial"/>
                <a:cs typeface="Arial"/>
              </a:rPr>
              <a:t>Azure AI Foundry</a:t>
            </a:r>
          </a:p>
          <a:p xmlns:a="http://schemas.openxmlformats.org/drawingml/2006/main">
            <a:pPr algn="ctr">
              <a:defRPr sz="1800">
                <a:solidFill>
                  <a:srgbClr val="132B45"/>
                </a:solidFill>
                <a:latin typeface="Arial"/>
                <a:ea typeface="Arial"/>
                <a:cs typeface="Arial"/>
              </a:defRPr>
            </a:pPr>
            <a:r>
              <a:rPr sz="1800">
                <a:solidFill>
                  <a:srgbClr val="132B45"/>
                </a:solidFill>
                <a:latin typeface="Arial"/>
                <a:ea typeface="Arial"/>
                <a:cs typeface="Arial"/>
              </a:rPr>
              <a:t>Model inference</a:t>
            </a:r>
            <a:br>
              <a:rPr sz="1800">
                <a:solidFill>
                  <a:srgbClr val="132B45"/>
                </a:solidFill>
                <a:latin typeface="Arial"/>
                <a:ea typeface="Arial"/>
                <a:cs typeface="Arial"/>
              </a:rPr>
            </a:br>
            <a:r>
              <a:rPr sz="1800">
                <a:solidFill>
                  <a:srgbClr val="132B45"/>
                </a:solidFill>
                <a:latin typeface="Arial"/>
                <a:ea typeface="Arial"/>
                <a:cs typeface="Arial"/>
              </a:rPr>
              <a:t>through Spring AI</a:t>
            </a:r>
          </a:p>
        </p:txBody>
      </p:sp>
      <p:sp>
        <p:nvSpPr>
          <p:cNvPr id="11" name="blob">
            <a:extLst xmlns:a="http://schemas.openxmlformats.org/drawingml/2006/main">
              <a:ext uri="{FF2B5EF4-FFF2-40B4-BE49-F238E27FC236}">
                <a16:creationId xmlns:a16="http://schemas.microsoft.com/office/drawing/2014/main" id="{F772A77F-55A8-492B-909A-6B0A9C47978D}"/>
              </a:ext>
            </a:extLst>
          </p:cNvPr>
          <p:cNvSpPr>
            <a:spLocks xmlns:a="http://schemas.openxmlformats.org/drawingml/2006/main" noGrp="1"/>
          </p:cNvSpPr>
          <p:nvPr/>
        </p:nvSpPr>
        <p:spPr>
          <a:xfrm xmlns:a="http://schemas.openxmlformats.org/drawingml/2006/main">
            <a:off x="11715750" y="5476875"/>
            <a:ext cx="2905125" cy="1047750"/>
          </a:xfrm>
          <a:prstGeom xmlns:a="http://schemas.openxmlformats.org/drawingml/2006/main" prst="roundRect">
            <a:avLst>
              <a:gd name="adj" fmla="val 9091"/>
            </a:avLst>
          </a:prstGeom>
          <a:solidFill xmlns:a="http://schemas.openxmlformats.org/drawingml/2006/main">
            <a:srgbClr val="F1F5F9"/>
          </a:solidFill>
          <a:ln xmlns:a="http://schemas.openxmlformats.org/drawingml/2006/main" w="19050">
            <a:solidFill>
              <a:srgbClr val="64748B"/>
            </a:solidFill>
          </a:ln>
        </p:spPr>
        <p:txBody>
          <a:bodyPr xmlns:a="http://schemas.openxmlformats.org/drawingml/2006/main" wrap="square" lIns="114300" tIns="114300" rIns="114300" bIns="114300" anchor="ctr">
            <a:noAutofit/>
          </a:bodyPr>
          <a:lstStyle xmlns:a="http://schemas.openxmlformats.org/drawingml/2006/main">
            <a:defPPr algn="ctr">
              <a:defRPr sz="1800">
                <a:solidFill>
                  <a:srgbClr val="132B45"/>
                </a:solidFill>
                <a:latin typeface="Arial"/>
                <a:ea typeface="Arial"/>
                <a:cs typeface="Arial"/>
              </a:defRPr>
            </a:defPPr>
          </a:lstStyle>
          <a:p xmlns:a="http://schemas.openxmlformats.org/drawingml/2006/main">
            <a:pPr algn="ctr">
              <a:spcAft>
                <a:spcPts val="10"/>
              </a:spcAft>
              <a:defRPr sz="1800">
                <a:solidFill>
                  <a:srgbClr val="132B45"/>
                </a:solidFill>
                <a:latin typeface="Arial"/>
                <a:ea typeface="Arial"/>
                <a:cs typeface="Arial"/>
              </a:defRPr>
            </a:pPr>
            <a:r>
              <a:rPr sz="1800" b="1">
                <a:solidFill>
                  <a:srgbClr val="132B45"/>
                </a:solidFill>
                <a:latin typeface="Arial"/>
                <a:ea typeface="Arial"/>
                <a:cs typeface="Arial"/>
              </a:rPr>
              <a:t>Azure Blob Storage</a:t>
            </a:r>
          </a:p>
          <a:p xmlns:a="http://schemas.openxmlformats.org/drawingml/2006/main">
            <a:pPr algn="ctr">
              <a:defRPr sz="1800">
                <a:solidFill>
                  <a:srgbClr val="132B45"/>
                </a:solidFill>
                <a:latin typeface="Arial"/>
                <a:ea typeface="Arial"/>
                <a:cs typeface="Arial"/>
              </a:defRPr>
            </a:pPr>
            <a:r>
              <a:rPr sz="1800">
                <a:solidFill>
                  <a:srgbClr val="132B45"/>
                </a:solidFill>
                <a:latin typeface="Arial"/>
                <a:ea typeface="Arial"/>
                <a:cs typeface="Arial"/>
              </a:rPr>
              <a:t>Attachments and</a:t>
            </a:r>
            <a:br>
              <a:rPr sz="1800">
                <a:solidFill>
                  <a:srgbClr val="132B45"/>
                </a:solidFill>
                <a:latin typeface="Arial"/>
                <a:ea typeface="Arial"/>
                <a:cs typeface="Arial"/>
              </a:rPr>
            </a:br>
            <a:r>
              <a:rPr sz="1800">
                <a:solidFill>
                  <a:srgbClr val="132B45"/>
                </a:solidFill>
                <a:latin typeface="Arial"/>
                <a:ea typeface="Arial"/>
                <a:cs typeface="Arial"/>
              </a:rPr>
              <a:t>example email artifacts</a:t>
            </a:r>
          </a:p>
        </p:txBody>
      </p:sp>
      <p:sp>
        <p:nvSpPr>
          <p:cNvPr id="12" name="postgres">
            <a:extLst xmlns:a="http://schemas.openxmlformats.org/drawingml/2006/main">
              <a:ext uri="{FF2B5EF4-FFF2-40B4-BE49-F238E27FC236}">
                <a16:creationId xmlns:a16="http://schemas.microsoft.com/office/drawing/2014/main" id="{76254B85-DDE4-4F7B-A58C-05C935CCD88A}"/>
              </a:ext>
            </a:extLst>
          </p:cNvPr>
          <p:cNvSpPr>
            <a:spLocks xmlns:a="http://schemas.openxmlformats.org/drawingml/2006/main" noGrp="1"/>
          </p:cNvSpPr>
          <p:nvPr/>
        </p:nvSpPr>
        <p:spPr>
          <a:xfrm xmlns:a="http://schemas.openxmlformats.org/drawingml/2006/main">
            <a:off x="5495925" y="6953250"/>
            <a:ext cx="4572000" cy="1047750"/>
          </a:xfrm>
          <a:prstGeom xmlns:a="http://schemas.openxmlformats.org/drawingml/2006/main" prst="roundRect">
            <a:avLst>
              <a:gd name="adj" fmla="val 9091"/>
            </a:avLst>
          </a:prstGeom>
          <a:solidFill xmlns:a="http://schemas.openxmlformats.org/drawingml/2006/main">
            <a:srgbClr val="F1F5F9"/>
          </a:solidFill>
          <a:ln xmlns:a="http://schemas.openxmlformats.org/drawingml/2006/main" w="19050">
            <a:solidFill>
              <a:srgbClr val="64748B"/>
            </a:solidFill>
          </a:ln>
        </p:spPr>
        <p:txBody>
          <a:bodyPr xmlns:a="http://schemas.openxmlformats.org/drawingml/2006/main" wrap="square" lIns="114300" tIns="114300" rIns="114300" bIns="114300" anchor="ctr">
            <a:noAutofit/>
          </a:bodyPr>
          <a:lstStyle xmlns:a="http://schemas.openxmlformats.org/drawingml/2006/main">
            <a:defPPr algn="ctr">
              <a:defRPr sz="1800">
                <a:solidFill>
                  <a:srgbClr val="132B45"/>
                </a:solidFill>
                <a:latin typeface="Arial"/>
                <a:ea typeface="Arial"/>
                <a:cs typeface="Arial"/>
              </a:defRPr>
            </a:defPPr>
          </a:lstStyle>
          <a:p xmlns:a="http://schemas.openxmlformats.org/drawingml/2006/main">
            <a:pPr algn="ctr">
              <a:spcAft>
                <a:spcPts val="10"/>
              </a:spcAft>
              <a:defRPr sz="1800">
                <a:solidFill>
                  <a:srgbClr val="132B45"/>
                </a:solidFill>
                <a:latin typeface="Arial"/>
                <a:ea typeface="Arial"/>
                <a:cs typeface="Arial"/>
              </a:defRPr>
            </a:pPr>
            <a:r>
              <a:rPr sz="1800" b="1">
                <a:solidFill>
                  <a:srgbClr val="132B45"/>
                </a:solidFill>
                <a:latin typeface="Arial"/>
                <a:ea typeface="Arial"/>
                <a:cs typeface="Arial"/>
              </a:rPr>
              <a:t>PostgreSQL HA</a:t>
            </a:r>
          </a:p>
          <a:p xmlns:a="http://schemas.openxmlformats.org/drawingml/2006/main">
            <a:pPr algn="ctr">
              <a:defRPr sz="1800">
                <a:solidFill>
                  <a:srgbClr val="132B45"/>
                </a:solidFill>
                <a:latin typeface="Arial"/>
                <a:ea typeface="Arial"/>
                <a:cs typeface="Arial"/>
              </a:defRPr>
            </a:pPr>
            <a:r>
              <a:rPr sz="1800">
                <a:solidFill>
                  <a:srgbClr val="132B45"/>
                </a:solidFill>
                <a:latin typeface="Arial"/>
                <a:ea typeface="Arial"/>
                <a:cs typeface="Arial"/>
              </a:rPr>
              <a:t>Cases, jobs, sessions and audit</a:t>
            </a:r>
            <a:br>
              <a:rPr sz="1800">
                <a:solidFill>
                  <a:srgbClr val="132B45"/>
                </a:solidFill>
                <a:latin typeface="Arial"/>
                <a:ea typeface="Arial"/>
                <a:cs typeface="Arial"/>
              </a:rPr>
            </a:br>
            <a:r>
              <a:rPr sz="1800">
                <a:solidFill>
                  <a:srgbClr val="132B45"/>
                </a:solidFill>
                <a:latin typeface="Arial"/>
                <a:ea typeface="Arial"/>
                <a:cs typeface="Arial"/>
              </a:rPr>
              <a:t>Business data-scope bindings</a:t>
            </a:r>
          </a:p>
        </p:txBody>
      </p:sp>
      <p:sp>
        <p:nvSpPr>
          <p:cNvPr id="13" name="monitor">
            <a:extLst xmlns:a="http://schemas.openxmlformats.org/drawingml/2006/main">
              <a:ext uri="{FF2B5EF4-FFF2-40B4-BE49-F238E27FC236}">
                <a16:creationId xmlns:a16="http://schemas.microsoft.com/office/drawing/2014/main" id="{ABF25B27-B8A4-49DD-904D-F97015FF0D39}"/>
              </a:ext>
            </a:extLst>
          </p:cNvPr>
          <p:cNvSpPr>
            <a:spLocks xmlns:a="http://schemas.openxmlformats.org/drawingml/2006/main" noGrp="1"/>
          </p:cNvSpPr>
          <p:nvPr/>
        </p:nvSpPr>
        <p:spPr>
          <a:xfrm xmlns:a="http://schemas.openxmlformats.org/drawingml/2006/main">
            <a:off x="609600" y="6953250"/>
            <a:ext cx="2857500" cy="1047750"/>
          </a:xfrm>
          <a:prstGeom xmlns:a="http://schemas.openxmlformats.org/drawingml/2006/main" prst="roundRect">
            <a:avLst>
              <a:gd name="adj" fmla="val 9091"/>
            </a:avLst>
          </a:prstGeom>
          <a:solidFill xmlns:a="http://schemas.openxmlformats.org/drawingml/2006/main">
            <a:srgbClr val="FEF9C3"/>
          </a:solidFill>
          <a:ln xmlns:a="http://schemas.openxmlformats.org/drawingml/2006/main" w="19050">
            <a:solidFill>
              <a:srgbClr val="A07806"/>
            </a:solidFill>
          </a:ln>
        </p:spPr>
        <p:txBody>
          <a:bodyPr xmlns:a="http://schemas.openxmlformats.org/drawingml/2006/main" wrap="square" lIns="114300" tIns="114300" rIns="114300" bIns="114300" anchor="ctr">
            <a:noAutofit/>
          </a:bodyPr>
          <a:lstStyle xmlns:a="http://schemas.openxmlformats.org/drawingml/2006/main">
            <a:defPPr algn="ctr">
              <a:defRPr sz="1800">
                <a:solidFill>
                  <a:srgbClr val="132B45"/>
                </a:solidFill>
                <a:latin typeface="Arial"/>
                <a:ea typeface="Arial"/>
                <a:cs typeface="Arial"/>
              </a:defRPr>
            </a:defPPr>
          </a:lstStyle>
          <a:p xmlns:a="http://schemas.openxmlformats.org/drawingml/2006/main">
            <a:pPr algn="ctr">
              <a:spcAft>
                <a:spcPts val="10"/>
              </a:spcAft>
              <a:defRPr sz="1800">
                <a:solidFill>
                  <a:srgbClr val="132B45"/>
                </a:solidFill>
                <a:latin typeface="Arial"/>
                <a:ea typeface="Arial"/>
                <a:cs typeface="Arial"/>
              </a:defRPr>
            </a:pPr>
            <a:r>
              <a:rPr sz="1800" b="1">
                <a:solidFill>
                  <a:srgbClr val="132B45"/>
                </a:solidFill>
                <a:latin typeface="Arial"/>
                <a:ea typeface="Arial"/>
                <a:cs typeface="Arial"/>
              </a:rPr>
              <a:t>Azure Monitor</a:t>
            </a:r>
          </a:p>
          <a:p xmlns:a="http://schemas.openxmlformats.org/drawingml/2006/main">
            <a:pPr algn="ctr">
              <a:defRPr sz="1800">
                <a:solidFill>
                  <a:srgbClr val="132B45"/>
                </a:solidFill>
                <a:latin typeface="Arial"/>
                <a:ea typeface="Arial"/>
                <a:cs typeface="Arial"/>
              </a:defRPr>
            </a:pPr>
            <a:r>
              <a:rPr sz="1800">
                <a:solidFill>
                  <a:srgbClr val="132B45"/>
                </a:solidFill>
                <a:latin typeface="Arial"/>
                <a:ea typeface="Arial"/>
                <a:cs typeface="Arial"/>
              </a:rPr>
              <a:t>App Insights, logs, traces</a:t>
            </a:r>
            <a:br>
              <a:rPr sz="1800">
                <a:solidFill>
                  <a:srgbClr val="132B45"/>
                </a:solidFill>
                <a:latin typeface="Arial"/>
                <a:ea typeface="Arial"/>
                <a:cs typeface="Arial"/>
              </a:rPr>
            </a:br>
            <a:r>
              <a:rPr sz="1800">
                <a:solidFill>
                  <a:srgbClr val="132B45"/>
                </a:solidFill>
                <a:latin typeface="Arial"/>
                <a:ea typeface="Arial"/>
                <a:cs typeface="Arial"/>
              </a:rPr>
              <a:t>and operational alerts</a:t>
            </a:r>
          </a:p>
        </p:txBody>
      </p:sp>
      <p:sp>
        <p:nvSpPr>
          <p:cNvPr id="15" name="https">
            <a:extLst xmlns:a="http://schemas.openxmlformats.org/drawingml/2006/main">
              <a:ext uri="{FF2B5EF4-FFF2-40B4-BE49-F238E27FC236}">
                <a16:creationId xmlns:a16="http://schemas.microsoft.com/office/drawing/2014/main" id="{7D45B7D9-9502-483A-AC70-DFA9031FF7B3}"/>
              </a:ext>
            </a:extLst>
          </p:cNvPr>
          <p:cNvSpPr>
            <a:spLocks xmlns:a="http://schemas.openxmlformats.org/drawingml/2006/main" noGrp="1"/>
          </p:cNvSpPr>
          <p:nvPr/>
        </p:nvSpPr>
        <p:spPr>
          <a:xfrm xmlns:a="http://schemas.openxmlformats.org/drawingml/2006/main">
            <a:off x="3886200" y="2362200"/>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650" b="0">
                <a:solidFill>
                  <a:srgbClr val="2563EB"/>
                </a:solidFill>
                <a:latin typeface="Arial"/>
                <a:ea typeface="Arial"/>
                <a:cs typeface="Arial"/>
              </a:defRPr>
            </a:defPPr>
          </a:lstStyle>
          <a:p xmlns:a="http://schemas.openxmlformats.org/drawingml/2006/main">
            <a:pPr algn="ctr">
              <a:defRPr sz="1650" b="0">
                <a:solidFill>
                  <a:srgbClr val="2563EB"/>
                </a:solidFill>
                <a:latin typeface="Arial"/>
                <a:ea typeface="Arial"/>
                <a:cs typeface="Arial"/>
              </a:defRPr>
            </a:pPr>
            <a:r>
              <a:rPr sz="1650" b="0">
                <a:solidFill>
                  <a:srgbClr val="2563EB"/>
                </a:solidFill>
                <a:latin typeface="Arial"/>
                <a:ea typeface="Arial"/>
                <a:cs typeface="Arial"/>
              </a:rPr>
              <a:t>HTTPS</a:t>
            </a:r>
          </a:p>
        </p:txBody>
      </p:sp>
      <p:sp>
        <p:nvSpPr>
          <p:cNvPr id="17" name="http">
            <a:extLst xmlns:a="http://schemas.openxmlformats.org/drawingml/2006/main">
              <a:ext uri="{FF2B5EF4-FFF2-40B4-BE49-F238E27FC236}">
                <a16:creationId xmlns:a16="http://schemas.microsoft.com/office/drawing/2014/main" id="{0B55DE8A-8574-4BEB-AECB-302E83EC6195}"/>
              </a:ext>
            </a:extLst>
          </p:cNvPr>
          <p:cNvSpPr>
            <a:spLocks xmlns:a="http://schemas.openxmlformats.org/drawingml/2006/main" noGrp="1"/>
          </p:cNvSpPr>
          <p:nvPr/>
        </p:nvSpPr>
        <p:spPr>
          <a:xfrm xmlns:a="http://schemas.openxmlformats.org/drawingml/2006/main">
            <a:off x="7953375" y="3324225"/>
            <a:ext cx="257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563EB"/>
                </a:solidFill>
                <a:latin typeface="Arial"/>
                <a:ea typeface="Arial"/>
                <a:cs typeface="Arial"/>
              </a:defRPr>
            </a:defPPr>
          </a:lstStyle>
          <a:p xmlns:a="http://schemas.openxmlformats.org/drawingml/2006/main">
            <a:pPr algn="l">
              <a:defRPr sz="1650" b="0">
                <a:solidFill>
                  <a:srgbClr val="2563EB"/>
                </a:solidFill>
                <a:latin typeface="Arial"/>
                <a:ea typeface="Arial"/>
                <a:cs typeface="Arial"/>
              </a:defRPr>
            </a:pPr>
            <a:r>
              <a:rPr sz="1650" b="0">
                <a:solidFill>
                  <a:srgbClr val="2563EB"/>
                </a:solidFill>
                <a:latin typeface="Arial"/>
                <a:ea typeface="Arial"/>
                <a:cs typeface="Arial"/>
              </a:rPr>
              <a:t>Authenticated HTTP</a:t>
            </a:r>
          </a:p>
        </p:txBody>
      </p:sp>
      <p:sp>
        <p:nvSpPr>
          <p:cNvPr id="19" name="sso">
            <a:extLst xmlns:a="http://schemas.openxmlformats.org/drawingml/2006/main">
              <a:ext uri="{FF2B5EF4-FFF2-40B4-BE49-F238E27FC236}">
                <a16:creationId xmlns:a16="http://schemas.microsoft.com/office/drawing/2014/main" id="{3CDE01A7-49BC-4644-97D8-78050DCD8C56}"/>
              </a:ext>
            </a:extLst>
          </p:cNvPr>
          <p:cNvSpPr>
            <a:spLocks xmlns:a="http://schemas.openxmlformats.org/drawingml/2006/main" noGrp="1"/>
          </p:cNvSpPr>
          <p:nvPr/>
        </p:nvSpPr>
        <p:spPr>
          <a:xfrm xmlns:a="http://schemas.openxmlformats.org/drawingml/2006/main">
            <a:off x="3667125" y="4000500"/>
            <a:ext cx="166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650" b="0">
                <a:solidFill>
                  <a:srgbClr val="7C3AED"/>
                </a:solidFill>
                <a:latin typeface="Arial"/>
                <a:ea typeface="Arial"/>
                <a:cs typeface="Arial"/>
              </a:defRPr>
            </a:defPPr>
          </a:lstStyle>
          <a:p xmlns:a="http://schemas.openxmlformats.org/drawingml/2006/main">
            <a:pPr algn="ctr">
              <a:defRPr sz="1650" b="0">
                <a:solidFill>
                  <a:srgbClr val="7C3AED"/>
                </a:solidFill>
                <a:latin typeface="Arial"/>
                <a:ea typeface="Arial"/>
                <a:cs typeface="Arial"/>
              </a:defRPr>
            </a:pPr>
            <a:r>
              <a:rPr sz="1650" b="0">
                <a:solidFill>
                  <a:srgbClr val="7C3AED"/>
                </a:solidFill>
                <a:latin typeface="Arial"/>
                <a:ea typeface="Arial"/>
                <a:cs typeface="Arial"/>
              </a:rPr>
              <a:t>SSO / groups</a:t>
            </a:r>
          </a:p>
        </p:txBody>
      </p:sp>
      <p:cxnSp>
        <p:nvCxnSpPr>
          <p:cNvPr id="21" name="graph-call-1">
            <a:extLst xmlns:a="http://schemas.openxmlformats.org/drawingml/2006/main">
              <a:ext uri="{FF2B5EF4-FFF2-40B4-BE49-F238E27FC236}">
                <a16:creationId xmlns:a16="http://schemas.microsoft.com/office/drawing/2014/main" id="{5BE18B49-5222-4195-9A27-15E67A537C1C}"/>
              </a:ext>
            </a:extLst>
          </p:cNvPr>
          <p:cNvCxnSpPr/>
          <p:nvPr/>
        </p:nvCxnSpPr>
        <p:spPr>
          <a:xfrm xmlns:a="http://schemas.openxmlformats.org/drawingml/2006/main" flipH="0" flipV="0">
            <a:off x="10067925" y="4286250"/>
            <a:ext cx="933450" cy="0"/>
          </a:xfrm>
          <a:prstGeom xmlns:a="http://schemas.openxmlformats.org/drawingml/2006/main" prst="straightConnector1">
            <a:avLst/>
          </a:prstGeom>
          <a:ln xmlns:a="http://schemas.openxmlformats.org/drawingml/2006/main" w="23813">
            <a:solidFill>
              <a:srgbClr val="0891B2"/>
            </a:solidFill>
            <a:prstDash val="solid"/>
          </a:ln>
        </p:spPr>
      </p:cxnSp>
      <p:cxnSp>
        <p:nvCxnSpPr>
          <p:cNvPr id="22" name="graph-call-2">
            <a:extLst xmlns:a="http://schemas.openxmlformats.org/drawingml/2006/main">
              <a:ext uri="{FF2B5EF4-FFF2-40B4-BE49-F238E27FC236}">
                <a16:creationId xmlns:a16="http://schemas.microsoft.com/office/drawing/2014/main" id="{6CD87005-3E1E-48AD-9D6F-C792B561CA37}"/>
              </a:ext>
            </a:extLst>
          </p:cNvPr>
          <p:cNvCxnSpPr/>
          <p:nvPr/>
        </p:nvCxnSpPr>
        <p:spPr>
          <a:xfrm xmlns:a="http://schemas.openxmlformats.org/drawingml/2006/main" flipH="0" flipV="1">
            <a:off x="11001375" y="2581275"/>
            <a:ext cx="0" cy="1704975"/>
          </a:xfrm>
          <a:prstGeom xmlns:a="http://schemas.openxmlformats.org/drawingml/2006/main" prst="straightConnector1">
            <a:avLst/>
          </a:prstGeom>
          <a:ln xmlns:a="http://schemas.openxmlformats.org/drawingml/2006/main" w="23813">
            <a:solidFill>
              <a:srgbClr val="0891B2"/>
            </a:solidFill>
            <a:prstDash val="solid"/>
          </a:ln>
        </p:spPr>
      </p:cxnSp>
      <p:cxnSp>
        <p:nvCxnSpPr>
          <p:cNvPr id="23" name="graph-call-3">
            <a:extLst xmlns:a="http://schemas.openxmlformats.org/drawingml/2006/main">
              <a:ext uri="{FF2B5EF4-FFF2-40B4-BE49-F238E27FC236}">
                <a16:creationId xmlns:a16="http://schemas.microsoft.com/office/drawing/2014/main" id="{AFE6DCFF-921F-475F-9F89-EEC436737259}"/>
              </a:ext>
            </a:extLst>
          </p:cNvPr>
          <p:cNvCxnSpPr/>
          <p:nvPr/>
        </p:nvCxnSpPr>
        <p:spPr>
          <a:xfrm xmlns:a="http://schemas.openxmlformats.org/drawingml/2006/main" flipH="0" flipV="0">
            <a:off x="11001375" y="2581275"/>
            <a:ext cx="714375" cy="0"/>
          </a:xfrm>
          <a:prstGeom xmlns:a="http://schemas.openxmlformats.org/drawingml/2006/main" prst="straightConnector1">
            <a:avLst/>
          </a:prstGeom>
          <a:ln xmlns:a="http://schemas.openxmlformats.org/drawingml/2006/main" w="23813">
            <a:solidFill>
              <a:srgbClr val="0891B2"/>
            </a:solidFill>
            <a:prstDash val="solid"/>
            <a:tailEnd type="arrow" w="med" len="med"/>
          </a:ln>
        </p:spPr>
      </p:cxnSp>
      <p:cxnSp>
        <p:nvCxnSpPr>
          <p:cNvPr id="24" name="model-call-1">
            <a:extLst xmlns:a="http://schemas.openxmlformats.org/drawingml/2006/main">
              <a:ext uri="{FF2B5EF4-FFF2-40B4-BE49-F238E27FC236}">
                <a16:creationId xmlns:a16="http://schemas.microsoft.com/office/drawing/2014/main" id="{AEF44207-4AFC-4CE9-BB28-3932A66ACD95}"/>
              </a:ext>
            </a:extLst>
          </p:cNvPr>
          <p:cNvCxnSpPr/>
          <p:nvPr/>
        </p:nvCxnSpPr>
        <p:spPr>
          <a:xfrm xmlns:a="http://schemas.openxmlformats.org/drawingml/2006/main" flipH="0" flipV="0">
            <a:off x="10067925" y="5086350"/>
            <a:ext cx="600075" cy="0"/>
          </a:xfrm>
          <a:prstGeom xmlns:a="http://schemas.openxmlformats.org/drawingml/2006/main" prst="straightConnector1">
            <a:avLst/>
          </a:prstGeom>
          <a:ln xmlns:a="http://schemas.openxmlformats.org/drawingml/2006/main" w="23813">
            <a:solidFill>
              <a:srgbClr val="EA580C"/>
            </a:solidFill>
            <a:prstDash val="solid"/>
          </a:ln>
        </p:spPr>
      </p:cxnSp>
      <p:cxnSp>
        <p:nvCxnSpPr>
          <p:cNvPr id="25" name="model-call-2">
            <a:extLst xmlns:a="http://schemas.openxmlformats.org/drawingml/2006/main">
              <a:ext uri="{FF2B5EF4-FFF2-40B4-BE49-F238E27FC236}">
                <a16:creationId xmlns:a16="http://schemas.microsoft.com/office/drawing/2014/main" id="{772FFCD0-B766-4B3F-ABC6-90B8348625A7}"/>
              </a:ext>
            </a:extLst>
          </p:cNvPr>
          <p:cNvCxnSpPr/>
          <p:nvPr/>
        </p:nvCxnSpPr>
        <p:spPr>
          <a:xfrm xmlns:a="http://schemas.openxmlformats.org/drawingml/2006/main" flipH="0" flipV="1">
            <a:off x="10668000" y="4562475"/>
            <a:ext cx="0" cy="523875"/>
          </a:xfrm>
          <a:prstGeom xmlns:a="http://schemas.openxmlformats.org/drawingml/2006/main" prst="straightConnector1">
            <a:avLst/>
          </a:prstGeom>
          <a:ln xmlns:a="http://schemas.openxmlformats.org/drawingml/2006/main" w="23813">
            <a:solidFill>
              <a:srgbClr val="EA580C"/>
            </a:solidFill>
            <a:prstDash val="solid"/>
          </a:ln>
        </p:spPr>
      </p:cxnSp>
      <p:cxnSp>
        <p:nvCxnSpPr>
          <p:cNvPr id="26" name="model-call-3">
            <a:extLst xmlns:a="http://schemas.openxmlformats.org/drawingml/2006/main">
              <a:ext uri="{FF2B5EF4-FFF2-40B4-BE49-F238E27FC236}">
                <a16:creationId xmlns:a16="http://schemas.microsoft.com/office/drawing/2014/main" id="{548A98EB-1CD0-4E3C-A02A-4063AE8B59E8}"/>
              </a:ext>
            </a:extLst>
          </p:cNvPr>
          <p:cNvCxnSpPr/>
          <p:nvPr/>
        </p:nvCxnSpPr>
        <p:spPr>
          <a:xfrm xmlns:a="http://schemas.openxmlformats.org/drawingml/2006/main" flipH="0" flipV="0">
            <a:off x="10668000" y="4562475"/>
            <a:ext cx="1047750" cy="0"/>
          </a:xfrm>
          <a:prstGeom xmlns:a="http://schemas.openxmlformats.org/drawingml/2006/main" prst="straightConnector1">
            <a:avLst/>
          </a:prstGeom>
          <a:ln xmlns:a="http://schemas.openxmlformats.org/drawingml/2006/main" w="23813">
            <a:solidFill>
              <a:srgbClr val="EA580C"/>
            </a:solidFill>
            <a:prstDash val="solid"/>
            <a:tailEnd type="arrow" w="med" len="med"/>
          </a:ln>
        </p:spPr>
      </p:cxnSp>
      <p:cxnSp>
        <p:nvCxnSpPr>
          <p:cNvPr id="27" name="artifact-call-1">
            <a:extLst xmlns:a="http://schemas.openxmlformats.org/drawingml/2006/main">
              <a:ext uri="{FF2B5EF4-FFF2-40B4-BE49-F238E27FC236}">
                <a16:creationId xmlns:a16="http://schemas.microsoft.com/office/drawing/2014/main" id="{55953912-F800-4503-ABDC-2D46C6B7858B}"/>
              </a:ext>
            </a:extLst>
          </p:cNvPr>
          <p:cNvCxnSpPr/>
          <p:nvPr/>
        </p:nvCxnSpPr>
        <p:spPr>
          <a:xfrm xmlns:a="http://schemas.openxmlformats.org/drawingml/2006/main" flipH="0" flipV="0">
            <a:off x="10067925" y="5905500"/>
            <a:ext cx="1219200" cy="0"/>
          </a:xfrm>
          <a:prstGeom xmlns:a="http://schemas.openxmlformats.org/drawingml/2006/main" prst="straightConnector1">
            <a:avLst/>
          </a:prstGeom>
          <a:ln xmlns:a="http://schemas.openxmlformats.org/drawingml/2006/main" w="23813">
            <a:solidFill>
              <a:srgbClr val="64748B"/>
            </a:solidFill>
            <a:prstDash val="solid"/>
          </a:ln>
        </p:spPr>
      </p:cxnSp>
      <p:cxnSp>
        <p:nvCxnSpPr>
          <p:cNvPr id="28" name="artifact-call-2">
            <a:extLst xmlns:a="http://schemas.openxmlformats.org/drawingml/2006/main">
              <a:ext uri="{FF2B5EF4-FFF2-40B4-BE49-F238E27FC236}">
                <a16:creationId xmlns:a16="http://schemas.microsoft.com/office/drawing/2014/main" id="{34D0BD0F-5283-4365-AAEC-DBE84F6F6D0E}"/>
              </a:ext>
            </a:extLst>
          </p:cNvPr>
          <p:cNvCxnSpPr/>
          <p:nvPr/>
        </p:nvCxnSpPr>
        <p:spPr>
          <a:xfrm xmlns:a="http://schemas.openxmlformats.org/drawingml/2006/main" flipH="0" flipV="0">
            <a:off x="11287125" y="5905500"/>
            <a:ext cx="0" cy="95250"/>
          </a:xfrm>
          <a:prstGeom xmlns:a="http://schemas.openxmlformats.org/drawingml/2006/main" prst="straightConnector1">
            <a:avLst/>
          </a:prstGeom>
          <a:ln xmlns:a="http://schemas.openxmlformats.org/drawingml/2006/main" w="23813">
            <a:solidFill>
              <a:srgbClr val="64748B"/>
            </a:solidFill>
            <a:prstDash val="solid"/>
          </a:ln>
        </p:spPr>
      </p:cxnSp>
      <p:cxnSp>
        <p:nvCxnSpPr>
          <p:cNvPr id="29" name="artifact-call-3">
            <a:extLst xmlns:a="http://schemas.openxmlformats.org/drawingml/2006/main">
              <a:ext uri="{FF2B5EF4-FFF2-40B4-BE49-F238E27FC236}">
                <a16:creationId xmlns:a16="http://schemas.microsoft.com/office/drawing/2014/main" id="{94936629-EB89-470C-8F5A-C32B5F98DBCF}"/>
              </a:ext>
            </a:extLst>
          </p:cNvPr>
          <p:cNvCxnSpPr/>
          <p:nvPr/>
        </p:nvCxnSpPr>
        <p:spPr>
          <a:xfrm xmlns:a="http://schemas.openxmlformats.org/drawingml/2006/main" flipH="0" flipV="0">
            <a:off x="11287125" y="6000750"/>
            <a:ext cx="428625" cy="0"/>
          </a:xfrm>
          <a:prstGeom xmlns:a="http://schemas.openxmlformats.org/drawingml/2006/main" prst="straightConnector1">
            <a:avLst/>
          </a:prstGeom>
          <a:ln xmlns:a="http://schemas.openxmlformats.org/drawingml/2006/main" w="23813">
            <a:solidFill>
              <a:srgbClr val="64748B"/>
            </a:solidFill>
            <a:prstDash val="solid"/>
            <a:tailEnd type="arrow" w="med" len="med"/>
          </a:ln>
        </p:spPr>
      </p:cxnSp>
      <p:sp>
        <p:nvSpPr>
          <p:cNvPr id="31" name="jdbc">
            <a:extLst xmlns:a="http://schemas.openxmlformats.org/drawingml/2006/main">
              <a:ext uri="{FF2B5EF4-FFF2-40B4-BE49-F238E27FC236}">
                <a16:creationId xmlns:a16="http://schemas.microsoft.com/office/drawing/2014/main" id="{E9897988-2994-4635-84B1-5EA9E14402EC}"/>
              </a:ext>
            </a:extLst>
          </p:cNvPr>
          <p:cNvSpPr>
            <a:spLocks xmlns:a="http://schemas.openxmlformats.org/drawingml/2006/main" noGrp="1"/>
          </p:cNvSpPr>
          <p:nvPr/>
        </p:nvSpPr>
        <p:spPr>
          <a:xfrm xmlns:a="http://schemas.openxmlformats.org/drawingml/2006/main">
            <a:off x="8286750" y="6496050"/>
            <a:ext cx="257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4748B"/>
                </a:solidFill>
                <a:latin typeface="Arial"/>
                <a:ea typeface="Arial"/>
                <a:cs typeface="Arial"/>
              </a:defRPr>
            </a:defPPr>
          </a:lstStyle>
          <a:p xmlns:a="http://schemas.openxmlformats.org/drawingml/2006/main">
            <a:pPr algn="l">
              <a:defRPr sz="1650" b="0">
                <a:solidFill>
                  <a:srgbClr val="64748B"/>
                </a:solidFill>
                <a:latin typeface="Arial"/>
                <a:ea typeface="Arial"/>
                <a:cs typeface="Arial"/>
              </a:defRPr>
            </a:pPr>
            <a:r>
              <a:rPr sz="1650" b="0">
                <a:solidFill>
                  <a:srgbClr val="64748B"/>
                </a:solidFill>
                <a:latin typeface="Arial"/>
                <a:ea typeface="Arial"/>
                <a:cs typeface="Arial"/>
              </a:rPr>
              <a:t>Transactions / JDBC</a:t>
            </a:r>
          </a:p>
        </p:txBody>
      </p:sp>
      <p:cxnSp>
        <p:nvCxnSpPr>
          <p:cNvPr id="32" name="telemetry-1">
            <a:extLst xmlns:a="http://schemas.openxmlformats.org/drawingml/2006/main">
              <a:ext uri="{FF2B5EF4-FFF2-40B4-BE49-F238E27FC236}">
                <a16:creationId xmlns:a16="http://schemas.microsoft.com/office/drawing/2014/main" id="{582AF159-AFE1-45FB-92DD-CB3CD130C08C}"/>
              </a:ext>
            </a:extLst>
          </p:cNvPr>
          <p:cNvCxnSpPr/>
          <p:nvPr/>
        </p:nvCxnSpPr>
        <p:spPr>
          <a:xfrm xmlns:a="http://schemas.openxmlformats.org/drawingml/2006/main" flipH="1" flipV="0">
            <a:off x="4286250" y="6000750"/>
            <a:ext cx="1209675" cy="0"/>
          </a:xfrm>
          <a:prstGeom xmlns:a="http://schemas.openxmlformats.org/drawingml/2006/main" prst="straightConnector1">
            <a:avLst/>
          </a:prstGeom>
          <a:ln xmlns:a="http://schemas.openxmlformats.org/drawingml/2006/main" w="23813">
            <a:solidFill>
              <a:srgbClr val="A07806"/>
            </a:solidFill>
            <a:prstDash val="dash"/>
          </a:ln>
        </p:spPr>
      </p:cxnSp>
      <p:cxnSp>
        <p:nvCxnSpPr>
          <p:cNvPr id="33" name="telemetry-2">
            <a:extLst xmlns:a="http://schemas.openxmlformats.org/drawingml/2006/main">
              <a:ext uri="{FF2B5EF4-FFF2-40B4-BE49-F238E27FC236}">
                <a16:creationId xmlns:a16="http://schemas.microsoft.com/office/drawing/2014/main" id="{D06FB53A-18F7-4E7E-B16B-DCBDF268AF8C}"/>
              </a:ext>
            </a:extLst>
          </p:cNvPr>
          <p:cNvCxnSpPr/>
          <p:nvPr/>
        </p:nvCxnSpPr>
        <p:spPr>
          <a:xfrm xmlns:a="http://schemas.openxmlformats.org/drawingml/2006/main" flipH="0" flipV="0">
            <a:off x="4286250" y="6000750"/>
            <a:ext cx="0" cy="1476375"/>
          </a:xfrm>
          <a:prstGeom xmlns:a="http://schemas.openxmlformats.org/drawingml/2006/main" prst="straightConnector1">
            <a:avLst/>
          </a:prstGeom>
          <a:ln xmlns:a="http://schemas.openxmlformats.org/drawingml/2006/main" w="23813">
            <a:solidFill>
              <a:srgbClr val="A07806"/>
            </a:solidFill>
            <a:prstDash val="dash"/>
          </a:ln>
        </p:spPr>
      </p:cxnSp>
      <p:cxnSp>
        <p:nvCxnSpPr>
          <p:cNvPr id="34" name="telemetry-3">
            <a:extLst xmlns:a="http://schemas.openxmlformats.org/drawingml/2006/main">
              <a:ext uri="{FF2B5EF4-FFF2-40B4-BE49-F238E27FC236}">
                <a16:creationId xmlns:a16="http://schemas.microsoft.com/office/drawing/2014/main" id="{F048A1B5-14B2-43DF-8D1F-E6C4913ADE4A}"/>
              </a:ext>
            </a:extLst>
          </p:cNvPr>
          <p:cNvCxnSpPr/>
          <p:nvPr/>
        </p:nvCxnSpPr>
        <p:spPr>
          <a:xfrm xmlns:a="http://schemas.openxmlformats.org/drawingml/2006/main" flipH="1" flipV="0">
            <a:off x="3467100" y="7477125"/>
            <a:ext cx="819150" cy="0"/>
          </a:xfrm>
          <a:prstGeom xmlns:a="http://schemas.openxmlformats.org/drawingml/2006/main" prst="straightConnector1">
            <a:avLst/>
          </a:prstGeom>
          <a:ln xmlns:a="http://schemas.openxmlformats.org/drawingml/2006/main" w="23813">
            <a:solidFill>
              <a:srgbClr val="A07806"/>
            </a:solidFill>
            <a:prstDash val="dash"/>
            <a:tailEnd type="arrow" w="med" len="med"/>
          </a:ln>
        </p:spPr>
      </p:cxnSp>
      <p:sp>
        <p:nvSpPr>
          <p:cNvPr id="35" name="health">
            <a:extLst xmlns:a="http://schemas.openxmlformats.org/drawingml/2006/main">
              <a:ext uri="{FF2B5EF4-FFF2-40B4-BE49-F238E27FC236}">
                <a16:creationId xmlns:a16="http://schemas.microsoft.com/office/drawing/2014/main" id="{8EF40E56-3C49-4F4C-A61C-8DCFE1D32CD6}"/>
              </a:ext>
            </a:extLst>
          </p:cNvPr>
          <p:cNvSpPr>
            <a:spLocks xmlns:a="http://schemas.openxmlformats.org/drawingml/2006/main" noGrp="1"/>
          </p:cNvSpPr>
          <p:nvPr/>
        </p:nvSpPr>
        <p:spPr>
          <a:xfrm xmlns:a="http://schemas.openxmlformats.org/drawingml/2006/main">
            <a:off x="609600" y="8143875"/>
            <a:ext cx="1257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6677A"/>
                </a:solidFill>
                <a:latin typeface="Arial"/>
                <a:ea typeface="Arial"/>
                <a:cs typeface="Arial"/>
              </a:defRPr>
            </a:defPPr>
          </a:lstStyle>
          <a:p xmlns:a="http://schemas.openxmlformats.org/drawingml/2006/main">
            <a:pPr algn="l">
              <a:defRPr sz="1575" b="0">
                <a:solidFill>
                  <a:srgbClr val="56677A"/>
                </a:solidFill>
                <a:latin typeface="Arial"/>
                <a:ea typeface="Arial"/>
                <a:cs typeface="Arial"/>
              </a:defRPr>
            </a:pPr>
            <a:r>
              <a:rPr sz="1575" b="0">
                <a:solidFill>
                  <a:srgbClr val="56677A"/>
                </a:solidFill>
                <a:latin typeface="Arial"/>
                <a:ea typeface="Arial"/>
                <a:cs typeface="Arial"/>
              </a:rPr>
              <a:t>Managed runtime: health probes, ready-only routing, replica replacement and graceful rollout</a:t>
            </a:r>
          </a:p>
        </p:txBody>
      </p:sp>
    </p:spTree>
    <p:extLst>
      <p:ext uri="{BB962C8B-B14F-4D97-AF65-F5344CB8AC3E}">
        <p14:creationId xmlns:p14="http://schemas.microsoft.com/office/powerpoint/2010/main" val="54518266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0CA62B14-EC1A-4529-AC32-9C783CB24F25}"/>
              </a:ext>
            </a:extLst>
          </p:cNvPr>
          <p:cNvSpPr>
            <a:spLocks xmlns:a="http://schemas.openxmlformats.org/drawingml/2006/main" noGrp="1"/>
          </p:cNvSpPr>
          <p:nvPr/>
        </p:nvSpPr>
        <p:spPr>
          <a:xfrm xmlns:a="http://schemas.openxmlformats.org/drawingml/2006/main">
            <a:off x="609600" y="419100"/>
            <a:ext cx="1400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132B45"/>
                </a:solidFill>
                <a:latin typeface="Arial"/>
                <a:ea typeface="Arial"/>
                <a:cs typeface="Arial"/>
              </a:defRPr>
            </a:defPPr>
          </a:lstStyle>
          <a:p xmlns:a="http://schemas.openxmlformats.org/drawingml/2006/main">
            <a:pPr algn="l">
              <a:defRPr sz="3600" b="1">
                <a:solidFill>
                  <a:srgbClr val="132B45"/>
                </a:solidFill>
                <a:latin typeface="Arial"/>
                <a:ea typeface="Arial"/>
                <a:cs typeface="Arial"/>
              </a:defRPr>
            </a:pPr>
            <a:r>
              <a:rPr sz="3600" b="1">
                <a:solidFill>
                  <a:srgbClr val="132B45"/>
                </a:solidFill>
                <a:latin typeface="Arial"/>
                <a:ea typeface="Arial"/>
                <a:cs typeface="Arial"/>
              </a:rPr>
              <a:t>Delivery Milestones and Estimated Project Cost</a:t>
            </a:r>
          </a:p>
        </p:txBody>
      </p:sp>
      <p:sp>
        <p:nvSpPr>
          <p:cNvPr id="2" name="page">
            <a:extLst xmlns:a="http://schemas.openxmlformats.org/drawingml/2006/main">
              <a:ext uri="{FF2B5EF4-FFF2-40B4-BE49-F238E27FC236}">
                <a16:creationId xmlns:a16="http://schemas.microsoft.com/office/drawing/2014/main" id="{0D604979-64B4-4AC5-97E5-3BDF699DD900}"/>
              </a:ext>
            </a:extLst>
          </p:cNvPr>
          <p:cNvSpPr>
            <a:spLocks xmlns:a="http://schemas.openxmlformats.org/drawingml/2006/main" noGrp="1"/>
          </p:cNvSpPr>
          <p:nvPr/>
        </p:nvSpPr>
        <p:spPr>
          <a:xfrm xmlns:a="http://schemas.openxmlformats.org/drawingml/2006/main">
            <a:off x="13811250" y="8143875"/>
            <a:ext cx="819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6677A"/>
                </a:solidFill>
                <a:latin typeface="Arial"/>
                <a:ea typeface="Arial"/>
                <a:cs typeface="Arial"/>
              </a:defRPr>
            </a:defPPr>
          </a:lstStyle>
          <a:p xmlns:a="http://schemas.openxmlformats.org/drawingml/2006/main">
            <a:pPr algn="r">
              <a:defRPr sz="1500" b="0">
                <a:solidFill>
                  <a:srgbClr val="56677A"/>
                </a:solidFill>
                <a:latin typeface="Arial"/>
                <a:ea typeface="Arial"/>
                <a:cs typeface="Arial"/>
              </a:defRPr>
            </a:pPr>
            <a:r>
              <a:rPr sz="1500" b="0">
                <a:solidFill>
                  <a:srgbClr val="56677A"/>
                </a:solidFill>
                <a:latin typeface="Arial"/>
                <a:ea typeface="Arial"/>
                <a:cs typeface="Arial"/>
              </a:rPr>
              <a:t>5 / 5</a:t>
            </a:r>
          </a:p>
        </p:txBody>
      </p:sp>
      <p:sp>
        <p:nvSpPr>
          <p:cNvPr id="3" name="window">
            <a:extLst xmlns:a="http://schemas.openxmlformats.org/drawingml/2006/main">
              <a:ext uri="{FF2B5EF4-FFF2-40B4-BE49-F238E27FC236}">
                <a16:creationId xmlns:a16="http://schemas.microsoft.com/office/drawing/2014/main" id="{ABA1556D-5C93-4AA1-8BB0-EBE429C05599}"/>
              </a:ext>
            </a:extLst>
          </p:cNvPr>
          <p:cNvSpPr>
            <a:spLocks xmlns:a="http://schemas.openxmlformats.org/drawingml/2006/main" noGrp="1"/>
          </p:cNvSpPr>
          <p:nvPr/>
        </p:nvSpPr>
        <p:spPr>
          <a:xfrm xmlns:a="http://schemas.openxmlformats.org/drawingml/2006/main">
            <a:off x="609600" y="1238250"/>
            <a:ext cx="13716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56677A"/>
                </a:solidFill>
                <a:latin typeface="Arial"/>
                <a:ea typeface="Arial"/>
                <a:cs typeface="Arial"/>
              </a:defRPr>
            </a:defPPr>
          </a:lstStyle>
          <a:p xmlns:a="http://schemas.openxmlformats.org/drawingml/2006/main">
            <a:pPr algn="l">
              <a:defRPr sz="2175" b="0">
                <a:solidFill>
                  <a:srgbClr val="56677A"/>
                </a:solidFill>
                <a:latin typeface="Arial"/>
                <a:ea typeface="Arial"/>
                <a:cs typeface="Arial"/>
              </a:defRPr>
            </a:pPr>
            <a:r>
              <a:rPr sz="2175" b="0">
                <a:solidFill>
                  <a:srgbClr val="56677A"/>
                </a:solidFill>
                <a:latin typeface="Arial"/>
                <a:ea typeface="Arial"/>
                <a:cs typeface="Arial"/>
              </a:rPr>
              <a:t>Delivery window: 2 Nov 2026 to 5 Mar 2027</a:t>
            </a:r>
          </a:p>
        </p:txBody>
      </p:sp>
      <p:graphicFrame>
        <p:nvGraphicFramePr>
          <p:cNvPr id="4" name="">
            <a:extLst xmlns:a="http://schemas.openxmlformats.org/drawingml/2006/main">
              <a:ext uri="{FF2B5EF4-FFF2-40B4-BE49-F238E27FC236}">
                <a16:creationId xmlns:a16="http://schemas.microsoft.com/office/drawing/2014/main" id="{06B7C8A0-521E-4798-BF3D-BF23ECD38CD2}"/>
              </a:ext>
            </a:extLst>
          </p:cNvPr>
          <p:cNvGraphicFramePr/>
          <p:nvPr/>
        </p:nvGraphicFramePr>
        <p:xfrm>
          <a:off xmlns:a="http://schemas.openxmlformats.org/drawingml/2006/main" x="609600" y="1981200"/>
          <a:ext xmlns:a="http://schemas.openxmlformats.org/drawingml/2006/main" cx="8286750" cy="5448300"/>
        </p:xfrm>
        <a:graphic xmlns:a="http://schemas.openxmlformats.org/drawingml/2006/main">
          <a:graphicData uri="http://schemas.openxmlformats.org/drawingml/2006/table">
            <a:tbl>
              <a:tblPr firstRow="1" bandRow="0"/>
              <a:tblGrid>
                <a:gridCol w="5524500"/>
                <a:gridCol w="2762250"/>
              </a:tblGrid>
              <a:tr h="389164">
                <a:tc>
                  <a:txBody>
                    <a:bodyPr/>
                    <a:lstStyle/>
                    <a:p>
                      <a:r>
                        <a:rPr sz="1725" b="1">
                          <a:solidFill>
                            <a:srgbClr val="FFFFFF"/>
                          </a:solidFill>
                          <a:latin typeface="Arial"/>
                          <a:ea typeface="Arial"/>
                          <a:cs typeface="Arial"/>
                        </a:rPr>
                        <a:t>Milestone</a:t>
                      </a:r>
                    </a:p>
                  </a:txBody>
                  <a:tcPr marL="114300" marR="114300" marT="28575" marB="28575" anchor="ctr">
                    <a:lnL w="6668">
                      <a:solidFill>
                        <a:srgbClr val="DFE5EC"/>
                      </a:solidFill>
                      <a:prstDash val="solid"/>
                    </a:lnL>
                    <a:lnR w="6668">
                      <a:solidFill>
                        <a:srgbClr val="DFE5EC"/>
                      </a:solidFill>
                      <a:prstDash val="solid"/>
                    </a:lnR>
                    <a:lnT w="6668">
                      <a:solidFill>
                        <a:srgbClr val="DFE5EC"/>
                      </a:solidFill>
                      <a:prstDash val="solid"/>
                    </a:lnT>
                    <a:lnB w="6668">
                      <a:solidFill>
                        <a:srgbClr val="DFE5EC"/>
                      </a:solidFill>
                      <a:prstDash val="solid"/>
                    </a:lnB>
                    <a:solidFill>
                      <a:srgbClr val="132B45"/>
                    </a:solidFill>
                  </a:tcPr>
                </a:tc>
                <a:tc>
                  <a:txBody>
                    <a:bodyPr/>
                    <a:lstStyle/>
                    <a:p>
                      <a:r>
                        <a:rPr sz="1725" b="1">
                          <a:solidFill>
                            <a:srgbClr val="FFFFFF"/>
                          </a:solidFill>
                          <a:latin typeface="Arial"/>
                          <a:ea typeface="Arial"/>
                          <a:cs typeface="Arial"/>
                        </a:rPr>
                        <a:t>Planned date</a:t>
                      </a:r>
                    </a:p>
                  </a:txBody>
                  <a:tcPr marL="114300" marR="114300" marT="28575" marB="28575" anchor="ctr">
                    <a:lnR w="6668">
                      <a:solidFill>
                        <a:srgbClr val="DFE5EC"/>
                      </a:solidFill>
                      <a:prstDash val="solid"/>
                    </a:lnR>
                    <a:lnT w="6668">
                      <a:solidFill>
                        <a:srgbClr val="DFE5EC"/>
                      </a:solidFill>
                      <a:prstDash val="solid"/>
                    </a:lnT>
                    <a:lnB w="6668">
                      <a:solidFill>
                        <a:srgbClr val="DFE5EC"/>
                      </a:solidFill>
                      <a:prstDash val="solid"/>
                    </a:lnB>
                    <a:solidFill>
                      <a:srgbClr val="132B45"/>
                    </a:solidFill>
                  </a:tcPr>
                </a:tc>
              </a:tr>
              <a:tr h="389164">
                <a:tc>
                  <a:txBody>
                    <a:bodyPr/>
                    <a:lstStyle/>
                    <a:p>
                      <a:r>
                        <a:rPr sz="1725">
                          <a:solidFill>
                            <a:srgbClr val="132B45"/>
                          </a:solidFill>
                          <a:latin typeface="Arial"/>
                          <a:ea typeface="Arial"/>
                          <a:cs typeface="Arial"/>
                        </a:rPr>
                        <a:t>Project kickoff</a:t>
                      </a:r>
                    </a:p>
                  </a:txBody>
                  <a:tcPr marL="114300" marR="114300" marT="28575" marB="28575" anchor="ctr">
                    <a:lnL w="6668">
                      <a:solidFill>
                        <a:srgbClr val="DFE5EC"/>
                      </a:solidFill>
                      <a:prstDash val="solid"/>
                    </a:lnL>
                    <a:lnR w="6668">
                      <a:solidFill>
                        <a:srgbClr val="DFE5EC"/>
                      </a:solidFill>
                      <a:prstDash val="solid"/>
                    </a:lnR>
                    <a:lnB w="6668">
                      <a:solidFill>
                        <a:srgbClr val="DFE5EC"/>
                      </a:solidFill>
                      <a:prstDash val="solid"/>
                    </a:lnB>
                    <a:solidFill>
                      <a:srgbClr val="FFFFFF"/>
                    </a:solidFill>
                  </a:tcPr>
                </a:tc>
                <a:tc>
                  <a:txBody>
                    <a:bodyPr/>
                    <a:lstStyle/>
                    <a:p>
                      <a:r>
                        <a:rPr sz="1725">
                          <a:solidFill>
                            <a:srgbClr val="132B45"/>
                          </a:solidFill>
                          <a:latin typeface="Arial"/>
                          <a:ea typeface="Arial"/>
                          <a:cs typeface="Arial"/>
                        </a:rPr>
                        <a:t>02 Nov 2026</a:t>
                      </a:r>
                    </a:p>
                  </a:txBody>
                  <a:tcPr marL="114300" marR="114300" marT="28575" marB="28575" anchor="ctr">
                    <a:lnR w="6668">
                      <a:solidFill>
                        <a:srgbClr val="DFE5EC"/>
                      </a:solidFill>
                      <a:prstDash val="solid"/>
                    </a:lnR>
                    <a:lnB w="6668">
                      <a:solidFill>
                        <a:srgbClr val="DFE5EC"/>
                      </a:solidFill>
                      <a:prstDash val="solid"/>
                    </a:lnB>
                    <a:solidFill>
                      <a:srgbClr val="FFFFFF"/>
                    </a:solidFill>
                  </a:tcPr>
                </a:tc>
              </a:tr>
              <a:tr h="389164">
                <a:tc>
                  <a:txBody>
                    <a:bodyPr/>
                    <a:lstStyle/>
                    <a:p>
                      <a:r>
                        <a:rPr sz="1725">
                          <a:solidFill>
                            <a:srgbClr val="132B45"/>
                          </a:solidFill>
                          <a:latin typeface="Arial"/>
                          <a:ea typeface="Arial"/>
                          <a:cs typeface="Arial"/>
                        </a:rPr>
                        <a:t>FSD and UX signoff</a:t>
                      </a:r>
                    </a:p>
                  </a:txBody>
                  <a:tcPr marL="114300" marR="114300" marT="28575" marB="28575" anchor="ctr">
                    <a:lnL w="6668">
                      <a:solidFill>
                        <a:srgbClr val="DFE5EC"/>
                      </a:solidFill>
                      <a:prstDash val="solid"/>
                    </a:lnL>
                    <a:lnR w="6668">
                      <a:solidFill>
                        <a:srgbClr val="DFE5EC"/>
                      </a:solidFill>
                      <a:prstDash val="solid"/>
                    </a:lnR>
                    <a:lnB w="6668">
                      <a:solidFill>
                        <a:srgbClr val="DFE5EC"/>
                      </a:solidFill>
                      <a:prstDash val="solid"/>
                    </a:lnB>
                    <a:solidFill>
                      <a:srgbClr val="FFFFFF"/>
                    </a:solidFill>
                  </a:tcPr>
                </a:tc>
                <a:tc>
                  <a:txBody>
                    <a:bodyPr/>
                    <a:lstStyle/>
                    <a:p>
                      <a:r>
                        <a:rPr sz="1725">
                          <a:solidFill>
                            <a:srgbClr val="132B45"/>
                          </a:solidFill>
                          <a:latin typeface="Arial"/>
                          <a:ea typeface="Arial"/>
                          <a:cs typeface="Arial"/>
                        </a:rPr>
                        <a:t>13 Nov 2026</a:t>
                      </a:r>
                    </a:p>
                  </a:txBody>
                  <a:tcPr marL="114300" marR="114300" marT="28575" marB="28575" anchor="ctr">
                    <a:lnR w="6668">
                      <a:solidFill>
                        <a:srgbClr val="DFE5EC"/>
                      </a:solidFill>
                      <a:prstDash val="solid"/>
                    </a:lnR>
                    <a:lnB w="6668">
                      <a:solidFill>
                        <a:srgbClr val="DFE5EC"/>
                      </a:solidFill>
                      <a:prstDash val="solid"/>
                    </a:lnB>
                    <a:solidFill>
                      <a:srgbClr val="FFFFFF"/>
                    </a:solidFill>
                  </a:tcPr>
                </a:tc>
              </a:tr>
              <a:tr h="389164">
                <a:tc>
                  <a:txBody>
                    <a:bodyPr/>
                    <a:lstStyle/>
                    <a:p>
                      <a:r>
                        <a:rPr sz="1725">
                          <a:solidFill>
                            <a:srgbClr val="132B45"/>
                          </a:solidFill>
                          <a:latin typeface="Arial"/>
                          <a:ea typeface="Arial"/>
                          <a:cs typeface="Arial"/>
                        </a:rPr>
                        <a:t>CI/CD and test environment ready</a:t>
                      </a:r>
                    </a:p>
                  </a:txBody>
                  <a:tcPr marL="114300" marR="114300" marT="28575" marB="28575" anchor="ctr">
                    <a:lnL w="6668">
                      <a:solidFill>
                        <a:srgbClr val="DFE5EC"/>
                      </a:solidFill>
                      <a:prstDash val="solid"/>
                    </a:lnL>
                    <a:lnR w="6668">
                      <a:solidFill>
                        <a:srgbClr val="DFE5EC"/>
                      </a:solidFill>
                      <a:prstDash val="solid"/>
                    </a:lnR>
                    <a:lnB w="6668">
                      <a:solidFill>
                        <a:srgbClr val="DFE5EC"/>
                      </a:solidFill>
                      <a:prstDash val="solid"/>
                    </a:lnB>
                    <a:solidFill>
                      <a:srgbClr val="FFFFFF"/>
                    </a:solidFill>
                  </a:tcPr>
                </a:tc>
                <a:tc>
                  <a:txBody>
                    <a:bodyPr/>
                    <a:lstStyle/>
                    <a:p>
                      <a:r>
                        <a:rPr sz="1725">
                          <a:solidFill>
                            <a:srgbClr val="132B45"/>
                          </a:solidFill>
                          <a:latin typeface="Arial"/>
                          <a:ea typeface="Arial"/>
                          <a:cs typeface="Arial"/>
                        </a:rPr>
                        <a:t>20 Nov 2026</a:t>
                      </a:r>
                    </a:p>
                  </a:txBody>
                  <a:tcPr marL="114300" marR="114300" marT="28575" marB="28575" anchor="ctr">
                    <a:lnR w="6668">
                      <a:solidFill>
                        <a:srgbClr val="DFE5EC"/>
                      </a:solidFill>
                      <a:prstDash val="solid"/>
                    </a:lnR>
                    <a:lnB w="6668">
                      <a:solidFill>
                        <a:srgbClr val="DFE5EC"/>
                      </a:solidFill>
                      <a:prstDash val="solid"/>
                    </a:lnB>
                    <a:solidFill>
                      <a:srgbClr val="FFFFFF"/>
                    </a:solidFill>
                  </a:tcPr>
                </a:tc>
              </a:tr>
              <a:tr h="389164">
                <a:tc>
                  <a:txBody>
                    <a:bodyPr/>
                    <a:lstStyle/>
                    <a:p>
                      <a:r>
                        <a:rPr sz="1725">
                          <a:solidFill>
                            <a:srgbClr val="132B45"/>
                          </a:solidFill>
                          <a:latin typeface="Arial"/>
                          <a:ea typeface="Arial"/>
                          <a:cs typeface="Arial"/>
                        </a:rPr>
                        <a:t>Java features and integration complete</a:t>
                      </a:r>
                    </a:p>
                  </a:txBody>
                  <a:tcPr marL="114300" marR="114300" marT="28575" marB="28575" anchor="ctr">
                    <a:lnL w="6668">
                      <a:solidFill>
                        <a:srgbClr val="DFE5EC"/>
                      </a:solidFill>
                      <a:prstDash val="solid"/>
                    </a:lnL>
                    <a:lnR w="6668">
                      <a:solidFill>
                        <a:srgbClr val="DFE5EC"/>
                      </a:solidFill>
                      <a:prstDash val="solid"/>
                    </a:lnR>
                    <a:lnB w="6668">
                      <a:solidFill>
                        <a:srgbClr val="DFE5EC"/>
                      </a:solidFill>
                      <a:prstDash val="solid"/>
                    </a:lnB>
                    <a:solidFill>
                      <a:srgbClr val="FFFFFF"/>
                    </a:solidFill>
                  </a:tcPr>
                </a:tc>
                <a:tc>
                  <a:txBody>
                    <a:bodyPr/>
                    <a:lstStyle/>
                    <a:p>
                      <a:r>
                        <a:rPr sz="1725">
                          <a:solidFill>
                            <a:srgbClr val="132B45"/>
                          </a:solidFill>
                          <a:latin typeface="Arial"/>
                          <a:ea typeface="Arial"/>
                          <a:cs typeface="Arial"/>
                        </a:rPr>
                        <a:t>04 Dec 2026</a:t>
                      </a:r>
                    </a:p>
                  </a:txBody>
                  <a:tcPr marL="114300" marR="114300" marT="28575" marB="28575" anchor="ctr">
                    <a:lnR w="6668">
                      <a:solidFill>
                        <a:srgbClr val="DFE5EC"/>
                      </a:solidFill>
                      <a:prstDash val="solid"/>
                    </a:lnR>
                    <a:lnB w="6668">
                      <a:solidFill>
                        <a:srgbClr val="DFE5EC"/>
                      </a:solidFill>
                      <a:prstDash val="solid"/>
                    </a:lnB>
                    <a:solidFill>
                      <a:srgbClr val="FFFFFF"/>
                    </a:solidFill>
                  </a:tcPr>
                </a:tc>
              </a:tr>
              <a:tr h="389164">
                <a:tc>
                  <a:txBody>
                    <a:bodyPr/>
                    <a:lstStyle/>
                    <a:p>
                      <a:r>
                        <a:rPr sz="1725">
                          <a:solidFill>
                            <a:srgbClr val="132B45"/>
                          </a:solidFill>
                          <a:latin typeface="Arial"/>
                          <a:ea typeface="Arial"/>
                          <a:cs typeface="Arial"/>
                        </a:rPr>
                        <a:t>SIT start</a:t>
                      </a:r>
                    </a:p>
                  </a:txBody>
                  <a:tcPr marL="114300" marR="114300" marT="28575" marB="28575" anchor="ctr">
                    <a:lnL w="6668">
                      <a:solidFill>
                        <a:srgbClr val="DFE5EC"/>
                      </a:solidFill>
                      <a:prstDash val="solid"/>
                    </a:lnL>
                    <a:lnR w="6668">
                      <a:solidFill>
                        <a:srgbClr val="DFE5EC"/>
                      </a:solidFill>
                      <a:prstDash val="solid"/>
                    </a:lnR>
                    <a:lnB w="6668">
                      <a:solidFill>
                        <a:srgbClr val="DFE5EC"/>
                      </a:solidFill>
                      <a:prstDash val="solid"/>
                    </a:lnB>
                    <a:solidFill>
                      <a:srgbClr val="FFFFFF"/>
                    </a:solidFill>
                  </a:tcPr>
                </a:tc>
                <a:tc>
                  <a:txBody>
                    <a:bodyPr/>
                    <a:lstStyle/>
                    <a:p>
                      <a:r>
                        <a:rPr sz="1725">
                          <a:solidFill>
                            <a:srgbClr val="132B45"/>
                          </a:solidFill>
                          <a:latin typeface="Arial"/>
                          <a:ea typeface="Arial"/>
                          <a:cs typeface="Arial"/>
                        </a:rPr>
                        <a:t>07 Dec 2026</a:t>
                      </a:r>
                    </a:p>
                  </a:txBody>
                  <a:tcPr marL="114300" marR="114300" marT="28575" marB="28575" anchor="ctr">
                    <a:lnR w="6668">
                      <a:solidFill>
                        <a:srgbClr val="DFE5EC"/>
                      </a:solidFill>
                      <a:prstDash val="solid"/>
                    </a:lnR>
                    <a:lnB w="6668">
                      <a:solidFill>
                        <a:srgbClr val="DFE5EC"/>
                      </a:solidFill>
                      <a:prstDash val="solid"/>
                    </a:lnB>
                    <a:solidFill>
                      <a:srgbClr val="FFFFFF"/>
                    </a:solidFill>
                  </a:tcPr>
                </a:tc>
              </a:tr>
              <a:tr h="389164">
                <a:tc>
                  <a:txBody>
                    <a:bodyPr/>
                    <a:lstStyle/>
                    <a:p>
                      <a:r>
                        <a:rPr sz="1725">
                          <a:solidFill>
                            <a:srgbClr val="132B45"/>
                          </a:solidFill>
                          <a:latin typeface="Arial"/>
                          <a:ea typeface="Arial"/>
                          <a:cs typeface="Arial"/>
                        </a:rPr>
                        <a:t>SIT signoff and UAT environment ready</a:t>
                      </a:r>
                    </a:p>
                  </a:txBody>
                  <a:tcPr marL="114300" marR="114300" marT="28575" marB="28575" anchor="ctr">
                    <a:lnL w="6668">
                      <a:solidFill>
                        <a:srgbClr val="DFE5EC"/>
                      </a:solidFill>
                      <a:prstDash val="solid"/>
                    </a:lnL>
                    <a:lnR w="6668">
                      <a:solidFill>
                        <a:srgbClr val="DFE5EC"/>
                      </a:solidFill>
                      <a:prstDash val="solid"/>
                    </a:lnR>
                    <a:lnB w="6668">
                      <a:solidFill>
                        <a:srgbClr val="DFE5EC"/>
                      </a:solidFill>
                      <a:prstDash val="solid"/>
                    </a:lnB>
                    <a:solidFill>
                      <a:srgbClr val="FFFFFF"/>
                    </a:solidFill>
                  </a:tcPr>
                </a:tc>
                <a:tc>
                  <a:txBody>
                    <a:bodyPr/>
                    <a:lstStyle/>
                    <a:p>
                      <a:r>
                        <a:rPr sz="1725">
                          <a:solidFill>
                            <a:srgbClr val="132B45"/>
                          </a:solidFill>
                          <a:latin typeface="Arial"/>
                          <a:ea typeface="Arial"/>
                          <a:cs typeface="Arial"/>
                        </a:rPr>
                        <a:t>15 Jan 2027</a:t>
                      </a:r>
                    </a:p>
                  </a:txBody>
                  <a:tcPr marL="114300" marR="114300" marT="28575" marB="28575" anchor="ctr">
                    <a:lnR w="6668">
                      <a:solidFill>
                        <a:srgbClr val="DFE5EC"/>
                      </a:solidFill>
                      <a:prstDash val="solid"/>
                    </a:lnR>
                    <a:lnB w="6668">
                      <a:solidFill>
                        <a:srgbClr val="DFE5EC"/>
                      </a:solidFill>
                      <a:prstDash val="solid"/>
                    </a:lnB>
                    <a:solidFill>
                      <a:srgbClr val="FFFFFF"/>
                    </a:solidFill>
                  </a:tcPr>
                </a:tc>
              </a:tr>
              <a:tr h="389164">
                <a:tc>
                  <a:txBody>
                    <a:bodyPr/>
                    <a:lstStyle/>
                    <a:p>
                      <a:r>
                        <a:rPr sz="1725">
                          <a:solidFill>
                            <a:srgbClr val="132B45"/>
                          </a:solidFill>
                          <a:latin typeface="Arial"/>
                          <a:ea typeface="Arial"/>
                          <a:cs typeface="Arial"/>
                        </a:rPr>
                        <a:t>Potential-user UAT start</a:t>
                      </a:r>
                    </a:p>
                  </a:txBody>
                  <a:tcPr marL="114300" marR="114300" marT="28575" marB="28575" anchor="ctr">
                    <a:lnL w="6668">
                      <a:solidFill>
                        <a:srgbClr val="DFE5EC"/>
                      </a:solidFill>
                      <a:prstDash val="solid"/>
                    </a:lnL>
                    <a:lnR w="6668">
                      <a:solidFill>
                        <a:srgbClr val="DFE5EC"/>
                      </a:solidFill>
                      <a:prstDash val="solid"/>
                    </a:lnR>
                    <a:lnB w="6668">
                      <a:solidFill>
                        <a:srgbClr val="DFE5EC"/>
                      </a:solidFill>
                      <a:prstDash val="solid"/>
                    </a:lnB>
                    <a:solidFill>
                      <a:srgbClr val="FFFFFF"/>
                    </a:solidFill>
                  </a:tcPr>
                </a:tc>
                <a:tc>
                  <a:txBody>
                    <a:bodyPr/>
                    <a:lstStyle/>
                    <a:p>
                      <a:r>
                        <a:rPr sz="1725">
                          <a:solidFill>
                            <a:srgbClr val="132B45"/>
                          </a:solidFill>
                          <a:latin typeface="Arial"/>
                          <a:ea typeface="Arial"/>
                          <a:cs typeface="Arial"/>
                        </a:rPr>
                        <a:t>18 Jan 2027</a:t>
                      </a:r>
                    </a:p>
                  </a:txBody>
                  <a:tcPr marL="114300" marR="114300" marT="28575" marB="28575" anchor="ctr">
                    <a:lnR w="6668">
                      <a:solidFill>
                        <a:srgbClr val="DFE5EC"/>
                      </a:solidFill>
                      <a:prstDash val="solid"/>
                    </a:lnR>
                    <a:lnB w="6668">
                      <a:solidFill>
                        <a:srgbClr val="DFE5EC"/>
                      </a:solidFill>
                      <a:prstDash val="solid"/>
                    </a:lnB>
                    <a:solidFill>
                      <a:srgbClr val="FFFFFF"/>
                    </a:solidFill>
                  </a:tcPr>
                </a:tc>
              </a:tr>
              <a:tr h="389164">
                <a:tc>
                  <a:txBody>
                    <a:bodyPr/>
                    <a:lstStyle/>
                    <a:p>
                      <a:r>
                        <a:rPr sz="1725">
                          <a:solidFill>
                            <a:srgbClr val="132B45"/>
                          </a:solidFill>
                          <a:latin typeface="Arial"/>
                          <a:ea typeface="Arial"/>
                          <a:cs typeface="Arial"/>
                        </a:rPr>
                        <a:t>Penetration-test report</a:t>
                      </a:r>
                    </a:p>
                  </a:txBody>
                  <a:tcPr marL="114300" marR="114300" marT="28575" marB="28575" anchor="ctr">
                    <a:lnL w="6668">
                      <a:solidFill>
                        <a:srgbClr val="DFE5EC"/>
                      </a:solidFill>
                      <a:prstDash val="solid"/>
                    </a:lnL>
                    <a:lnR w="6668">
                      <a:solidFill>
                        <a:srgbClr val="DFE5EC"/>
                      </a:solidFill>
                      <a:prstDash val="solid"/>
                    </a:lnR>
                    <a:lnB w="6668">
                      <a:solidFill>
                        <a:srgbClr val="DFE5EC"/>
                      </a:solidFill>
                      <a:prstDash val="solid"/>
                    </a:lnB>
                    <a:solidFill>
                      <a:srgbClr val="FFFFFF"/>
                    </a:solidFill>
                  </a:tcPr>
                </a:tc>
                <a:tc>
                  <a:txBody>
                    <a:bodyPr/>
                    <a:lstStyle/>
                    <a:p>
                      <a:r>
                        <a:rPr sz="1725">
                          <a:solidFill>
                            <a:srgbClr val="132B45"/>
                          </a:solidFill>
                          <a:latin typeface="Arial"/>
                          <a:ea typeface="Arial"/>
                          <a:cs typeface="Arial"/>
                        </a:rPr>
                        <a:t>29 Jan 2027</a:t>
                      </a:r>
                    </a:p>
                  </a:txBody>
                  <a:tcPr marL="114300" marR="114300" marT="28575" marB="28575" anchor="ctr">
                    <a:lnR w="6668">
                      <a:solidFill>
                        <a:srgbClr val="DFE5EC"/>
                      </a:solidFill>
                      <a:prstDash val="solid"/>
                    </a:lnR>
                    <a:lnB w="6668">
                      <a:solidFill>
                        <a:srgbClr val="DFE5EC"/>
                      </a:solidFill>
                      <a:prstDash val="solid"/>
                    </a:lnB>
                    <a:solidFill>
                      <a:srgbClr val="FFFFFF"/>
                    </a:solidFill>
                  </a:tcPr>
                </a:tc>
              </a:tr>
              <a:tr h="389164">
                <a:tc>
                  <a:txBody>
                    <a:bodyPr/>
                    <a:lstStyle/>
                    <a:p>
                      <a:r>
                        <a:rPr sz="1725">
                          <a:solidFill>
                            <a:srgbClr val="132B45"/>
                          </a:solidFill>
                          <a:latin typeface="Arial"/>
                          <a:ea typeface="Arial"/>
                          <a:cs typeface="Arial"/>
                        </a:rPr>
                        <a:t>Security retest complete</a:t>
                      </a:r>
                    </a:p>
                  </a:txBody>
                  <a:tcPr marL="114300" marR="114300" marT="28575" marB="28575" anchor="ctr">
                    <a:lnL w="6668">
                      <a:solidFill>
                        <a:srgbClr val="DFE5EC"/>
                      </a:solidFill>
                      <a:prstDash val="solid"/>
                    </a:lnL>
                    <a:lnR w="6668">
                      <a:solidFill>
                        <a:srgbClr val="DFE5EC"/>
                      </a:solidFill>
                      <a:prstDash val="solid"/>
                    </a:lnR>
                    <a:lnB w="6668">
                      <a:solidFill>
                        <a:srgbClr val="DFE5EC"/>
                      </a:solidFill>
                      <a:prstDash val="solid"/>
                    </a:lnB>
                    <a:solidFill>
                      <a:srgbClr val="FFFFFF"/>
                    </a:solidFill>
                  </a:tcPr>
                </a:tc>
                <a:tc>
                  <a:txBody>
                    <a:bodyPr/>
                    <a:lstStyle/>
                    <a:p>
                      <a:r>
                        <a:rPr sz="1725">
                          <a:solidFill>
                            <a:srgbClr val="132B45"/>
                          </a:solidFill>
                          <a:latin typeface="Arial"/>
                          <a:ea typeface="Arial"/>
                          <a:cs typeface="Arial"/>
                        </a:rPr>
                        <a:t>19 Feb 2027</a:t>
                      </a:r>
                    </a:p>
                  </a:txBody>
                  <a:tcPr marL="114300" marR="114300" marT="28575" marB="28575" anchor="ctr">
                    <a:lnR w="6668">
                      <a:solidFill>
                        <a:srgbClr val="DFE5EC"/>
                      </a:solidFill>
                      <a:prstDash val="solid"/>
                    </a:lnR>
                    <a:lnB w="6668">
                      <a:solidFill>
                        <a:srgbClr val="DFE5EC"/>
                      </a:solidFill>
                      <a:prstDash val="solid"/>
                    </a:lnB>
                    <a:solidFill>
                      <a:srgbClr val="FFFFFF"/>
                    </a:solidFill>
                  </a:tcPr>
                </a:tc>
              </a:tr>
              <a:tr h="389164">
                <a:tc>
                  <a:txBody>
                    <a:bodyPr/>
                    <a:lstStyle/>
                    <a:p>
                      <a:r>
                        <a:rPr sz="1725">
                          <a:solidFill>
                            <a:srgbClr val="132B45"/>
                          </a:solidFill>
                          <a:latin typeface="Arial"/>
                          <a:ea typeface="Arial"/>
                          <a:cs typeface="Arial"/>
                        </a:rPr>
                        <a:t>UAT signoff</a:t>
                      </a:r>
                    </a:p>
                  </a:txBody>
                  <a:tcPr marL="114300" marR="114300" marT="28575" marB="28575" anchor="ctr">
                    <a:lnL w="6668">
                      <a:solidFill>
                        <a:srgbClr val="DFE5EC"/>
                      </a:solidFill>
                      <a:prstDash val="solid"/>
                    </a:lnL>
                    <a:lnR w="6668">
                      <a:solidFill>
                        <a:srgbClr val="DFE5EC"/>
                      </a:solidFill>
                      <a:prstDash val="solid"/>
                    </a:lnR>
                    <a:lnB w="6668">
                      <a:solidFill>
                        <a:srgbClr val="DFE5EC"/>
                      </a:solidFill>
                      <a:prstDash val="solid"/>
                    </a:lnB>
                    <a:solidFill>
                      <a:srgbClr val="FFFFFF"/>
                    </a:solidFill>
                  </a:tcPr>
                </a:tc>
                <a:tc>
                  <a:txBody>
                    <a:bodyPr/>
                    <a:lstStyle/>
                    <a:p>
                      <a:r>
                        <a:rPr sz="1725">
                          <a:solidFill>
                            <a:srgbClr val="132B45"/>
                          </a:solidFill>
                          <a:latin typeface="Arial"/>
                          <a:ea typeface="Arial"/>
                          <a:cs typeface="Arial"/>
                        </a:rPr>
                        <a:t>24 Feb 2027</a:t>
                      </a:r>
                    </a:p>
                  </a:txBody>
                  <a:tcPr marL="114300" marR="114300" marT="28575" marB="28575" anchor="ctr">
                    <a:lnR w="6668">
                      <a:solidFill>
                        <a:srgbClr val="DFE5EC"/>
                      </a:solidFill>
                      <a:prstDash val="solid"/>
                    </a:lnR>
                    <a:lnB w="6668">
                      <a:solidFill>
                        <a:srgbClr val="DFE5EC"/>
                      </a:solidFill>
                      <a:prstDash val="solid"/>
                    </a:lnB>
                    <a:solidFill>
                      <a:srgbClr val="FFFFFF"/>
                    </a:solidFill>
                  </a:tcPr>
                </a:tc>
              </a:tr>
              <a:tr h="389164">
                <a:tc>
                  <a:txBody>
                    <a:bodyPr/>
                    <a:lstStyle/>
                    <a:p>
                      <a:r>
                        <a:rPr sz="1725">
                          <a:solidFill>
                            <a:srgbClr val="132B45"/>
                          </a:solidFill>
                          <a:latin typeface="Arial"/>
                          <a:ea typeface="Arial"/>
                          <a:cs typeface="Arial"/>
                        </a:rPr>
                        <a:t>Release Go / No-Go</a:t>
                      </a:r>
                    </a:p>
                  </a:txBody>
                  <a:tcPr marL="114300" marR="114300" marT="28575" marB="28575" anchor="ctr">
                    <a:lnL w="6668">
                      <a:solidFill>
                        <a:srgbClr val="DFE5EC"/>
                      </a:solidFill>
                      <a:prstDash val="solid"/>
                    </a:lnL>
                    <a:lnR w="6668">
                      <a:solidFill>
                        <a:srgbClr val="DFE5EC"/>
                      </a:solidFill>
                      <a:prstDash val="solid"/>
                    </a:lnR>
                    <a:lnB w="6668">
                      <a:solidFill>
                        <a:srgbClr val="DFE5EC"/>
                      </a:solidFill>
                      <a:prstDash val="solid"/>
                    </a:lnB>
                    <a:solidFill>
                      <a:srgbClr val="FFFFFF"/>
                    </a:solidFill>
                  </a:tcPr>
                </a:tc>
                <a:tc>
                  <a:txBody>
                    <a:bodyPr/>
                    <a:lstStyle/>
                    <a:p>
                      <a:r>
                        <a:rPr sz="1725">
                          <a:solidFill>
                            <a:srgbClr val="132B45"/>
                          </a:solidFill>
                          <a:latin typeface="Arial"/>
                          <a:ea typeface="Arial"/>
                          <a:cs typeface="Arial"/>
                        </a:rPr>
                        <a:t>25 Feb 2027</a:t>
                      </a:r>
                    </a:p>
                  </a:txBody>
                  <a:tcPr marL="114300" marR="114300" marT="28575" marB="28575" anchor="ctr">
                    <a:lnR w="6668">
                      <a:solidFill>
                        <a:srgbClr val="DFE5EC"/>
                      </a:solidFill>
                      <a:prstDash val="solid"/>
                    </a:lnR>
                    <a:lnB w="6668">
                      <a:solidFill>
                        <a:srgbClr val="DFE5EC"/>
                      </a:solidFill>
                      <a:prstDash val="solid"/>
                    </a:lnB>
                    <a:solidFill>
                      <a:srgbClr val="FFFFFF"/>
                    </a:solidFill>
                  </a:tcPr>
                </a:tc>
              </a:tr>
              <a:tr h="389164">
                <a:tc>
                  <a:txBody>
                    <a:bodyPr/>
                    <a:lstStyle/>
                    <a:p>
                      <a:r>
                        <a:rPr sz="1725">
                          <a:solidFill>
                            <a:srgbClr val="132B45"/>
                          </a:solidFill>
                          <a:latin typeface="Arial"/>
                          <a:ea typeface="Arial"/>
                          <a:cs typeface="Arial"/>
                        </a:rPr>
                        <a:t>Production rollout</a:t>
                      </a:r>
                    </a:p>
                  </a:txBody>
                  <a:tcPr marL="114300" marR="114300" marT="28575" marB="28575" anchor="ctr">
                    <a:lnL w="6668">
                      <a:solidFill>
                        <a:srgbClr val="DFE5EC"/>
                      </a:solidFill>
                      <a:prstDash val="solid"/>
                    </a:lnL>
                    <a:lnR w="6668">
                      <a:solidFill>
                        <a:srgbClr val="DFE5EC"/>
                      </a:solidFill>
                      <a:prstDash val="solid"/>
                    </a:lnR>
                    <a:lnB w="6668">
                      <a:solidFill>
                        <a:srgbClr val="DFE5EC"/>
                      </a:solidFill>
                      <a:prstDash val="solid"/>
                    </a:lnB>
                    <a:solidFill>
                      <a:srgbClr val="FFFFFF"/>
                    </a:solidFill>
                  </a:tcPr>
                </a:tc>
                <a:tc>
                  <a:txBody>
                    <a:bodyPr/>
                    <a:lstStyle/>
                    <a:p>
                      <a:r>
                        <a:rPr sz="1725">
                          <a:solidFill>
                            <a:srgbClr val="132B45"/>
                          </a:solidFill>
                          <a:latin typeface="Arial"/>
                          <a:ea typeface="Arial"/>
                          <a:cs typeface="Arial"/>
                        </a:rPr>
                        <a:t>26 Feb 2027</a:t>
                      </a:r>
                    </a:p>
                  </a:txBody>
                  <a:tcPr marL="114300" marR="114300" marT="28575" marB="28575" anchor="ctr">
                    <a:lnR w="6668">
                      <a:solidFill>
                        <a:srgbClr val="DFE5EC"/>
                      </a:solidFill>
                      <a:prstDash val="solid"/>
                    </a:lnR>
                    <a:lnB w="6668">
                      <a:solidFill>
                        <a:srgbClr val="DFE5EC"/>
                      </a:solidFill>
                      <a:prstDash val="solid"/>
                    </a:lnB>
                    <a:solidFill>
                      <a:srgbClr val="FFFFFF"/>
                    </a:solidFill>
                  </a:tcPr>
                </a:tc>
              </a:tr>
              <a:tr h="389164">
                <a:tc>
                  <a:txBody>
                    <a:bodyPr/>
                    <a:lstStyle/>
                    <a:p>
                      <a:r>
                        <a:rPr sz="1725">
                          <a:solidFill>
                            <a:srgbClr val="132B45"/>
                          </a:solidFill>
                          <a:latin typeface="Arial"/>
                          <a:ea typeface="Arial"/>
                          <a:cs typeface="Arial"/>
                        </a:rPr>
                        <a:t>Hypercare and handover complete</a:t>
                      </a:r>
                    </a:p>
                  </a:txBody>
                  <a:tcPr marL="114300" marR="114300" marT="28575" marB="28575" anchor="ctr">
                    <a:lnL w="6668">
                      <a:solidFill>
                        <a:srgbClr val="DFE5EC"/>
                      </a:solidFill>
                      <a:prstDash val="solid"/>
                    </a:lnL>
                    <a:lnR w="6668">
                      <a:solidFill>
                        <a:srgbClr val="DFE5EC"/>
                      </a:solidFill>
                      <a:prstDash val="solid"/>
                    </a:lnR>
                    <a:lnB w="6668">
                      <a:solidFill>
                        <a:srgbClr val="DFE5EC"/>
                      </a:solidFill>
                      <a:prstDash val="solid"/>
                    </a:lnB>
                    <a:solidFill>
                      <a:srgbClr val="FFFFFF"/>
                    </a:solidFill>
                  </a:tcPr>
                </a:tc>
                <a:tc>
                  <a:txBody>
                    <a:bodyPr/>
                    <a:lstStyle/>
                    <a:p>
                      <a:r>
                        <a:rPr sz="1725">
                          <a:solidFill>
                            <a:srgbClr val="132B45"/>
                          </a:solidFill>
                          <a:latin typeface="Arial"/>
                          <a:ea typeface="Arial"/>
                          <a:cs typeface="Arial"/>
                        </a:rPr>
                        <a:t>05 Mar 2027</a:t>
                      </a:r>
                    </a:p>
                  </a:txBody>
                  <a:tcPr marL="114300" marR="114300" marT="28575" marB="28575" anchor="ctr">
                    <a:lnR w="6668">
                      <a:solidFill>
                        <a:srgbClr val="DFE5EC"/>
                      </a:solidFill>
                      <a:prstDash val="solid"/>
                    </a:lnR>
                    <a:lnB w="6668">
                      <a:solidFill>
                        <a:srgbClr val="DFE5EC"/>
                      </a:solidFill>
                      <a:prstDash val="solid"/>
                    </a:lnB>
                    <a:solidFill>
                      <a:srgbClr val="FFFFFF"/>
                    </a:solidFill>
                  </a:tcPr>
                </a:tc>
              </a:tr>
            </a:tbl>
          </a:graphicData>
        </a:graphic>
      </p:graphicFrame>
      <p:sp>
        <p:nvSpPr>
          <p:cNvPr id="5" name="total-cost">
            <a:extLst xmlns:a="http://schemas.openxmlformats.org/drawingml/2006/main">
              <a:ext uri="{FF2B5EF4-FFF2-40B4-BE49-F238E27FC236}">
                <a16:creationId xmlns:a16="http://schemas.microsoft.com/office/drawing/2014/main" id="{E81A3D11-DDA0-452E-9ECA-762B319B569A}"/>
              </a:ext>
            </a:extLst>
          </p:cNvPr>
          <p:cNvSpPr>
            <a:spLocks xmlns:a="http://schemas.openxmlformats.org/drawingml/2006/main" noGrp="1"/>
          </p:cNvSpPr>
          <p:nvPr/>
        </p:nvSpPr>
        <p:spPr>
          <a:xfrm xmlns:a="http://schemas.openxmlformats.org/drawingml/2006/main">
            <a:off x="9620250" y="1990725"/>
            <a:ext cx="476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50" b="1">
                <a:solidFill>
                  <a:srgbClr val="2563EB"/>
                </a:solidFill>
                <a:latin typeface="Arial"/>
                <a:ea typeface="Arial"/>
                <a:cs typeface="Arial"/>
              </a:defRPr>
            </a:defPPr>
          </a:lstStyle>
          <a:p xmlns:a="http://schemas.openxmlformats.org/drawingml/2006/main">
            <a:pPr algn="l">
              <a:defRPr sz="4350" b="1">
                <a:solidFill>
                  <a:srgbClr val="2563EB"/>
                </a:solidFill>
                <a:latin typeface="Arial"/>
                <a:ea typeface="Arial"/>
                <a:cs typeface="Arial"/>
              </a:defRPr>
            </a:pPr>
            <a:r>
              <a:rPr sz="4350" b="1">
                <a:solidFill>
                  <a:srgbClr val="2563EB"/>
                </a:solidFill>
                <a:latin typeface="Arial"/>
                <a:ea typeface="Arial"/>
                <a:cs typeface="Arial"/>
              </a:rPr>
              <a:t>$166,344</a:t>
            </a:r>
          </a:p>
        </p:txBody>
      </p:sp>
      <p:sp>
        <p:nvSpPr>
          <p:cNvPr id="6" name="basis">
            <a:extLst xmlns:a="http://schemas.openxmlformats.org/drawingml/2006/main">
              <a:ext uri="{FF2B5EF4-FFF2-40B4-BE49-F238E27FC236}">
                <a16:creationId xmlns:a16="http://schemas.microsoft.com/office/drawing/2014/main" id="{07C83BE7-E7B5-47B9-92A1-95AEC9ED2A72}"/>
              </a:ext>
            </a:extLst>
          </p:cNvPr>
          <p:cNvSpPr>
            <a:spLocks xmlns:a="http://schemas.openxmlformats.org/drawingml/2006/main" noGrp="1"/>
          </p:cNvSpPr>
          <p:nvPr/>
        </p:nvSpPr>
        <p:spPr>
          <a:xfrm xmlns:a="http://schemas.openxmlformats.org/drawingml/2006/main">
            <a:off x="9620250" y="2819400"/>
            <a:ext cx="500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6677A"/>
                </a:solidFill>
                <a:latin typeface="Arial"/>
                <a:ea typeface="Arial"/>
                <a:cs typeface="Arial"/>
              </a:defRPr>
            </a:defPPr>
          </a:lstStyle>
          <a:p xmlns:a="http://schemas.openxmlformats.org/drawingml/2006/main">
            <a:pPr algn="l">
              <a:defRPr sz="1800" b="0">
                <a:solidFill>
                  <a:srgbClr val="56677A"/>
                </a:solidFill>
                <a:latin typeface="Arial"/>
                <a:ea typeface="Arial"/>
                <a:cs typeface="Arial"/>
              </a:defRPr>
            </a:pPr>
            <a:r>
              <a:rPr sz="1800" b="0">
                <a:solidFill>
                  <a:srgbClr val="56677A"/>
                </a:solidFill>
                <a:latin typeface="Arial"/>
                <a:ea typeface="Arial"/>
                <a:cs typeface="Arial"/>
              </a:rPr>
              <a:t>Labor: 420.4 person-days at $360/day</a:t>
            </a:r>
          </a:p>
        </p:txBody>
      </p:sp>
      <p:sp>
        <p:nvSpPr>
          <p:cNvPr id="7" name="fixed-fee">
            <a:extLst xmlns:a="http://schemas.openxmlformats.org/drawingml/2006/main">
              <a:ext uri="{FF2B5EF4-FFF2-40B4-BE49-F238E27FC236}">
                <a16:creationId xmlns:a16="http://schemas.microsoft.com/office/drawing/2014/main" id="{1B306ACF-22B2-4CDB-BC7B-96B65B6F9E15}"/>
              </a:ext>
            </a:extLst>
          </p:cNvPr>
          <p:cNvSpPr>
            <a:spLocks xmlns:a="http://schemas.openxmlformats.org/drawingml/2006/main" noGrp="1"/>
          </p:cNvSpPr>
          <p:nvPr/>
        </p:nvSpPr>
        <p:spPr>
          <a:xfrm xmlns:a="http://schemas.openxmlformats.org/drawingml/2006/main">
            <a:off x="9620250" y="3238500"/>
            <a:ext cx="5000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32B45"/>
                </a:solidFill>
                <a:latin typeface="Arial"/>
                <a:ea typeface="Arial"/>
                <a:cs typeface="Arial"/>
              </a:defRPr>
            </a:defPPr>
          </a:lstStyle>
          <a:p xmlns:a="http://schemas.openxmlformats.org/drawingml/2006/main">
            <a:pPr algn="l">
              <a:defRPr sz="1800" b="0">
                <a:solidFill>
                  <a:srgbClr val="132B45"/>
                </a:solidFill>
                <a:latin typeface="Arial"/>
                <a:ea typeface="Arial"/>
                <a:cs typeface="Arial"/>
              </a:defRPr>
            </a:pPr>
            <a:r>
              <a:rPr sz="1800" b="0">
                <a:solidFill>
                  <a:srgbClr val="132B45"/>
                </a:solidFill>
                <a:latin typeface="Arial"/>
                <a:ea typeface="Arial"/>
                <a:cs typeface="Arial"/>
              </a:rPr>
              <a:t>$15,000 fixed penetration-test fee</a:t>
            </a:r>
          </a:p>
        </p:txBody>
      </p:sp>
      <p:graphicFrame>
        <p:nvGraphicFramePr>
          <p:cNvPr id="8" name="">
            <a:extLst xmlns:a="http://schemas.openxmlformats.org/drawingml/2006/main">
              <a:ext uri="{FF2B5EF4-FFF2-40B4-BE49-F238E27FC236}">
                <a16:creationId xmlns:a16="http://schemas.microsoft.com/office/drawing/2014/main" id="{7E56484A-E92C-4CF1-BD56-BFA6C186E5AC}"/>
              </a:ext>
            </a:extLst>
          </p:cNvPr>
          <p:cNvGraphicFramePr/>
          <p:nvPr/>
        </p:nvGraphicFramePr>
        <p:xfrm>
          <a:off xmlns:a="http://schemas.openxmlformats.org/drawingml/2006/main" x="9620250" y="3686175"/>
          <a:ext xmlns:a="http://schemas.openxmlformats.org/drawingml/2006/main" cx="5000625" cy="3600450"/>
        </p:xfrm>
        <a:graphic xmlns:a="http://schemas.openxmlformats.org/drawingml/2006/main">
          <a:graphicData uri="http://schemas.openxmlformats.org/drawingml/2006/table">
            <a:tbl>
              <a:tblPr firstRow="1" bandRow="0"/>
              <a:tblGrid>
                <a:gridCol w="2047875"/>
                <a:gridCol w="1000125"/>
                <a:gridCol w="1952625"/>
              </a:tblGrid>
              <a:tr h="360045">
                <a:tc>
                  <a:txBody>
                    <a:bodyPr/>
                    <a:lstStyle/>
                    <a:p>
                      <a:r>
                        <a:rPr sz="1725" b="1">
                          <a:solidFill>
                            <a:srgbClr val="FFFFFF"/>
                          </a:solidFill>
                          <a:latin typeface="Arial"/>
                          <a:ea typeface="Arial"/>
                          <a:cs typeface="Arial"/>
                        </a:rPr>
                        <a:t>Resource</a:t>
                      </a:r>
                    </a:p>
                  </a:txBody>
                  <a:tcPr marL="114300" marR="114300" marT="9525" marB="9525" anchor="ctr">
                    <a:lnL w="6668">
                      <a:solidFill>
                        <a:srgbClr val="DFE5EC"/>
                      </a:solidFill>
                      <a:prstDash val="solid"/>
                    </a:lnL>
                    <a:lnR w="6668">
                      <a:solidFill>
                        <a:srgbClr val="DFE5EC"/>
                      </a:solidFill>
                      <a:prstDash val="solid"/>
                    </a:lnR>
                    <a:lnT w="6668">
                      <a:solidFill>
                        <a:srgbClr val="DFE5EC"/>
                      </a:solidFill>
                      <a:prstDash val="solid"/>
                    </a:lnT>
                    <a:lnB w="6668">
                      <a:solidFill>
                        <a:srgbClr val="DFE5EC"/>
                      </a:solidFill>
                      <a:prstDash val="solid"/>
                    </a:lnB>
                    <a:solidFill>
                      <a:srgbClr val="132B45"/>
                    </a:solidFill>
                  </a:tcPr>
                </a:tc>
                <a:tc>
                  <a:txBody>
                    <a:bodyPr/>
                    <a:lstStyle/>
                    <a:p>
                      <a:r>
                        <a:rPr sz="1725" b="1">
                          <a:solidFill>
                            <a:srgbClr val="FFFFFF"/>
                          </a:solidFill>
                          <a:latin typeface="Arial"/>
                          <a:ea typeface="Arial"/>
                          <a:cs typeface="Arial"/>
                        </a:rPr>
                        <a:t>Days</a:t>
                      </a:r>
                    </a:p>
                  </a:txBody>
                  <a:tcPr marL="114300" marR="114300" marT="9525" marB="9525" anchor="ctr">
                    <a:lnR w="6668">
                      <a:solidFill>
                        <a:srgbClr val="DFE5EC"/>
                      </a:solidFill>
                      <a:prstDash val="solid"/>
                    </a:lnR>
                    <a:lnT w="6668">
                      <a:solidFill>
                        <a:srgbClr val="DFE5EC"/>
                      </a:solidFill>
                      <a:prstDash val="solid"/>
                    </a:lnT>
                    <a:lnB w="6668">
                      <a:solidFill>
                        <a:srgbClr val="DFE5EC"/>
                      </a:solidFill>
                      <a:prstDash val="solid"/>
                    </a:lnB>
                    <a:solidFill>
                      <a:srgbClr val="132B45"/>
                    </a:solidFill>
                  </a:tcPr>
                </a:tc>
                <a:tc>
                  <a:txBody>
                    <a:bodyPr/>
                    <a:lstStyle/>
                    <a:p>
                      <a:r>
                        <a:rPr sz="1725" b="1">
                          <a:solidFill>
                            <a:srgbClr val="FFFFFF"/>
                          </a:solidFill>
                          <a:latin typeface="Arial"/>
                          <a:ea typeface="Arial"/>
                          <a:cs typeface="Arial"/>
                        </a:rPr>
                        <a:t>Cost (USD)</a:t>
                      </a:r>
                    </a:p>
                  </a:txBody>
                  <a:tcPr marL="114300" marR="114300" marT="9525" marB="9525" anchor="ctr">
                    <a:lnR w="6668">
                      <a:solidFill>
                        <a:srgbClr val="DFE5EC"/>
                      </a:solidFill>
                      <a:prstDash val="solid"/>
                    </a:lnR>
                    <a:lnT w="6668">
                      <a:solidFill>
                        <a:srgbClr val="DFE5EC"/>
                      </a:solidFill>
                      <a:prstDash val="solid"/>
                    </a:lnT>
                    <a:lnB w="6668">
                      <a:solidFill>
                        <a:srgbClr val="DFE5EC"/>
                      </a:solidFill>
                      <a:prstDash val="solid"/>
                    </a:lnB>
                    <a:solidFill>
                      <a:srgbClr val="132B45"/>
                    </a:solidFill>
                  </a:tcPr>
                </a:tc>
              </a:tr>
              <a:tr h="360045">
                <a:tc>
                  <a:txBody>
                    <a:bodyPr/>
                    <a:lstStyle/>
                    <a:p>
                      <a:r>
                        <a:rPr sz="1725">
                          <a:solidFill>
                            <a:srgbClr val="132B45"/>
                          </a:solidFill>
                          <a:latin typeface="Arial"/>
                          <a:ea typeface="Arial"/>
                          <a:cs typeface="Arial"/>
                        </a:rPr>
                        <a:t>Dev 1</a:t>
                      </a:r>
                    </a:p>
                  </a:txBody>
                  <a:tcPr marL="114300" marR="114300" marT="9525" marB="9525" anchor="ctr">
                    <a:lnL w="6668">
                      <a:solidFill>
                        <a:srgbClr val="DFE5EC"/>
                      </a:solidFill>
                      <a:prstDash val="solid"/>
                    </a:lnL>
                    <a:lnR w="6668">
                      <a:solidFill>
                        <a:srgbClr val="DFE5EC"/>
                      </a:solidFill>
                      <a:prstDash val="solid"/>
                    </a:lnR>
                    <a:lnB w="6668">
                      <a:solidFill>
                        <a:srgbClr val="DFE5EC"/>
                      </a:solidFill>
                      <a:prstDash val="solid"/>
                    </a:lnB>
                    <a:solidFill>
                      <a:srgbClr val="FFFFFF"/>
                    </a:solidFill>
                  </a:tcPr>
                </a:tc>
                <a:tc>
                  <a:txBody>
                    <a:bodyPr/>
                    <a:lstStyle/>
                    <a:p>
                      <a:r>
                        <a:rPr sz="1725">
                          <a:solidFill>
                            <a:srgbClr val="132B45"/>
                          </a:solidFill>
                          <a:latin typeface="Arial"/>
                          <a:ea typeface="Arial"/>
                          <a:cs typeface="Arial"/>
                        </a:rPr>
                        <a:t>54.5</a:t>
                      </a:r>
                    </a:p>
                  </a:txBody>
                  <a:tcPr marL="114300" marR="114300" marT="9525" marB="9525" anchor="ctr">
                    <a:lnR w="6668">
                      <a:solidFill>
                        <a:srgbClr val="DFE5EC"/>
                      </a:solidFill>
                      <a:prstDash val="solid"/>
                    </a:lnR>
                    <a:lnB w="6668">
                      <a:solidFill>
                        <a:srgbClr val="DFE5EC"/>
                      </a:solidFill>
                      <a:prstDash val="solid"/>
                    </a:lnB>
                    <a:solidFill>
                      <a:srgbClr val="FFFFFF"/>
                    </a:solidFill>
                  </a:tcPr>
                </a:tc>
                <a:tc>
                  <a:txBody>
                    <a:bodyPr/>
                    <a:lstStyle/>
                    <a:p>
                      <a:r>
                        <a:rPr sz="1725">
                          <a:solidFill>
                            <a:srgbClr val="132B45"/>
                          </a:solidFill>
                          <a:latin typeface="Arial"/>
                          <a:ea typeface="Arial"/>
                          <a:cs typeface="Arial"/>
                        </a:rPr>
                        <a:t>$19,620</a:t>
                      </a:r>
                    </a:p>
                  </a:txBody>
                  <a:tcPr marL="114300" marR="114300" marT="9525" marB="9525" anchor="ctr">
                    <a:lnR w="6668">
                      <a:solidFill>
                        <a:srgbClr val="DFE5EC"/>
                      </a:solidFill>
                      <a:prstDash val="solid"/>
                    </a:lnR>
                    <a:lnB w="6668">
                      <a:solidFill>
                        <a:srgbClr val="DFE5EC"/>
                      </a:solidFill>
                      <a:prstDash val="solid"/>
                    </a:lnB>
                    <a:solidFill>
                      <a:srgbClr val="FFFFFF"/>
                    </a:solidFill>
                  </a:tcPr>
                </a:tc>
              </a:tr>
              <a:tr h="360045">
                <a:tc>
                  <a:txBody>
                    <a:bodyPr/>
                    <a:lstStyle/>
                    <a:p>
                      <a:r>
                        <a:rPr sz="1725">
                          <a:solidFill>
                            <a:srgbClr val="132B45"/>
                          </a:solidFill>
                          <a:latin typeface="Arial"/>
                          <a:ea typeface="Arial"/>
                          <a:cs typeface="Arial"/>
                        </a:rPr>
                        <a:t>Dev 2</a:t>
                      </a:r>
                    </a:p>
                  </a:txBody>
                  <a:tcPr marL="114300" marR="114300" marT="9525" marB="9525" anchor="ctr">
                    <a:lnL w="6668">
                      <a:solidFill>
                        <a:srgbClr val="DFE5EC"/>
                      </a:solidFill>
                      <a:prstDash val="solid"/>
                    </a:lnL>
                    <a:lnR w="6668">
                      <a:solidFill>
                        <a:srgbClr val="DFE5EC"/>
                      </a:solidFill>
                      <a:prstDash val="solid"/>
                    </a:lnR>
                    <a:lnB w="6668">
                      <a:solidFill>
                        <a:srgbClr val="DFE5EC"/>
                      </a:solidFill>
                      <a:prstDash val="solid"/>
                    </a:lnB>
                    <a:solidFill>
                      <a:srgbClr val="FFFFFF"/>
                    </a:solidFill>
                  </a:tcPr>
                </a:tc>
                <a:tc>
                  <a:txBody>
                    <a:bodyPr/>
                    <a:lstStyle/>
                    <a:p>
                      <a:r>
                        <a:rPr sz="1725">
                          <a:solidFill>
                            <a:srgbClr val="132B45"/>
                          </a:solidFill>
                          <a:latin typeface="Arial"/>
                          <a:ea typeface="Arial"/>
                          <a:cs typeface="Arial"/>
                        </a:rPr>
                        <a:t>55.5</a:t>
                      </a:r>
                    </a:p>
                  </a:txBody>
                  <a:tcPr marL="114300" marR="114300" marT="9525" marB="9525" anchor="ctr">
                    <a:lnR w="6668">
                      <a:solidFill>
                        <a:srgbClr val="DFE5EC"/>
                      </a:solidFill>
                      <a:prstDash val="solid"/>
                    </a:lnR>
                    <a:lnB w="6668">
                      <a:solidFill>
                        <a:srgbClr val="DFE5EC"/>
                      </a:solidFill>
                      <a:prstDash val="solid"/>
                    </a:lnB>
                    <a:solidFill>
                      <a:srgbClr val="FFFFFF"/>
                    </a:solidFill>
                  </a:tcPr>
                </a:tc>
                <a:tc>
                  <a:txBody>
                    <a:bodyPr/>
                    <a:lstStyle/>
                    <a:p>
                      <a:r>
                        <a:rPr sz="1725">
                          <a:solidFill>
                            <a:srgbClr val="132B45"/>
                          </a:solidFill>
                          <a:latin typeface="Arial"/>
                          <a:ea typeface="Arial"/>
                          <a:cs typeface="Arial"/>
                        </a:rPr>
                        <a:t>$19,980</a:t>
                      </a:r>
                    </a:p>
                  </a:txBody>
                  <a:tcPr marL="114300" marR="114300" marT="9525" marB="9525" anchor="ctr">
                    <a:lnR w="6668">
                      <a:solidFill>
                        <a:srgbClr val="DFE5EC"/>
                      </a:solidFill>
                      <a:prstDash val="solid"/>
                    </a:lnR>
                    <a:lnB w="6668">
                      <a:solidFill>
                        <a:srgbClr val="DFE5EC"/>
                      </a:solidFill>
                      <a:prstDash val="solid"/>
                    </a:lnB>
                    <a:solidFill>
                      <a:srgbClr val="FFFFFF"/>
                    </a:solidFill>
                  </a:tcPr>
                </a:tc>
              </a:tr>
              <a:tr h="360045">
                <a:tc>
                  <a:txBody>
                    <a:bodyPr/>
                    <a:lstStyle/>
                    <a:p>
                      <a:r>
                        <a:rPr sz="1725">
                          <a:solidFill>
                            <a:srgbClr val="132B45"/>
                          </a:solidFill>
                          <a:latin typeface="Arial"/>
                          <a:ea typeface="Arial"/>
                          <a:cs typeface="Arial"/>
                        </a:rPr>
                        <a:t>DS</a:t>
                      </a:r>
                    </a:p>
                  </a:txBody>
                  <a:tcPr marL="114300" marR="114300" marT="9525" marB="9525" anchor="ctr">
                    <a:lnL w="6668">
                      <a:solidFill>
                        <a:srgbClr val="DFE5EC"/>
                      </a:solidFill>
                      <a:prstDash val="solid"/>
                    </a:lnL>
                    <a:lnR w="6668">
                      <a:solidFill>
                        <a:srgbClr val="DFE5EC"/>
                      </a:solidFill>
                      <a:prstDash val="solid"/>
                    </a:lnR>
                    <a:lnB w="6668">
                      <a:solidFill>
                        <a:srgbClr val="DFE5EC"/>
                      </a:solidFill>
                      <a:prstDash val="solid"/>
                    </a:lnB>
                    <a:solidFill>
                      <a:srgbClr val="FFFFFF"/>
                    </a:solidFill>
                  </a:tcPr>
                </a:tc>
                <a:tc>
                  <a:txBody>
                    <a:bodyPr/>
                    <a:lstStyle/>
                    <a:p>
                      <a:r>
                        <a:rPr sz="1725">
                          <a:solidFill>
                            <a:srgbClr val="132B45"/>
                          </a:solidFill>
                          <a:latin typeface="Arial"/>
                          <a:ea typeface="Arial"/>
                          <a:cs typeface="Arial"/>
                        </a:rPr>
                        <a:t>61.4</a:t>
                      </a:r>
                    </a:p>
                  </a:txBody>
                  <a:tcPr marL="114300" marR="114300" marT="9525" marB="9525" anchor="ctr">
                    <a:lnR w="6668">
                      <a:solidFill>
                        <a:srgbClr val="DFE5EC"/>
                      </a:solidFill>
                      <a:prstDash val="solid"/>
                    </a:lnR>
                    <a:lnB w="6668">
                      <a:solidFill>
                        <a:srgbClr val="DFE5EC"/>
                      </a:solidFill>
                      <a:prstDash val="solid"/>
                    </a:lnB>
                    <a:solidFill>
                      <a:srgbClr val="FFFFFF"/>
                    </a:solidFill>
                  </a:tcPr>
                </a:tc>
                <a:tc>
                  <a:txBody>
                    <a:bodyPr/>
                    <a:lstStyle/>
                    <a:p>
                      <a:r>
                        <a:rPr sz="1725">
                          <a:solidFill>
                            <a:srgbClr val="132B45"/>
                          </a:solidFill>
                          <a:latin typeface="Arial"/>
                          <a:ea typeface="Arial"/>
                          <a:cs typeface="Arial"/>
                        </a:rPr>
                        <a:t>$22,104</a:t>
                      </a:r>
                    </a:p>
                  </a:txBody>
                  <a:tcPr marL="114300" marR="114300" marT="9525" marB="9525" anchor="ctr">
                    <a:lnR w="6668">
                      <a:solidFill>
                        <a:srgbClr val="DFE5EC"/>
                      </a:solidFill>
                      <a:prstDash val="solid"/>
                    </a:lnR>
                    <a:lnB w="6668">
                      <a:solidFill>
                        <a:srgbClr val="DFE5EC"/>
                      </a:solidFill>
                      <a:prstDash val="solid"/>
                    </a:lnB>
                    <a:solidFill>
                      <a:srgbClr val="FFFFFF"/>
                    </a:solidFill>
                  </a:tcPr>
                </a:tc>
              </a:tr>
              <a:tr h="360045">
                <a:tc>
                  <a:txBody>
                    <a:bodyPr/>
                    <a:lstStyle/>
                    <a:p>
                      <a:r>
                        <a:rPr sz="1725">
                          <a:solidFill>
                            <a:srgbClr val="132B45"/>
                          </a:solidFill>
                          <a:latin typeface="Arial"/>
                          <a:ea typeface="Arial"/>
                          <a:cs typeface="Arial"/>
                        </a:rPr>
                        <a:t>Tester 1</a:t>
                      </a:r>
                    </a:p>
                  </a:txBody>
                  <a:tcPr marL="114300" marR="114300" marT="9525" marB="9525" anchor="ctr">
                    <a:lnL w="6668">
                      <a:solidFill>
                        <a:srgbClr val="DFE5EC"/>
                      </a:solidFill>
                      <a:prstDash val="solid"/>
                    </a:lnL>
                    <a:lnR w="6668">
                      <a:solidFill>
                        <a:srgbClr val="DFE5EC"/>
                      </a:solidFill>
                      <a:prstDash val="solid"/>
                    </a:lnR>
                    <a:lnB w="6668">
                      <a:solidFill>
                        <a:srgbClr val="DFE5EC"/>
                      </a:solidFill>
                      <a:prstDash val="solid"/>
                    </a:lnB>
                    <a:solidFill>
                      <a:srgbClr val="FFFFFF"/>
                    </a:solidFill>
                  </a:tcPr>
                </a:tc>
                <a:tc>
                  <a:txBody>
                    <a:bodyPr/>
                    <a:lstStyle/>
                    <a:p>
                      <a:r>
                        <a:rPr sz="1725">
                          <a:solidFill>
                            <a:srgbClr val="132B45"/>
                          </a:solidFill>
                          <a:latin typeface="Arial"/>
                          <a:ea typeface="Arial"/>
                          <a:cs typeface="Arial"/>
                        </a:rPr>
                        <a:t>58.5</a:t>
                      </a:r>
                    </a:p>
                  </a:txBody>
                  <a:tcPr marL="114300" marR="114300" marT="9525" marB="9525" anchor="ctr">
                    <a:lnR w="6668">
                      <a:solidFill>
                        <a:srgbClr val="DFE5EC"/>
                      </a:solidFill>
                      <a:prstDash val="solid"/>
                    </a:lnR>
                    <a:lnB w="6668">
                      <a:solidFill>
                        <a:srgbClr val="DFE5EC"/>
                      </a:solidFill>
                      <a:prstDash val="solid"/>
                    </a:lnB>
                    <a:solidFill>
                      <a:srgbClr val="FFFFFF"/>
                    </a:solidFill>
                  </a:tcPr>
                </a:tc>
                <a:tc>
                  <a:txBody>
                    <a:bodyPr/>
                    <a:lstStyle/>
                    <a:p>
                      <a:r>
                        <a:rPr sz="1725">
                          <a:solidFill>
                            <a:srgbClr val="132B45"/>
                          </a:solidFill>
                          <a:latin typeface="Arial"/>
                          <a:ea typeface="Arial"/>
                          <a:cs typeface="Arial"/>
                        </a:rPr>
                        <a:t>$21,060</a:t>
                      </a:r>
                    </a:p>
                  </a:txBody>
                  <a:tcPr marL="114300" marR="114300" marT="9525" marB="9525" anchor="ctr">
                    <a:lnR w="6668">
                      <a:solidFill>
                        <a:srgbClr val="DFE5EC"/>
                      </a:solidFill>
                      <a:prstDash val="solid"/>
                    </a:lnR>
                    <a:lnB w="6668">
                      <a:solidFill>
                        <a:srgbClr val="DFE5EC"/>
                      </a:solidFill>
                      <a:prstDash val="solid"/>
                    </a:lnB>
                    <a:solidFill>
                      <a:srgbClr val="FFFFFF"/>
                    </a:solidFill>
                  </a:tcPr>
                </a:tc>
              </a:tr>
              <a:tr h="360045">
                <a:tc>
                  <a:txBody>
                    <a:bodyPr/>
                    <a:lstStyle/>
                    <a:p>
                      <a:r>
                        <a:rPr sz="1725">
                          <a:solidFill>
                            <a:srgbClr val="132B45"/>
                          </a:solidFill>
                          <a:latin typeface="Arial"/>
                          <a:ea typeface="Arial"/>
                          <a:cs typeface="Arial"/>
                        </a:rPr>
                        <a:t>Tester 2</a:t>
                      </a:r>
                    </a:p>
                  </a:txBody>
                  <a:tcPr marL="114300" marR="114300" marT="9525" marB="9525" anchor="ctr">
                    <a:lnL w="6668">
                      <a:solidFill>
                        <a:srgbClr val="DFE5EC"/>
                      </a:solidFill>
                      <a:prstDash val="solid"/>
                    </a:lnL>
                    <a:lnR w="6668">
                      <a:solidFill>
                        <a:srgbClr val="DFE5EC"/>
                      </a:solidFill>
                      <a:prstDash val="solid"/>
                    </a:lnR>
                    <a:lnB w="6668">
                      <a:solidFill>
                        <a:srgbClr val="DFE5EC"/>
                      </a:solidFill>
                      <a:prstDash val="solid"/>
                    </a:lnB>
                    <a:solidFill>
                      <a:srgbClr val="FFFFFF"/>
                    </a:solidFill>
                  </a:tcPr>
                </a:tc>
                <a:tc>
                  <a:txBody>
                    <a:bodyPr/>
                    <a:lstStyle/>
                    <a:p>
                      <a:r>
                        <a:rPr sz="1725">
                          <a:solidFill>
                            <a:srgbClr val="132B45"/>
                          </a:solidFill>
                          <a:latin typeface="Arial"/>
                          <a:ea typeface="Arial"/>
                          <a:cs typeface="Arial"/>
                        </a:rPr>
                        <a:t>58.5</a:t>
                      </a:r>
                    </a:p>
                  </a:txBody>
                  <a:tcPr marL="114300" marR="114300" marT="9525" marB="9525" anchor="ctr">
                    <a:lnR w="6668">
                      <a:solidFill>
                        <a:srgbClr val="DFE5EC"/>
                      </a:solidFill>
                      <a:prstDash val="solid"/>
                    </a:lnR>
                    <a:lnB w="6668">
                      <a:solidFill>
                        <a:srgbClr val="DFE5EC"/>
                      </a:solidFill>
                      <a:prstDash val="solid"/>
                    </a:lnB>
                    <a:solidFill>
                      <a:srgbClr val="FFFFFF"/>
                    </a:solidFill>
                  </a:tcPr>
                </a:tc>
                <a:tc>
                  <a:txBody>
                    <a:bodyPr/>
                    <a:lstStyle/>
                    <a:p>
                      <a:r>
                        <a:rPr sz="1725">
                          <a:solidFill>
                            <a:srgbClr val="132B45"/>
                          </a:solidFill>
                          <a:latin typeface="Arial"/>
                          <a:ea typeface="Arial"/>
                          <a:cs typeface="Arial"/>
                        </a:rPr>
                        <a:t>$21,060</a:t>
                      </a:r>
                    </a:p>
                  </a:txBody>
                  <a:tcPr marL="114300" marR="114300" marT="9525" marB="9525" anchor="ctr">
                    <a:lnR w="6668">
                      <a:solidFill>
                        <a:srgbClr val="DFE5EC"/>
                      </a:solidFill>
                      <a:prstDash val="solid"/>
                    </a:lnR>
                    <a:lnB w="6668">
                      <a:solidFill>
                        <a:srgbClr val="DFE5EC"/>
                      </a:solidFill>
                      <a:prstDash val="solid"/>
                    </a:lnB>
                    <a:solidFill>
                      <a:srgbClr val="FFFFFF"/>
                    </a:solidFill>
                  </a:tcPr>
                </a:tc>
              </a:tr>
              <a:tr h="360045">
                <a:tc>
                  <a:txBody>
                    <a:bodyPr/>
                    <a:lstStyle/>
                    <a:p>
                      <a:r>
                        <a:rPr sz="1725">
                          <a:solidFill>
                            <a:srgbClr val="132B45"/>
                          </a:solidFill>
                          <a:latin typeface="Arial"/>
                          <a:ea typeface="Arial"/>
                          <a:cs typeface="Arial"/>
                        </a:rPr>
                        <a:t>BA</a:t>
                      </a:r>
                    </a:p>
                  </a:txBody>
                  <a:tcPr marL="114300" marR="114300" marT="9525" marB="9525" anchor="ctr">
                    <a:lnL w="6668">
                      <a:solidFill>
                        <a:srgbClr val="DFE5EC"/>
                      </a:solidFill>
                      <a:prstDash val="solid"/>
                    </a:lnL>
                    <a:lnR w="6668">
                      <a:solidFill>
                        <a:srgbClr val="DFE5EC"/>
                      </a:solidFill>
                      <a:prstDash val="solid"/>
                    </a:lnR>
                    <a:lnB w="6668">
                      <a:solidFill>
                        <a:srgbClr val="DFE5EC"/>
                      </a:solidFill>
                      <a:prstDash val="solid"/>
                    </a:lnB>
                    <a:solidFill>
                      <a:srgbClr val="FFFFFF"/>
                    </a:solidFill>
                  </a:tcPr>
                </a:tc>
                <a:tc>
                  <a:txBody>
                    <a:bodyPr/>
                    <a:lstStyle/>
                    <a:p>
                      <a:r>
                        <a:rPr sz="1725">
                          <a:solidFill>
                            <a:srgbClr val="132B45"/>
                          </a:solidFill>
                          <a:latin typeface="Arial"/>
                          <a:ea typeface="Arial"/>
                          <a:cs typeface="Arial"/>
                        </a:rPr>
                        <a:t>49.0</a:t>
                      </a:r>
                    </a:p>
                  </a:txBody>
                  <a:tcPr marL="114300" marR="114300" marT="9525" marB="9525" anchor="ctr">
                    <a:lnR w="6668">
                      <a:solidFill>
                        <a:srgbClr val="DFE5EC"/>
                      </a:solidFill>
                      <a:prstDash val="solid"/>
                    </a:lnR>
                    <a:lnB w="6668">
                      <a:solidFill>
                        <a:srgbClr val="DFE5EC"/>
                      </a:solidFill>
                      <a:prstDash val="solid"/>
                    </a:lnB>
                    <a:solidFill>
                      <a:srgbClr val="FFFFFF"/>
                    </a:solidFill>
                  </a:tcPr>
                </a:tc>
                <a:tc>
                  <a:txBody>
                    <a:bodyPr/>
                    <a:lstStyle/>
                    <a:p>
                      <a:r>
                        <a:rPr sz="1725">
                          <a:solidFill>
                            <a:srgbClr val="132B45"/>
                          </a:solidFill>
                          <a:latin typeface="Arial"/>
                          <a:ea typeface="Arial"/>
                          <a:cs typeface="Arial"/>
                        </a:rPr>
                        <a:t>$17,640</a:t>
                      </a:r>
                    </a:p>
                  </a:txBody>
                  <a:tcPr marL="114300" marR="114300" marT="9525" marB="9525" anchor="ctr">
                    <a:lnR w="6668">
                      <a:solidFill>
                        <a:srgbClr val="DFE5EC"/>
                      </a:solidFill>
                      <a:prstDash val="solid"/>
                    </a:lnR>
                    <a:lnB w="6668">
                      <a:solidFill>
                        <a:srgbClr val="DFE5EC"/>
                      </a:solidFill>
                      <a:prstDash val="solid"/>
                    </a:lnB>
                    <a:solidFill>
                      <a:srgbClr val="FFFFFF"/>
                    </a:solidFill>
                  </a:tcPr>
                </a:tc>
              </a:tr>
              <a:tr h="360045">
                <a:tc>
                  <a:txBody>
                    <a:bodyPr/>
                    <a:lstStyle/>
                    <a:p>
                      <a:r>
                        <a:rPr sz="1725">
                          <a:solidFill>
                            <a:srgbClr val="132B45"/>
                          </a:solidFill>
                          <a:latin typeface="Arial"/>
                          <a:ea typeface="Arial"/>
                          <a:cs typeface="Arial"/>
                        </a:rPr>
                        <a:t>UI/UX</a:t>
                      </a:r>
                    </a:p>
                  </a:txBody>
                  <a:tcPr marL="114300" marR="114300" marT="9525" marB="9525" anchor="ctr">
                    <a:lnL w="6668">
                      <a:solidFill>
                        <a:srgbClr val="DFE5EC"/>
                      </a:solidFill>
                      <a:prstDash val="solid"/>
                    </a:lnL>
                    <a:lnR w="6668">
                      <a:solidFill>
                        <a:srgbClr val="DFE5EC"/>
                      </a:solidFill>
                      <a:prstDash val="solid"/>
                    </a:lnR>
                    <a:lnB w="6668">
                      <a:solidFill>
                        <a:srgbClr val="DFE5EC"/>
                      </a:solidFill>
                      <a:prstDash val="solid"/>
                    </a:lnB>
                    <a:solidFill>
                      <a:srgbClr val="FFFFFF"/>
                    </a:solidFill>
                  </a:tcPr>
                </a:tc>
                <a:tc>
                  <a:txBody>
                    <a:bodyPr/>
                    <a:lstStyle/>
                    <a:p>
                      <a:r>
                        <a:rPr sz="1725">
                          <a:solidFill>
                            <a:srgbClr val="132B45"/>
                          </a:solidFill>
                          <a:latin typeface="Arial"/>
                          <a:ea typeface="Arial"/>
                          <a:cs typeface="Arial"/>
                        </a:rPr>
                        <a:t>42.0</a:t>
                      </a:r>
                    </a:p>
                  </a:txBody>
                  <a:tcPr marL="114300" marR="114300" marT="9525" marB="9525" anchor="ctr">
                    <a:lnR w="6668">
                      <a:solidFill>
                        <a:srgbClr val="DFE5EC"/>
                      </a:solidFill>
                      <a:prstDash val="solid"/>
                    </a:lnR>
                    <a:lnB w="6668">
                      <a:solidFill>
                        <a:srgbClr val="DFE5EC"/>
                      </a:solidFill>
                      <a:prstDash val="solid"/>
                    </a:lnB>
                    <a:solidFill>
                      <a:srgbClr val="FFFFFF"/>
                    </a:solidFill>
                  </a:tcPr>
                </a:tc>
                <a:tc>
                  <a:txBody>
                    <a:bodyPr/>
                    <a:lstStyle/>
                    <a:p>
                      <a:r>
                        <a:rPr sz="1725">
                          <a:solidFill>
                            <a:srgbClr val="132B45"/>
                          </a:solidFill>
                          <a:latin typeface="Arial"/>
                          <a:ea typeface="Arial"/>
                          <a:cs typeface="Arial"/>
                        </a:rPr>
                        <a:t>$15,120</a:t>
                      </a:r>
                    </a:p>
                  </a:txBody>
                  <a:tcPr marL="114300" marR="114300" marT="9525" marB="9525" anchor="ctr">
                    <a:lnR w="6668">
                      <a:solidFill>
                        <a:srgbClr val="DFE5EC"/>
                      </a:solidFill>
                      <a:prstDash val="solid"/>
                    </a:lnR>
                    <a:lnB w="6668">
                      <a:solidFill>
                        <a:srgbClr val="DFE5EC"/>
                      </a:solidFill>
                      <a:prstDash val="solid"/>
                    </a:lnB>
                    <a:solidFill>
                      <a:srgbClr val="FFFFFF"/>
                    </a:solidFill>
                  </a:tcPr>
                </a:tc>
              </a:tr>
              <a:tr h="360045">
                <a:tc>
                  <a:txBody>
                    <a:bodyPr/>
                    <a:lstStyle/>
                    <a:p>
                      <a:r>
                        <a:rPr sz="1725">
                          <a:solidFill>
                            <a:srgbClr val="132B45"/>
                          </a:solidFill>
                          <a:latin typeface="Arial"/>
                          <a:ea typeface="Arial"/>
                          <a:cs typeface="Arial"/>
                        </a:rPr>
                        <a:t>PM</a:t>
                      </a:r>
                    </a:p>
                  </a:txBody>
                  <a:tcPr marL="114300" marR="114300" marT="9525" marB="9525" anchor="ctr">
                    <a:lnL w="6668">
                      <a:solidFill>
                        <a:srgbClr val="DFE5EC"/>
                      </a:solidFill>
                      <a:prstDash val="solid"/>
                    </a:lnL>
                    <a:lnR w="6668">
                      <a:solidFill>
                        <a:srgbClr val="DFE5EC"/>
                      </a:solidFill>
                      <a:prstDash val="solid"/>
                    </a:lnR>
                    <a:lnB w="6668">
                      <a:solidFill>
                        <a:srgbClr val="DFE5EC"/>
                      </a:solidFill>
                      <a:prstDash val="solid"/>
                    </a:lnB>
                    <a:solidFill>
                      <a:srgbClr val="FFFFFF"/>
                    </a:solidFill>
                  </a:tcPr>
                </a:tc>
                <a:tc>
                  <a:txBody>
                    <a:bodyPr/>
                    <a:lstStyle/>
                    <a:p>
                      <a:r>
                        <a:rPr sz="1725">
                          <a:solidFill>
                            <a:srgbClr val="132B45"/>
                          </a:solidFill>
                          <a:latin typeface="Arial"/>
                          <a:ea typeface="Arial"/>
                          <a:cs typeface="Arial"/>
                        </a:rPr>
                        <a:t>41.0</a:t>
                      </a:r>
                    </a:p>
                  </a:txBody>
                  <a:tcPr marL="114300" marR="114300" marT="9525" marB="9525" anchor="ctr">
                    <a:lnR w="6668">
                      <a:solidFill>
                        <a:srgbClr val="DFE5EC"/>
                      </a:solidFill>
                      <a:prstDash val="solid"/>
                    </a:lnR>
                    <a:lnB w="6668">
                      <a:solidFill>
                        <a:srgbClr val="DFE5EC"/>
                      </a:solidFill>
                      <a:prstDash val="solid"/>
                    </a:lnB>
                    <a:solidFill>
                      <a:srgbClr val="FFFFFF"/>
                    </a:solidFill>
                  </a:tcPr>
                </a:tc>
                <a:tc>
                  <a:txBody>
                    <a:bodyPr/>
                    <a:lstStyle/>
                    <a:p>
                      <a:r>
                        <a:rPr sz="1725">
                          <a:solidFill>
                            <a:srgbClr val="132B45"/>
                          </a:solidFill>
                          <a:latin typeface="Arial"/>
                          <a:ea typeface="Arial"/>
                          <a:cs typeface="Arial"/>
                        </a:rPr>
                        <a:t>$14,760</a:t>
                      </a:r>
                    </a:p>
                  </a:txBody>
                  <a:tcPr marL="114300" marR="114300" marT="9525" marB="9525" anchor="ctr">
                    <a:lnR w="6668">
                      <a:solidFill>
                        <a:srgbClr val="DFE5EC"/>
                      </a:solidFill>
                      <a:prstDash val="solid"/>
                    </a:lnR>
                    <a:lnB w="6668">
                      <a:solidFill>
                        <a:srgbClr val="DFE5EC"/>
                      </a:solidFill>
                      <a:prstDash val="solid"/>
                    </a:lnB>
                    <a:solidFill>
                      <a:srgbClr val="FFFFFF"/>
                    </a:solidFill>
                  </a:tcPr>
                </a:tc>
              </a:tr>
              <a:tr h="360045">
                <a:tc>
                  <a:txBody>
                    <a:bodyPr/>
                    <a:lstStyle/>
                    <a:p>
                      <a:r>
                        <a:rPr sz="1725" b="1">
                          <a:solidFill>
                            <a:srgbClr val="132B45"/>
                          </a:solidFill>
                          <a:latin typeface="Arial"/>
                          <a:ea typeface="Arial"/>
                          <a:cs typeface="Arial"/>
                        </a:rPr>
                        <a:t>LABOR TOTAL</a:t>
                      </a:r>
                    </a:p>
                  </a:txBody>
                  <a:tcPr marL="114300" marR="114300" marT="9525" marB="9525" anchor="ctr">
                    <a:lnL w="6668">
                      <a:solidFill>
                        <a:srgbClr val="DFE5EC"/>
                      </a:solidFill>
                      <a:prstDash val="solid"/>
                    </a:lnL>
                    <a:lnR w="6668">
                      <a:solidFill>
                        <a:srgbClr val="DFE5EC"/>
                      </a:solidFill>
                      <a:prstDash val="solid"/>
                    </a:lnR>
                    <a:lnB w="6668">
                      <a:solidFill>
                        <a:srgbClr val="DFE5EC"/>
                      </a:solidFill>
                      <a:prstDash val="solid"/>
                    </a:lnB>
                    <a:solidFill>
                      <a:srgbClr val="DBEAFE"/>
                    </a:solidFill>
                  </a:tcPr>
                </a:tc>
                <a:tc>
                  <a:txBody>
                    <a:bodyPr/>
                    <a:lstStyle/>
                    <a:p>
                      <a:r>
                        <a:rPr sz="1725" b="1">
                          <a:solidFill>
                            <a:srgbClr val="132B45"/>
                          </a:solidFill>
                          <a:latin typeface="Arial"/>
                          <a:ea typeface="Arial"/>
                          <a:cs typeface="Arial"/>
                        </a:rPr>
                        <a:t>420.4</a:t>
                      </a:r>
                    </a:p>
                  </a:txBody>
                  <a:tcPr marL="114300" marR="114300" marT="9525" marB="9525" anchor="ctr">
                    <a:lnR w="6668">
                      <a:solidFill>
                        <a:srgbClr val="DFE5EC"/>
                      </a:solidFill>
                      <a:prstDash val="solid"/>
                    </a:lnR>
                    <a:lnB w="6668">
                      <a:solidFill>
                        <a:srgbClr val="DFE5EC"/>
                      </a:solidFill>
                      <a:prstDash val="solid"/>
                    </a:lnB>
                    <a:solidFill>
                      <a:srgbClr val="DBEAFE"/>
                    </a:solidFill>
                  </a:tcPr>
                </a:tc>
                <a:tc>
                  <a:txBody>
                    <a:bodyPr/>
                    <a:lstStyle/>
                    <a:p>
                      <a:r>
                        <a:rPr sz="1725" b="1">
                          <a:solidFill>
                            <a:srgbClr val="132B45"/>
                          </a:solidFill>
                          <a:latin typeface="Arial"/>
                          <a:ea typeface="Arial"/>
                          <a:cs typeface="Arial"/>
                        </a:rPr>
                        <a:t>$151,344</a:t>
                      </a:r>
                    </a:p>
                  </a:txBody>
                  <a:tcPr marL="114300" marR="114300" marT="9525" marB="9525" anchor="ctr">
                    <a:lnR w="6668">
                      <a:solidFill>
                        <a:srgbClr val="DFE5EC"/>
                      </a:solidFill>
                      <a:prstDash val="solid"/>
                    </a:lnR>
                    <a:lnB w="6668">
                      <a:solidFill>
                        <a:srgbClr val="DFE5EC"/>
                      </a:solidFill>
                      <a:prstDash val="solid"/>
                    </a:lnB>
                    <a:solidFill>
                      <a:srgbClr val="DBEAFE"/>
                    </a:solidFill>
                  </a:tcPr>
                </a:tc>
              </a:tr>
            </a:tbl>
          </a:graphicData>
        </a:graphic>
      </p:graphicFrame>
      <p:sp>
        <p:nvSpPr>
          <p:cNvPr id="9" name="budget-split">
            <a:extLst xmlns:a="http://schemas.openxmlformats.org/drawingml/2006/main">
              <a:ext uri="{FF2B5EF4-FFF2-40B4-BE49-F238E27FC236}">
                <a16:creationId xmlns:a16="http://schemas.microsoft.com/office/drawing/2014/main" id="{2759E70C-2D50-48B2-81D4-CC58A61BB816}"/>
              </a:ext>
            </a:extLst>
          </p:cNvPr>
          <p:cNvSpPr>
            <a:spLocks xmlns:a="http://schemas.openxmlformats.org/drawingml/2006/main" noGrp="1"/>
          </p:cNvSpPr>
          <p:nvPr/>
        </p:nvSpPr>
        <p:spPr>
          <a:xfrm xmlns:a="http://schemas.openxmlformats.org/drawingml/2006/main">
            <a:off x="9620250" y="7362825"/>
            <a:ext cx="5000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2563EB"/>
                </a:solidFill>
                <a:latin typeface="Arial"/>
                <a:ea typeface="Arial"/>
                <a:cs typeface="Arial"/>
              </a:defRPr>
            </a:defPPr>
          </a:lstStyle>
          <a:p xmlns:a="http://schemas.openxmlformats.org/drawingml/2006/main">
            <a:pPr algn="l">
              <a:defRPr sz="1575" b="1">
                <a:solidFill>
                  <a:srgbClr val="2563EB"/>
                </a:solidFill>
                <a:latin typeface="Arial"/>
                <a:ea typeface="Arial"/>
                <a:cs typeface="Arial"/>
              </a:defRPr>
            </a:pPr>
            <a:r>
              <a:rPr sz="1575" b="1">
                <a:solidFill>
                  <a:srgbClr val="2563EB"/>
                </a:solidFill>
                <a:latin typeface="Arial"/>
                <a:ea typeface="Arial"/>
                <a:cs typeface="Arial"/>
              </a:rPr>
              <a:t>To 31 Jan: $138,300    From Feb: $28,044</a:t>
            </a:r>
          </a:p>
        </p:txBody>
      </p:sp>
      <p:sp>
        <p:nvSpPr>
          <p:cNvPr id="10" name="leave">
            <a:extLst xmlns:a="http://schemas.openxmlformats.org/drawingml/2006/main">
              <a:ext uri="{FF2B5EF4-FFF2-40B4-BE49-F238E27FC236}">
                <a16:creationId xmlns:a16="http://schemas.microsoft.com/office/drawing/2014/main" id="{629F54EA-A081-45E0-AA4D-45B3777DF926}"/>
              </a:ext>
            </a:extLst>
          </p:cNvPr>
          <p:cNvSpPr>
            <a:spLocks xmlns:a="http://schemas.openxmlformats.org/drawingml/2006/main" noGrp="1"/>
          </p:cNvSpPr>
          <p:nvPr/>
        </p:nvSpPr>
        <p:spPr>
          <a:xfrm xmlns:a="http://schemas.openxmlformats.org/drawingml/2006/main">
            <a:off x="609600" y="7686675"/>
            <a:ext cx="1400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32B45"/>
                </a:solidFill>
                <a:latin typeface="Arial"/>
                <a:ea typeface="Arial"/>
                <a:cs typeface="Arial"/>
              </a:defRPr>
            </a:defPPr>
          </a:lstStyle>
          <a:p xmlns:a="http://schemas.openxmlformats.org/drawingml/2006/main">
            <a:pPr algn="l">
              <a:defRPr sz="1575" b="0">
                <a:solidFill>
                  <a:srgbClr val="132B45"/>
                </a:solidFill>
                <a:latin typeface="Arial"/>
                <a:ea typeface="Arial"/>
                <a:cs typeface="Arial"/>
              </a:defRPr>
            </a:pPr>
            <a:r>
              <a:rPr sz="1575" b="0">
                <a:solidFill>
                  <a:srgbClr val="132B45"/>
                </a:solidFill>
                <a:latin typeface="Arial"/>
                <a:ea typeface="Arial"/>
                <a:cs typeface="Arial"/>
              </a:rPr>
              <a:t>Potential-user UAT Jan 18-Feb 24: 20 workdays, excluding Feb 3-12 leave. PM: 0.5 day/workday across 82 days.</a:t>
            </a:r>
          </a:p>
        </p:txBody>
      </p:sp>
      <p:sp>
        <p:nvSpPr>
          <p:cNvPr id="11" name="cost-exclusion">
            <a:extLst xmlns:a="http://schemas.openxmlformats.org/drawingml/2006/main">
              <a:ext uri="{FF2B5EF4-FFF2-40B4-BE49-F238E27FC236}">
                <a16:creationId xmlns:a16="http://schemas.microsoft.com/office/drawing/2014/main" id="{5CA47891-F5AE-4D0E-9BDE-67A3D9CB7183}"/>
              </a:ext>
            </a:extLst>
          </p:cNvPr>
          <p:cNvSpPr>
            <a:spLocks xmlns:a="http://schemas.openxmlformats.org/drawingml/2006/main" noGrp="1"/>
          </p:cNvSpPr>
          <p:nvPr/>
        </p:nvSpPr>
        <p:spPr>
          <a:xfrm xmlns:a="http://schemas.openxmlformats.org/drawingml/2006/main">
            <a:off x="609600" y="8067675"/>
            <a:ext cx="1295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6677A"/>
                </a:solidFill>
                <a:latin typeface="Arial"/>
                <a:ea typeface="Arial"/>
                <a:cs typeface="Arial"/>
              </a:defRPr>
            </a:defPPr>
          </a:lstStyle>
          <a:p xmlns:a="http://schemas.openxmlformats.org/drawingml/2006/main">
            <a:pPr algn="l">
              <a:defRPr sz="1575" b="0">
                <a:solidFill>
                  <a:srgbClr val="56677A"/>
                </a:solidFill>
                <a:latin typeface="Arial"/>
                <a:ea typeface="Arial"/>
                <a:cs typeface="Arial"/>
              </a:defRPr>
            </a:pPr>
            <a:r>
              <a:rPr sz="1575" b="0">
                <a:solidFill>
                  <a:srgbClr val="56677A"/>
                </a:solidFill>
                <a:latin typeface="Arial"/>
                <a:ea typeface="Arial"/>
                <a:cs typeface="Arial"/>
              </a:rPr>
              <a:t>$15,000 pen test belongs to January budget. Excludes Azure/model usage, unpriced business-user time and overhead.</a:t>
            </a:r>
          </a:p>
        </p:txBody>
      </p:sp>
    </p:spTree>
    <p:extLst>
      <p:ext uri="{BB962C8B-B14F-4D97-AF65-F5344CB8AC3E}">
        <p14:creationId xmlns:p14="http://schemas.microsoft.com/office/powerpoint/2010/main" val="10222521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2026-10-21T10:40:22.0670000Z</dcterms:created>
  <dcterms:modified xsi:type="dcterms:W3CDTF">2026-10-21T10:40:22.0670000Z</dcterms:modified>
</coreProperties>
</file>